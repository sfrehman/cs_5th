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11"/>
  </p:notesMasterIdLst>
  <p:handoutMasterIdLst>
    <p:handoutMasterId r:id="rId12"/>
  </p:handoutMasterIdLst>
  <p:sldIdLst>
    <p:sldId id="256" r:id="rId2"/>
    <p:sldId id="258" r:id="rId3"/>
    <p:sldId id="286" r:id="rId4"/>
    <p:sldId id="287" r:id="rId5"/>
    <p:sldId id="273" r:id="rId6"/>
    <p:sldId id="288" r:id="rId7"/>
    <p:sldId id="289" r:id="rId8"/>
    <p:sldId id="290"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F23418-877D-4E15-98EB-B18A416688F8}" type="datetimeFigureOut">
              <a:rPr lang="en-US" smtClean="0"/>
              <a:t>12/3/2024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1B3ED0-4E7F-4552-8A34-7C1339267C6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095D31-9972-44D7-A973-436B8E0F36E9}" type="datetimeFigureOut">
              <a:rPr lang="en-US" smtClean="0"/>
              <a:t>12/3/2024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F085B6-4FD1-4360-BB53-F417E13A6F25}" type="slidenum">
              <a:rPr lang="en-US" smtClean="0"/>
              <a:t>‹#›</a:t>
            </a:fld>
            <a:endParaRPr lang="en-US"/>
          </a:p>
        </p:txBody>
      </p:sp>
    </p:spTree>
    <p:extLst>
      <p:ext uri="{BB962C8B-B14F-4D97-AF65-F5344CB8AC3E}">
        <p14:creationId xmlns:p14="http://schemas.microsoft.com/office/powerpoint/2010/main" val="67166267"/>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95" name="Group 94"/>
          <p:cNvGrpSpPr/>
          <p:nvPr/>
        </p:nvGrpSpPr>
        <p:grpSpPr>
          <a:xfrm>
            <a:off x="0" y="-30477"/>
            <a:ext cx="12090400" cy="6889273"/>
            <a:chOff x="0" y="-30477"/>
            <a:chExt cx="9067800" cy="6889273"/>
          </a:xfrm>
        </p:grpSpPr>
        <p:cxnSp>
          <p:nvCxnSpPr>
            <p:cNvPr id="110" name="Straight Connector 109"/>
            <p:cNvCxnSpPr/>
            <p:nvPr/>
          </p:nvCxnSpPr>
          <p:spPr>
            <a:xfrm rot="16200000" flipH="1">
              <a:off x="-14478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rot="16200000" flipH="1">
              <a:off x="-16383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rot="5400000">
              <a:off x="-14859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rot="5400000">
              <a:off x="-3238500" y="3314700"/>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rot="16200000" flipH="1">
              <a:off x="-3314700" y="3314700"/>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rot="16200000" flipH="1">
              <a:off x="-1371600" y="2971800"/>
              <a:ext cx="6858000" cy="9144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rot="16200000" flipH="1">
              <a:off x="-2819400" y="3200400"/>
              <a:ext cx="6858000"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rot="5400000">
              <a:off x="-2705099" y="3238500"/>
              <a:ext cx="6858000"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rot="16200000" flipH="1">
              <a:off x="-2133600" y="3200400"/>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rot="16200000" flipH="1">
              <a:off x="-31242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rot="16200000" flipH="1">
              <a:off x="-1828799" y="3352799"/>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rot="16200000" flipH="1">
              <a:off x="-28194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rot="16200000" flipH="1">
              <a:off x="-2438400" y="3124200"/>
              <a:ext cx="6858000" cy="609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5400000">
              <a:off x="-1731645" y="2722245"/>
              <a:ext cx="6858000"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5400000">
              <a:off x="-1142048" y="3277552"/>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rot="5400000">
              <a:off x="-9144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rot="5400000">
              <a:off x="-1855470" y="3227070"/>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rot="16200000" flipH="1">
              <a:off x="-2643187" y="3252788"/>
              <a:ext cx="6858000"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rot="16200000" flipH="1">
              <a:off x="-1954530" y="3326130"/>
              <a:ext cx="6858000" cy="20574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16200000" flipH="1">
              <a:off x="-23622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rot="16200000" flipH="1">
              <a:off x="-21336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rot="16200000" flipH="1">
              <a:off x="10668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a:xfrm rot="16200000" flipH="1">
              <a:off x="8763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rot="5400000">
              <a:off x="1028700" y="3238500"/>
              <a:ext cx="6858000" cy="3810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rot="5400000">
              <a:off x="-723900" y="3314700"/>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rot="16200000" flipH="1">
              <a:off x="-800100" y="3314700"/>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rot="5400000">
              <a:off x="-152400" y="3429000"/>
              <a:ext cx="6858000"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rot="16200000" flipH="1">
              <a:off x="-304800" y="3200400"/>
              <a:ext cx="6858000" cy="4572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rot="5400000">
              <a:off x="-190499" y="3238500"/>
              <a:ext cx="6858000" cy="3810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rot="16200000" flipH="1">
              <a:off x="381000" y="3200400"/>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p:nvCxnSpPr>
          <p:spPr>
            <a:xfrm rot="16200000" flipH="1">
              <a:off x="-6096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rot="16200000" flipH="1">
              <a:off x="685801" y="3352799"/>
              <a:ext cx="6858000" cy="152401"/>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p:cNvCxnSpPr/>
            <p:nvPr/>
          </p:nvCxnSpPr>
          <p:spPr>
            <a:xfrm rot="16200000" flipH="1">
              <a:off x="-3048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p:nvCxnSpPr>
          <p:spPr>
            <a:xfrm rot="5400000">
              <a:off x="-1028700" y="3314700"/>
              <a:ext cx="6858000"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rot="5400000">
              <a:off x="782955" y="2722245"/>
              <a:ext cx="6858000"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rot="5400000">
              <a:off x="1372552" y="3277552"/>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p:nvCxnSpPr>
          <p:spPr>
            <a:xfrm rot="5400000">
              <a:off x="16002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rot="5400000">
              <a:off x="659130" y="3227070"/>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p:nvCxnSpPr>
          <p:spPr>
            <a:xfrm rot="16200000" flipH="1">
              <a:off x="-128587" y="3252788"/>
              <a:ext cx="6858000"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rot="16200000" flipH="1">
              <a:off x="560070" y="3326130"/>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p:nvCxnSpPr>
          <p:spPr>
            <a:xfrm rot="16200000" flipH="1">
              <a:off x="1524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p:nvCxnSpPr>
          <p:spPr>
            <a:xfrm rot="16200000" flipH="1">
              <a:off x="3810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rot="16200000" flipH="1">
              <a:off x="2743200" y="3352801"/>
              <a:ext cx="6858000" cy="1524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rot="16200000" flipH="1">
              <a:off x="2095501" y="3238501"/>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p:nvCxnSpPr>
          <p:spPr>
            <a:xfrm rot="5400000">
              <a:off x="2705100" y="3238501"/>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p:nvCxnSpPr>
          <p:spPr>
            <a:xfrm rot="5400000">
              <a:off x="1828801" y="3276600"/>
              <a:ext cx="6857999" cy="3048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p:nvCxnSpPr>
          <p:spPr>
            <a:xfrm rot="16200000" flipH="1">
              <a:off x="1066800" y="3200402"/>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rot="16200000" flipH="1">
              <a:off x="2362201" y="3352800"/>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rot="5400000">
              <a:off x="2646045" y="2722246"/>
              <a:ext cx="6858000" cy="1413510"/>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rot="5400000">
              <a:off x="3048952" y="3277553"/>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rot="5400000">
              <a:off x="2895600" y="3276601"/>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rot="5400000">
              <a:off x="2388870" y="3227071"/>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rot="16200000" flipH="1">
              <a:off x="2236470" y="3326131"/>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rot="16200000" flipH="1">
              <a:off x="1752600" y="3352801"/>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rot="16200000" flipH="1">
              <a:off x="19812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rot="5400000">
              <a:off x="3467100" y="3314701"/>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rot="16200000" flipH="1">
              <a:off x="3467099" y="3314701"/>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2" name="Straight Connector 251"/>
            <p:cNvCxnSpPr/>
            <p:nvPr/>
          </p:nvCxnSpPr>
          <p:spPr>
            <a:xfrm rot="5400000">
              <a:off x="4038600" y="3429001"/>
              <a:ext cx="6858000"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rot="16200000" flipH="1">
              <a:off x="3886200" y="3200401"/>
              <a:ext cx="6858000"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rot="5400000">
              <a:off x="4000501" y="3238501"/>
              <a:ext cx="6858000"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rot="16200000" flipH="1">
              <a:off x="4572000" y="3200401"/>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rot="16200000" flipH="1">
              <a:off x="37338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rot="5400000">
              <a:off x="3619500" y="3314700"/>
              <a:ext cx="6858000"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rot="16200000" flipH="1">
              <a:off x="4214813" y="3252788"/>
              <a:ext cx="6858000"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p:nvCxnSpPr>
          <p:spPr>
            <a:xfrm rot="16200000" flipH="1">
              <a:off x="4751070" y="3326131"/>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rot="16200000" flipH="1">
              <a:off x="4343400" y="3352801"/>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rot="16200000" flipH="1">
              <a:off x="4572000" y="3352801"/>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rot="16200000" flipH="1">
              <a:off x="5257800" y="3352802"/>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p:nvCxnSpPr>
          <p:spPr>
            <a:xfrm rot="16200000" flipH="1">
              <a:off x="5067300" y="3238502"/>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rot="5400000">
              <a:off x="5219700" y="3238502"/>
              <a:ext cx="6858000" cy="3810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p:nvCxnSpPr>
          <p:spPr>
            <a:xfrm rot="16200000" flipH="1">
              <a:off x="4876801" y="3352801"/>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rot="5400000">
              <a:off x="5527994" y="3318196"/>
              <a:ext cx="6888479" cy="191133"/>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rot="5400000">
              <a:off x="4850130" y="3227072"/>
              <a:ext cx="6858000" cy="40386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rot="16200000" flipH="1">
              <a:off x="4751070" y="3326132"/>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p:nvCxnSpPr>
          <p:spPr>
            <a:xfrm rot="5400000">
              <a:off x="5562599" y="3429001"/>
              <a:ext cx="6858002" cy="158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p:cNvCxnSpPr/>
            <p:nvPr/>
          </p:nvCxnSpPr>
          <p:spPr>
            <a:xfrm rot="5400000">
              <a:off x="2552700" y="3390900"/>
              <a:ext cx="6858000" cy="76200"/>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p:cNvCxnSpPr/>
            <p:nvPr/>
          </p:nvCxnSpPr>
          <p:spPr>
            <a:xfrm rot="16200000" flipH="1">
              <a:off x="3048000" y="3352800"/>
              <a:ext cx="6858000" cy="1524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p:nvCxnSpPr>
          <p:spPr>
            <a:xfrm rot="16200000" flipH="1">
              <a:off x="3238500" y="3238500"/>
              <a:ext cx="6858000" cy="381000"/>
            </a:xfrm>
            <a:prstGeom prst="line">
              <a:avLst/>
            </a:prstGeom>
            <a:ln w="19050">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rot="5400000">
              <a:off x="2133600" y="3276600"/>
              <a:ext cx="6858000" cy="3048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rot="16200000" flipH="1">
              <a:off x="3148013" y="3252789"/>
              <a:ext cx="6858000"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rot="5400000">
              <a:off x="37719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p:nvCxnSpPr>
          <p:spPr>
            <a:xfrm rot="5400000">
              <a:off x="4229100" y="2933700"/>
              <a:ext cx="6858000" cy="990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p:nvCxnSpPr>
          <p:spPr>
            <a:xfrm rot="16200000" flipH="1">
              <a:off x="1371600" y="3200403"/>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p:txBody>
          <a:bodyPr/>
          <a:lstStyle/>
          <a:p>
            <a:fld id="{92A59E04-BC48-4C3C-B2CF-95287A202A10}"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
        <p:nvSpPr>
          <p:cNvPr id="113" name="Rectangle 112"/>
          <p:cNvSpPr/>
          <p:nvPr/>
        </p:nvSpPr>
        <p:spPr>
          <a:xfrm>
            <a:off x="0" y="1905000"/>
            <a:ext cx="6604000" cy="3124200"/>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grpSp>
        <p:nvGrpSpPr>
          <p:cNvPr id="94" name="Group 93"/>
          <p:cNvGrpSpPr/>
          <p:nvPr/>
        </p:nvGrpSpPr>
        <p:grpSpPr>
          <a:xfrm>
            <a:off x="0" y="2057400"/>
            <a:ext cx="6401859" cy="2820988"/>
            <a:chOff x="0" y="2057400"/>
            <a:chExt cx="4801394" cy="2820988"/>
          </a:xfrm>
        </p:grpSpPr>
        <p:cxnSp>
          <p:nvCxnSpPr>
            <p:cNvPr id="117" name="Straight Connector 116"/>
            <p:cNvCxnSpPr/>
            <p:nvPr/>
          </p:nvCxnSpPr>
          <p:spPr>
            <a:xfrm>
              <a:off x="0" y="2057400"/>
              <a:ext cx="48006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a:off x="0" y="4876800"/>
              <a:ext cx="48006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rot="5400000">
              <a:off x="3391694" y="3467100"/>
              <a:ext cx="2818606"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304800" y="2130426"/>
            <a:ext cx="5892800" cy="1600327"/>
          </a:xfrm>
        </p:spPr>
        <p:txBody>
          <a:bodyPr anchor="b">
            <a:normAutofit/>
          </a:bodyPr>
          <a:lstStyle>
            <a:lvl1pPr algn="l">
              <a:defRPr sz="3600" b="1" cap="none" spc="40" baseline="0">
                <a:ln w="13335" cmpd="sng">
                  <a:solidFill>
                    <a:schemeClr val="accent1">
                      <a:lumMod val="50000"/>
                    </a:schemeClr>
                  </a:solidFill>
                  <a:prstDash val="solid"/>
                </a:ln>
                <a:solidFill>
                  <a:schemeClr val="accent6">
                    <a:tint val="1000"/>
                  </a:schemeClr>
                </a:solidFill>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04800" y="3733800"/>
            <a:ext cx="5892800" cy="1066800"/>
          </a:xfrm>
        </p:spPr>
        <p:txBody>
          <a:bodyPr>
            <a:normAutofit/>
          </a:bodyPr>
          <a:lstStyle>
            <a:lvl1pPr marL="0" indent="0" algn="l">
              <a:buNone/>
              <a:defRPr sz="22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A59E04-BC48-4C3C-B2CF-95287A202A10}"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grpSp>
        <p:nvGrpSpPr>
          <p:cNvPr id="7" name="Group 92"/>
          <p:cNvGrpSpPr/>
          <p:nvPr/>
        </p:nvGrpSpPr>
        <p:grpSpPr>
          <a:xfrm>
            <a:off x="2" y="-30478"/>
            <a:ext cx="12090399" cy="4846320"/>
            <a:chOff x="1" y="-30477"/>
            <a:chExt cx="9067799" cy="4526277"/>
          </a:xfrm>
        </p:grpSpPr>
        <p:cxnSp>
          <p:nvCxnSpPr>
            <p:cNvPr id="8" name="Straight Connector 7"/>
            <p:cNvCxnSpPr/>
            <p:nvPr/>
          </p:nvCxnSpPr>
          <p:spPr>
            <a:xfrm rot="16200000" flipH="1">
              <a:off x="-27166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46216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30976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206236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6200000" flipH="1">
              <a:off x="-2138565"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16200000" flipH="1">
              <a:off x="-195465" y="1785212"/>
              <a:ext cx="4505731" cy="9144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6200000" flipH="1">
              <a:off x="-1643265" y="2013812"/>
              <a:ext cx="4505731"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a:off x="-1528964"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H="1">
              <a:off x="-957465" y="2013812"/>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194806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652664" y="2166211"/>
              <a:ext cx="4505731" cy="152401"/>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164326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1790700" y="2019300"/>
              <a:ext cx="4495800" cy="4572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555510" y="1535657"/>
              <a:ext cx="4505731"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34087" y="2090964"/>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2617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67933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H="1">
              <a:off x="-1467052" y="2066200"/>
              <a:ext cx="4505731"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6200000" flipH="1">
              <a:off x="-77839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H="1">
              <a:off x="-118606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6200000" flipH="1">
              <a:off x="-95746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6200000" flipH="1">
              <a:off x="22429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6200000" flipH="1">
              <a:off x="20524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2204835" y="2051912"/>
              <a:ext cx="4505731" cy="3810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45223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376035"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1023735" y="2242139"/>
              <a:ext cx="4505731"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6200000" flipH="1">
              <a:off x="871335" y="2013812"/>
              <a:ext cx="4505731" cy="4572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985636"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16200000" flipH="1">
              <a:off x="1557135" y="2013812"/>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6200000" flipH="1">
              <a:off x="5665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6200000" flipH="1">
              <a:off x="1861936" y="2166211"/>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6200000" flipH="1">
              <a:off x="8713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147435" y="2128112"/>
              <a:ext cx="4505731"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1959090" y="1535657"/>
              <a:ext cx="4505731"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a:off x="2548687" y="2090964"/>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a:off x="27763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183526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6200000" flipH="1">
              <a:off x="1047548" y="2066200"/>
              <a:ext cx="4505731"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16200000" flipH="1">
              <a:off x="17362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16200000" flipH="1">
              <a:off x="13285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flipH="1">
              <a:off x="1557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16200000" flipH="1">
              <a:off x="3919335" y="2166212"/>
              <a:ext cx="4505731" cy="152400"/>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6200000" flipH="1">
              <a:off x="3271636"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38812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004936" y="2090012"/>
              <a:ext cx="4505730" cy="3048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16200000" flipH="1">
              <a:off x="2242935" y="2013813"/>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6200000" flipH="1">
              <a:off x="3538336" y="2166212"/>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3822180" y="1535657"/>
              <a:ext cx="4505731" cy="1413510"/>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rot="5400000">
              <a:off x="4225087" y="2090965"/>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a:off x="40717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5400000">
              <a:off x="356500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rot="16200000" flipH="1">
              <a:off x="34126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rot="16200000" flipH="1">
              <a:off x="2928735" y="2166212"/>
              <a:ext cx="4505731" cy="152400"/>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16200000" flipH="1">
              <a:off x="3081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rot="5400000">
              <a:off x="464323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16200000" flipH="1">
              <a:off x="4643234"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rot="5400000">
              <a:off x="5214735" y="2242140"/>
              <a:ext cx="4505731"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16200000" flipH="1">
              <a:off x="5062335" y="2013812"/>
              <a:ext cx="4505731"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a:off x="5176636"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16200000" flipH="1">
              <a:off x="5748135" y="2013813"/>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16200000" flipH="1">
              <a:off x="49099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4795635" y="2128112"/>
              <a:ext cx="4505731"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16200000" flipH="1">
              <a:off x="5390948" y="2066200"/>
              <a:ext cx="4505731"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16200000" flipH="1">
              <a:off x="59272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rot="16200000" flipH="1">
              <a:off x="55195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rot="16200000" flipH="1">
              <a:off x="5748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6200000" flipH="1">
              <a:off x="6433935" y="2166213"/>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6200000" flipH="1">
              <a:off x="6243435" y="2051913"/>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5400000">
              <a:off x="6395835" y="2051913"/>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16200000" flipH="1">
              <a:off x="6052936" y="2166212"/>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a:off x="6709356" y="2136834"/>
              <a:ext cx="4525755" cy="191133"/>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6026265" y="2040483"/>
              <a:ext cx="4505731" cy="40386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16200000" flipH="1">
              <a:off x="5927205" y="2139543"/>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a:off x="6738734" y="2242140"/>
              <a:ext cx="4505732" cy="158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3728835" y="2204312"/>
              <a:ext cx="4505731" cy="76200"/>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16200000" flipH="1">
              <a:off x="4224135" y="2166212"/>
              <a:ext cx="4505731" cy="1524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16200000" flipH="1">
              <a:off x="4414635" y="2051912"/>
              <a:ext cx="4505731" cy="381000"/>
            </a:xfrm>
            <a:prstGeom prst="line">
              <a:avLst/>
            </a:prstGeom>
            <a:ln w="19050">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a:off x="3309735" y="2090012"/>
              <a:ext cx="4505731" cy="3048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rot="16200000" flipH="1">
              <a:off x="4324148" y="2066200"/>
              <a:ext cx="4505731"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rot="5400000">
              <a:off x="49480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rot="5400000">
              <a:off x="5405235" y="1747112"/>
              <a:ext cx="4505731" cy="990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rot="16200000" flipH="1">
              <a:off x="2547735" y="2013814"/>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grpSp>
      <p:sp>
        <p:nvSpPr>
          <p:cNvPr id="94" name="Rectangle 93"/>
          <p:cNvSpPr/>
          <p:nvPr/>
        </p:nvSpPr>
        <p:spPr>
          <a:xfrm>
            <a:off x="0" y="4311168"/>
            <a:ext cx="12192000" cy="1905000"/>
          </a:xfrm>
          <a:prstGeom prst="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cxnSp>
        <p:nvCxnSpPr>
          <p:cNvPr id="96" name="Straight Connector 95"/>
          <p:cNvCxnSpPr/>
          <p:nvPr/>
        </p:nvCxnSpPr>
        <p:spPr>
          <a:xfrm>
            <a:off x="0" y="4387368"/>
            <a:ext cx="121920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0" y="6138380"/>
            <a:ext cx="121920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609600" y="5621365"/>
            <a:ext cx="11074400" cy="414649"/>
          </a:xfrm>
        </p:spPr>
        <p:txBody>
          <a:bodyPr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5" name="Title 94"/>
          <p:cNvSpPr>
            <a:spLocks noGrp="1"/>
          </p:cNvSpPr>
          <p:nvPr>
            <p:ph type="title"/>
          </p:nvPr>
        </p:nvSpPr>
        <p:spPr>
          <a:xfrm>
            <a:off x="609600" y="4463568"/>
            <a:ext cx="11074400" cy="1143000"/>
          </a:xfrm>
        </p:spPr>
        <p:txBody>
          <a:bodyPr/>
          <a:lstStyle/>
          <a:p>
            <a:r>
              <a:rPr lang="en-US" smtClean="0"/>
              <a:t>Click to edit Master title style</a:t>
            </a:r>
            <a:endParaRPr lang="en-US"/>
          </a:p>
        </p:txBody>
      </p:sp>
      <p:sp>
        <p:nvSpPr>
          <p:cNvPr id="2" name="Date Placeholder 1"/>
          <p:cNvSpPr>
            <a:spLocks noGrp="1"/>
          </p:cNvSpPr>
          <p:nvPr>
            <p:ph type="dt" sz="half" idx="10"/>
          </p:nvPr>
        </p:nvSpPr>
        <p:spPr/>
        <p:txBody>
          <a:bodyPr/>
          <a:lstStyle/>
          <a:p>
            <a:fld id="{92A59E04-BC48-4C3C-B2CF-95287A202A10}" type="datetimeFigureOut">
              <a:rPr lang="en-US" smtClean="0"/>
              <a:t>12/3/2024</a:t>
            </a:fld>
            <a:endParaRPr lang="en-US"/>
          </a:p>
        </p:txBody>
      </p:sp>
      <p:sp>
        <p:nvSpPr>
          <p:cNvPr id="91" name="Footer Placeholder 90"/>
          <p:cNvSpPr>
            <a:spLocks noGrp="1"/>
          </p:cNvSpPr>
          <p:nvPr>
            <p:ph type="ftr" sz="quarter" idx="11"/>
          </p:nvPr>
        </p:nvSpPr>
        <p:spPr/>
        <p:txBody>
          <a:bodyPr/>
          <a:lstStyle/>
          <a:p>
            <a:endParaRPr lang="en-US"/>
          </a:p>
        </p:txBody>
      </p:sp>
      <p:sp>
        <p:nvSpPr>
          <p:cNvPr id="92" name="Slide Number Placeholder 91"/>
          <p:cNvSpPr>
            <a:spLocks noGrp="1"/>
          </p:cNvSpPr>
          <p:nvPr>
            <p:ph type="sldNum" sz="quarter" idx="12"/>
          </p:nvPr>
        </p:nvSpPr>
        <p:spPr/>
        <p:txBody>
          <a:bodyPr/>
          <a:lstStyle/>
          <a:p>
            <a:fld id="{8CF08CA4-D9C5-4472-8FBF-7DFA91021E4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2A59E04-BC48-4C3C-B2CF-95287A202A10}" type="datetimeFigureOut">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2A59E04-BC48-4C3C-B2CF-95287A202A10}" type="datetimeFigureOut">
              <a:rPr lang="en-US" smtClean="0"/>
              <a:t>12/3/2024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2A59E04-BC48-4C3C-B2CF-95287A202A10}" type="datetimeFigureOut">
              <a:rPr lang="en-US" smtClean="0"/>
              <a:t>12/3/2024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A59E04-BC48-4C3C-B2CF-95287A202A10}" type="datetimeFigureOut">
              <a:rPr lang="en-US" smtClean="0"/>
              <a:t>12/3/2024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267200" y="273051"/>
            <a:ext cx="7315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2A59E04-BC48-4C3C-B2CF-95287A202A10}" type="datetimeFigureOut">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F08CA4-D9C5-4472-8FBF-7DFA91021E4F}" type="slidenum">
              <a:rPr lang="en-US" smtClean="0"/>
              <a:t>‹#›</a:t>
            </a:fld>
            <a:endParaRPr lang="en-US"/>
          </a:p>
        </p:txBody>
      </p:sp>
      <p:sp>
        <p:nvSpPr>
          <p:cNvPr id="37" name="Rectangle 36"/>
          <p:cNvSpPr/>
          <p:nvPr/>
        </p:nvSpPr>
        <p:spPr>
          <a:xfrm>
            <a:off x="0" y="1563624"/>
            <a:ext cx="3681984" cy="3313176"/>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cxnSp>
        <p:nvCxnSpPr>
          <p:cNvPr id="39" name="Straight Connector 38"/>
          <p:cNvCxnSpPr/>
          <p:nvPr/>
        </p:nvCxnSpPr>
        <p:spPr>
          <a:xfrm rot="5400000">
            <a:off x="2007129" y="3221207"/>
            <a:ext cx="3017520" cy="1059"/>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1712976"/>
            <a:ext cx="353568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4733544"/>
            <a:ext cx="353568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03200" y="1901952"/>
            <a:ext cx="3169920" cy="1371600"/>
          </a:xfrm>
        </p:spPr>
        <p:txBody>
          <a:bodyPr anchor="b">
            <a:normAutofit/>
          </a:bodyPr>
          <a:lstStyle>
            <a:lvl1pPr algn="l" defTabSz="914400" rtl="0" eaLnBrk="1" latinLnBrk="0" hangingPunct="1">
              <a:spcBef>
                <a:spcPct val="0"/>
              </a:spcBef>
              <a:buNone/>
              <a:tabLst>
                <a:tab pos="3830638" algn="l"/>
              </a:tabLst>
              <a:defRPr lang="en-US" sz="2600" b="1" kern="1200" cap="none" spc="20" baseline="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latin typeface="+mj-lt"/>
                <a:ea typeface="+mj-ea"/>
                <a:cs typeface="+mj-cs"/>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203200" y="3273552"/>
            <a:ext cx="3169920" cy="1371600"/>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267200" y="381000"/>
            <a:ext cx="7416800" cy="5638800"/>
          </a:xfrm>
          <a:solidFill>
            <a:schemeClr val="bg2"/>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5" name="Date Placeholder 4"/>
          <p:cNvSpPr>
            <a:spLocks noGrp="1"/>
          </p:cNvSpPr>
          <p:nvPr>
            <p:ph type="dt" sz="half" idx="10"/>
          </p:nvPr>
        </p:nvSpPr>
        <p:spPr/>
        <p:txBody>
          <a:bodyPr/>
          <a:lstStyle/>
          <a:p>
            <a:fld id="{92A59E04-BC48-4C3C-B2CF-95287A202A10}" type="datetimeFigureOut">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F08CA4-D9C5-4472-8FBF-7DFA91021E4F}" type="slidenum">
              <a:rPr lang="en-US" smtClean="0"/>
              <a:t>‹#›</a:t>
            </a:fld>
            <a:endParaRPr lang="en-US"/>
          </a:p>
        </p:txBody>
      </p:sp>
      <p:sp>
        <p:nvSpPr>
          <p:cNvPr id="33" name="Rectangle 32"/>
          <p:cNvSpPr/>
          <p:nvPr/>
        </p:nvSpPr>
        <p:spPr>
          <a:xfrm>
            <a:off x="0" y="1563624"/>
            <a:ext cx="3681984" cy="3313176"/>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cxnSp>
        <p:nvCxnSpPr>
          <p:cNvPr id="34" name="Straight Connector 33"/>
          <p:cNvCxnSpPr/>
          <p:nvPr/>
        </p:nvCxnSpPr>
        <p:spPr>
          <a:xfrm rot="5400000">
            <a:off x="2007129" y="3221207"/>
            <a:ext cx="3017520" cy="1059"/>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0" y="1712976"/>
            <a:ext cx="353568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0" y="4733544"/>
            <a:ext cx="353568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07264" y="1905000"/>
            <a:ext cx="3169920" cy="1371600"/>
          </a:xfrm>
        </p:spPr>
        <p:txBody>
          <a:bodyPr anchor="b">
            <a:normAutofit/>
          </a:bodyPr>
          <a:lstStyle>
            <a:lvl1pPr algn="l">
              <a:defRPr sz="2600" b="1" cap="none" spc="20" baseline="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203200" y="3276600"/>
            <a:ext cx="3169920" cy="1371600"/>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A59E04-BC48-4C3C-B2CF-95287A202A10}"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A59E04-BC48-4C3C-B2CF-95287A202A10}"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90" name="Rectangle 189"/>
          <p:cNvSpPr/>
          <p:nvPr/>
        </p:nvSpPr>
        <p:spPr>
          <a:xfrm>
            <a:off x="199136" y="137160"/>
            <a:ext cx="11826240" cy="6583680"/>
          </a:xfrm>
          <a:prstGeom prst="rect">
            <a:avLst/>
          </a:prstGeom>
          <a:noFill/>
          <a:ln w="1905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Tw Cen MT"/>
              <a:ea typeface="+mn-ea"/>
              <a:cs typeface="+mn-cs"/>
            </a:endParaRPr>
          </a:p>
        </p:txBody>
      </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09600" y="6312409"/>
            <a:ext cx="2844800" cy="365125"/>
          </a:xfrm>
          <a:prstGeom prst="rect">
            <a:avLst/>
          </a:prstGeom>
        </p:spPr>
        <p:txBody>
          <a:bodyPr vert="horz" lIns="91440" tIns="45720" rIns="91440" bIns="45720" rtlCol="0" anchor="ctr"/>
          <a:lstStyle>
            <a:lvl1pPr algn="l">
              <a:defRPr sz="1200">
                <a:solidFill>
                  <a:schemeClr val="tx2"/>
                </a:solidFill>
              </a:defRPr>
            </a:lvl1pPr>
          </a:lstStyle>
          <a:p>
            <a:fld id="{92A59E04-BC48-4C3C-B2CF-95287A202A10}" type="datetimeFigureOut">
              <a:rPr lang="en-US" smtClean="0"/>
              <a:t>12/3/2024</a:t>
            </a:fld>
            <a:endParaRPr lang="en-US"/>
          </a:p>
        </p:txBody>
      </p:sp>
      <p:sp>
        <p:nvSpPr>
          <p:cNvPr id="5" name="Footer Placeholder 4"/>
          <p:cNvSpPr>
            <a:spLocks noGrp="1"/>
          </p:cNvSpPr>
          <p:nvPr>
            <p:ph type="ftr" sz="quarter" idx="3"/>
          </p:nvPr>
        </p:nvSpPr>
        <p:spPr>
          <a:xfrm>
            <a:off x="3774831" y="6312409"/>
            <a:ext cx="4642339"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8737600" y="6312409"/>
            <a:ext cx="2844800" cy="365125"/>
          </a:xfrm>
          <a:prstGeom prst="rect">
            <a:avLst/>
          </a:prstGeom>
        </p:spPr>
        <p:txBody>
          <a:bodyPr vert="horz" lIns="91440" tIns="45720" rIns="91440" bIns="45720" rtlCol="0" anchor="ctr"/>
          <a:lstStyle>
            <a:lvl1pPr algn="r">
              <a:defRPr sz="1200">
                <a:solidFill>
                  <a:schemeClr val="tx2"/>
                </a:solidFill>
              </a:defRPr>
            </a:lvl1pPr>
          </a:lstStyle>
          <a:p>
            <a:fld id="{8CF08CA4-D9C5-4472-8FBF-7DFA91021E4F}"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tabLst>
          <a:tab pos="3830638" algn="l"/>
        </a:tabLst>
        <a:defRPr sz="3600" b="1" kern="1200" cap="none" spc="50">
          <a:ln w="13335" cmpd="sng">
            <a:solidFill>
              <a:schemeClr val="accent1">
                <a:lumMod val="50000"/>
              </a:schemeClr>
            </a:solidFill>
            <a:prstDash val="solid"/>
          </a:ln>
          <a:solidFill>
            <a:schemeClr val="accent6">
              <a:tint val="1000"/>
            </a:schemeClr>
          </a:solidFill>
          <a:effectLst/>
          <a:latin typeface="+mj-lt"/>
          <a:ea typeface="+mj-ea"/>
          <a:cs typeface="+mj-cs"/>
        </a:defRPr>
      </a:lvl1pPr>
    </p:titleStyle>
    <p:bodyStyle>
      <a:lvl1pPr marL="274320" indent="-274320" algn="l" defTabSz="914400" rtl="0" eaLnBrk="1" latinLnBrk="0" hangingPunct="1">
        <a:spcBef>
          <a:spcPct val="20000"/>
        </a:spcBef>
        <a:buClr>
          <a:schemeClr val="accent1">
            <a:lumMod val="60000"/>
            <a:lumOff val="40000"/>
          </a:schemeClr>
        </a:buClr>
        <a:buFont typeface="Arial" pitchFamily="34" charset="0"/>
        <a:buChar char="•"/>
        <a:defRPr sz="2400" kern="1200">
          <a:solidFill>
            <a:schemeClr val="tx2"/>
          </a:solidFill>
          <a:latin typeface="+mn-lt"/>
          <a:ea typeface="+mn-ea"/>
          <a:cs typeface="+mn-cs"/>
        </a:defRPr>
      </a:lvl1pPr>
      <a:lvl2pPr marL="548640" indent="-182880" algn="l" defTabSz="914400" rtl="0" eaLnBrk="1" latinLnBrk="0" hangingPunct="1">
        <a:spcBef>
          <a:spcPct val="20000"/>
        </a:spcBef>
        <a:buClr>
          <a:schemeClr val="accent1">
            <a:lumMod val="60000"/>
            <a:lumOff val="40000"/>
          </a:schemeClr>
        </a:buClr>
        <a:buFont typeface="Arial" pitchFamily="34" charset="0"/>
        <a:buChar char="•"/>
        <a:defRPr sz="20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3pPr>
      <a:lvl4pPr marL="118872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4pPr>
      <a:lvl5pPr marL="1463040" indent="-228600" algn="l" defTabSz="914400" rtl="0" eaLnBrk="1" latinLnBrk="0" hangingPunct="1">
        <a:spcBef>
          <a:spcPct val="20000"/>
        </a:spcBef>
        <a:buClr>
          <a:schemeClr val="accent4"/>
        </a:buClr>
        <a:buFont typeface="Arial" pitchFamily="34" charset="0"/>
        <a:buChar char="•"/>
        <a:defRPr sz="1600" kern="1200" baseline="0">
          <a:solidFill>
            <a:schemeClr val="tx2"/>
          </a:solidFill>
          <a:latin typeface="+mn-lt"/>
          <a:ea typeface="+mn-ea"/>
          <a:cs typeface="+mn-cs"/>
        </a:defRPr>
      </a:lvl5pPr>
      <a:lvl6pPr marL="1691640" indent="-182880" algn="l" defTabSz="914400" rtl="0" eaLnBrk="1" latinLnBrk="0" hangingPunct="1">
        <a:spcBef>
          <a:spcPct val="20000"/>
        </a:spcBef>
        <a:buClr>
          <a:schemeClr val="accent5"/>
        </a:buClr>
        <a:buFont typeface="Arial" pitchFamily="34" charset="0"/>
        <a:buChar char="•"/>
        <a:defRPr sz="1600" kern="1200">
          <a:solidFill>
            <a:schemeClr val="tx1"/>
          </a:solidFill>
          <a:latin typeface="+mn-lt"/>
          <a:ea typeface="+mn-ea"/>
          <a:cs typeface="+mn-cs"/>
        </a:defRPr>
      </a:lvl6pPr>
      <a:lvl7pPr marL="1920240" indent="-182880" algn="l" defTabSz="914400" rtl="0" eaLnBrk="1" latinLnBrk="0" hangingPunct="1">
        <a:spcBef>
          <a:spcPct val="20000"/>
        </a:spcBef>
        <a:buClr>
          <a:schemeClr val="accent6"/>
        </a:buClr>
        <a:buFont typeface="Arial" pitchFamily="34" charset="0"/>
        <a:buChar char="•"/>
        <a:defRPr sz="1600" kern="1200">
          <a:solidFill>
            <a:schemeClr val="tx1"/>
          </a:solidFill>
          <a:latin typeface="+mn-lt"/>
          <a:ea typeface="+mn-ea"/>
          <a:cs typeface="+mn-cs"/>
        </a:defRPr>
      </a:lvl7pPr>
      <a:lvl8pPr marL="2148840" indent="-182880" algn="l" defTabSz="914400" rtl="0" eaLnBrk="1" latinLnBrk="0" hangingPunct="1">
        <a:spcBef>
          <a:spcPct val="20000"/>
        </a:spcBef>
        <a:buClr>
          <a:schemeClr val="accent3"/>
        </a:buClr>
        <a:buFont typeface="Arial" pitchFamily="34" charset="0"/>
        <a:buChar char="•"/>
        <a:defRPr sz="1600" kern="1200">
          <a:solidFill>
            <a:schemeClr val="tx1"/>
          </a:solidFill>
          <a:latin typeface="+mn-lt"/>
          <a:ea typeface="+mn-ea"/>
          <a:cs typeface="+mn-cs"/>
        </a:defRPr>
      </a:lvl8pPr>
      <a:lvl9pPr marL="2377440" indent="-182880" algn="l" defTabSz="914400" rtl="0" eaLnBrk="1" latinLnBrk="0" hangingPunct="1">
        <a:spcBef>
          <a:spcPct val="20000"/>
        </a:spcBef>
        <a:buClr>
          <a:schemeClr val="accent6"/>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geeksforgeeks.org/android-app-development-fundamentals-for-beginners/"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7" y="10"/>
            <a:ext cx="12191984" cy="6857991"/>
          </a:xfrm>
          <a:prstGeom prst="rect">
            <a:avLst/>
          </a:prstGeom>
        </p:spPr>
      </p:pic>
      <p:sp>
        <p:nvSpPr>
          <p:cNvPr id="6" name="Rectangle 5"/>
          <p:cNvSpPr/>
          <p:nvPr/>
        </p:nvSpPr>
        <p:spPr>
          <a:xfrm>
            <a:off x="0" y="0"/>
            <a:ext cx="12192000" cy="6858000"/>
          </a:xfrm>
          <a:prstGeom prst="rect">
            <a:avLst/>
          </a:prstGeom>
          <a:gradFill flip="none" rotWithShape="1">
            <a:gsLst>
              <a:gs pos="0">
                <a:schemeClr val="accent4">
                  <a:lumMod val="0"/>
                  <a:lumOff val="100000"/>
                </a:schemeClr>
              </a:gs>
              <a:gs pos="35000">
                <a:schemeClr val="accent4">
                  <a:lumMod val="0"/>
                  <a:lumOff val="100000"/>
                  <a:alpha val="54000"/>
                </a:schemeClr>
              </a:gs>
              <a:gs pos="100000">
                <a:schemeClr val="accent4">
                  <a:lumMod val="100000"/>
                </a:schemeClr>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p:nvCxnSpPr>
        <p:spPr>
          <a:xfrm rot="254895">
            <a:off x="1244259" y="1587490"/>
            <a:ext cx="1378634" cy="3101380"/>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254895" flipV="1">
            <a:off x="1414026" y="953161"/>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254895" flipV="1">
            <a:off x="2528004" y="4145838"/>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rot="254895">
            <a:off x="2781579" y="1021138"/>
            <a:ext cx="434003" cy="871580"/>
          </a:xfrm>
          <a:prstGeom prst="line">
            <a:avLst/>
          </a:prstGeom>
          <a:ln w="76200" cap="rnd">
            <a:solidFill>
              <a:schemeClr val="bg1"/>
            </a:solidFill>
            <a:round/>
            <a:tailEnd type="ova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254895">
            <a:off x="3531651" y="3347833"/>
            <a:ext cx="428346" cy="836383"/>
          </a:xfrm>
          <a:prstGeom prst="line">
            <a:avLst/>
          </a:prstGeom>
          <a:ln w="76200" cap="rnd">
            <a:solidFill>
              <a:schemeClr val="bg1"/>
            </a:solidFill>
            <a:round/>
            <a:headEnd type="oval"/>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145302" y="1610122"/>
            <a:ext cx="8474028" cy="1862048"/>
          </a:xfrm>
          <a:prstGeom prst="rect">
            <a:avLst/>
          </a:prstGeom>
          <a:noFill/>
        </p:spPr>
        <p:txBody>
          <a:bodyPr wrap="square" rtlCol="0">
            <a:spAutoFit/>
          </a:bodyPr>
          <a:lstStyle/>
          <a:p>
            <a:r>
              <a:rPr lang="en-US" sz="11500" spc="600" dirty="0">
                <a:solidFill>
                  <a:schemeClr val="bg1"/>
                </a:solidFill>
                <a:effectLst>
                  <a:outerShdw blurRad="50800" dist="38100" dir="5400000" algn="t" rotWithShape="0">
                    <a:prstClr val="black">
                      <a:alpha val="40000"/>
                    </a:prstClr>
                  </a:outerShdw>
                </a:effectLst>
                <a:latin typeface="Aptos" panose="020B0004020202020204" pitchFamily="34" charset="0"/>
              </a:rPr>
              <a:t>WELCOME</a:t>
            </a:r>
          </a:p>
        </p:txBody>
      </p:sp>
      <p:sp>
        <p:nvSpPr>
          <p:cNvPr id="25" name="Arrow: Right 24">
            <a:hlinkClick r:id="" action="ppaction://hlinkshowjump?jump=nextslide"/>
          </p:cNvPr>
          <p:cNvSpPr/>
          <p:nvPr/>
        </p:nvSpPr>
        <p:spPr>
          <a:xfrm>
            <a:off x="10743027" y="2321170"/>
            <a:ext cx="1172308" cy="438026"/>
          </a:xfrm>
          <a:prstGeom prst="rightArrow">
            <a:avLst/>
          </a:prstGeom>
          <a:solidFill>
            <a:schemeClr val="bg1"/>
          </a:solidFill>
          <a:ln>
            <a:noFill/>
          </a:ln>
          <a:scene3d>
            <a:camera prst="orthographicFront"/>
            <a:lightRig rig="threePt" dir="t"/>
          </a:scene3d>
          <a:sp3d>
            <a:bevelT w="101600" prst="ribl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139483" y="6316394"/>
            <a:ext cx="9636369" cy="646331"/>
          </a:xfrm>
          <a:prstGeom prst="rect">
            <a:avLst/>
          </a:prstGeom>
          <a:noFill/>
        </p:spPr>
        <p:txBody>
          <a:bodyPr wrap="square" rtlCol="0">
            <a:spAutoFit/>
          </a:bodyPr>
          <a:lstStyle/>
          <a:p>
            <a:pPr algn="ctr"/>
            <a:r>
              <a:rPr lang="en-US" sz="3600" b="1" spc="600" dirty="0">
                <a:solidFill>
                  <a:schemeClr val="bg1"/>
                </a:solidFill>
              </a:rPr>
              <a:t>Mobile Application Development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7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right)">
                                      <p:cBhvr>
                                        <p:cTn id="12" dur="7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75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75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down)">
                                      <p:cBhvr>
                                        <p:cTn id="27" dur="75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1000"/>
                                        <p:tgtEl>
                                          <p:spTgt spid="21"/>
                                        </p:tgtEl>
                                      </p:cBhvr>
                                    </p:animEffect>
                                  </p:childTnLst>
                                </p:cTn>
                              </p:par>
                            </p:childTnLst>
                          </p:cTn>
                        </p:par>
                        <p:par>
                          <p:cTn id="33" fill="hold">
                            <p:stCondLst>
                              <p:cond delay="1000"/>
                            </p:stCondLst>
                            <p:childTnLst>
                              <p:par>
                                <p:cTn id="34" presetID="26" presetClass="emph" presetSubtype="0" repeatCount="indefinite" fill="hold" grpId="1" nodeType="afterEffect">
                                  <p:stCondLst>
                                    <p:cond delay="0"/>
                                  </p:stCondLst>
                                  <p:endCondLst>
                                    <p:cond evt="onNext" delay="0">
                                      <p:tgtEl>
                                        <p:sldTgt/>
                                      </p:tgtEl>
                                    </p:cond>
                                  </p:endCondLst>
                                  <p:childTnLst>
                                    <p:animEffect transition="out" filter="fade">
                                      <p:cBhvr>
                                        <p:cTn id="35" dur="1000" tmFilter="0, 0; .2, .5; .8, .5; 1, 0"/>
                                        <p:tgtEl>
                                          <p:spTgt spid="21"/>
                                        </p:tgtEl>
                                      </p:cBhvr>
                                    </p:animEffect>
                                    <p:animScale>
                                      <p:cBhvr>
                                        <p:cTn id="36" dur="500" autoRev="1" fill="hold"/>
                                        <p:tgtEl>
                                          <p:spTgt spid="21"/>
                                        </p:tgtEl>
                                      </p:cBhvr>
                                      <p:by x="105000" y="105000"/>
                                    </p:animScale>
                                  </p:childTnLst>
                                </p:cTn>
                              </p:par>
                            </p:childTnLst>
                          </p:cTn>
                        </p:par>
                        <p:par>
                          <p:cTn id="37" fill="hold">
                            <p:stCondLst>
                              <p:cond delay="2000"/>
                            </p:stCondLst>
                            <p:childTnLst>
                              <p:par>
                                <p:cTn id="38" presetID="2" presetClass="entr" presetSubtype="4" fill="hold" grpId="0" nodeType="afterEffect">
                                  <p:stCondLst>
                                    <p:cond delay="0"/>
                                  </p:stCondLst>
                                  <p:childTnLst>
                                    <p:set>
                                      <p:cBhvr>
                                        <p:cTn id="39" dur="1" fill="hold">
                                          <p:stCondLst>
                                            <p:cond delay="0"/>
                                          </p:stCondLst>
                                        </p:cTn>
                                        <p:tgtEl>
                                          <p:spTgt spid="26"/>
                                        </p:tgtEl>
                                        <p:attrNameLst>
                                          <p:attrName>style.visibility</p:attrName>
                                        </p:attrNameLst>
                                      </p:cBhvr>
                                      <p:to>
                                        <p:strVal val="visible"/>
                                      </p:to>
                                    </p:set>
                                    <p:anim calcmode="lin" valueType="num">
                                      <p:cBhvr additive="base">
                                        <p:cTn id="40" dur="500" fill="hold"/>
                                        <p:tgtEl>
                                          <p:spTgt spid="26"/>
                                        </p:tgtEl>
                                        <p:attrNameLst>
                                          <p:attrName>ppt_x</p:attrName>
                                        </p:attrNameLst>
                                      </p:cBhvr>
                                      <p:tavLst>
                                        <p:tav tm="0">
                                          <p:val>
                                            <p:strVal val="#ppt_x"/>
                                          </p:val>
                                        </p:tav>
                                        <p:tav tm="100000">
                                          <p:val>
                                            <p:strVal val="#ppt_x"/>
                                          </p:val>
                                        </p:tav>
                                      </p:tavLst>
                                    </p:anim>
                                    <p:anim calcmode="lin" valueType="num">
                                      <p:cBhvr additive="base">
                                        <p:cTn id="41" dur="500" fill="hold"/>
                                        <p:tgtEl>
                                          <p:spTgt spid="26"/>
                                        </p:tgtEl>
                                        <p:attrNameLst>
                                          <p:attrName>ppt_y</p:attrName>
                                        </p:attrNameLst>
                                      </p:cBhvr>
                                      <p:tavLst>
                                        <p:tav tm="0">
                                          <p:val>
                                            <p:strVal val="1+#ppt_h/2"/>
                                          </p:val>
                                        </p:tav>
                                        <p:tav tm="100000">
                                          <p:val>
                                            <p:strVal val="#ppt_y"/>
                                          </p:val>
                                        </p:tav>
                                      </p:tavLst>
                                    </p:anim>
                                  </p:childTnLst>
                                </p:cTn>
                              </p:par>
                            </p:childTnLst>
                          </p:cTn>
                        </p:par>
                        <p:par>
                          <p:cTn id="42" fill="hold">
                            <p:stCondLst>
                              <p:cond delay="2500"/>
                            </p:stCondLst>
                            <p:childTnLst>
                              <p:par>
                                <p:cTn id="43" presetID="22" presetClass="entr" presetSubtype="8"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5" grpId="0" animBg="1"/>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8205" y="105136"/>
            <a:ext cx="11887201" cy="1323439"/>
          </a:xfrm>
          <a:prstGeom prst="rect">
            <a:avLst/>
          </a:prstGeom>
          <a:noFill/>
        </p:spPr>
        <p:txBody>
          <a:bodyPr wrap="square" rtlCol="0">
            <a:spAutoFit/>
          </a:bodyPr>
          <a:lstStyle/>
          <a:p>
            <a:pPr algn="ctr"/>
            <a:r>
              <a:rPr lang="en-US" sz="4000" b="1" dirty="0">
                <a:latin typeface="Times New Roman" pitchFamily="18" charset="0"/>
                <a:cs typeface="Times New Roman" pitchFamily="18" charset="0"/>
              </a:rPr>
              <a:t>Android Activity Lifecycle</a:t>
            </a:r>
            <a:r>
              <a:rPr lang="en-US" sz="4000" dirty="0">
                <a:latin typeface="Times New Roman" pitchFamily="18" charset="0"/>
                <a:cs typeface="Times New Roman" pitchFamily="18" charset="0"/>
              </a:rPr>
              <a:t/>
            </a:r>
            <a:br>
              <a:rPr lang="en-US" sz="4000" dirty="0">
                <a:latin typeface="Times New Roman" pitchFamily="18" charset="0"/>
                <a:cs typeface="Times New Roman" pitchFamily="18" charset="0"/>
              </a:rPr>
            </a:br>
            <a:endParaRPr lang="en-US" sz="4000" dirty="0">
              <a:solidFill>
                <a:srgbClr val="00B0F0"/>
              </a:solidFill>
              <a:latin typeface="Times New Roman" pitchFamily="18" charset="0"/>
              <a:cs typeface="Times New Roman" pitchFamily="18" charset="0"/>
            </a:endParaRPr>
          </a:p>
        </p:txBody>
      </p:sp>
      <p:sp>
        <p:nvSpPr>
          <p:cNvPr id="3" name="TextBox 2"/>
          <p:cNvSpPr txBox="1"/>
          <p:nvPr/>
        </p:nvSpPr>
        <p:spPr>
          <a:xfrm>
            <a:off x="152399" y="1076804"/>
            <a:ext cx="11887200" cy="5847755"/>
          </a:xfrm>
          <a:prstGeom prst="rect">
            <a:avLst/>
          </a:prstGeom>
          <a:noFill/>
        </p:spPr>
        <p:txBody>
          <a:bodyPr wrap="square" rtlCol="0">
            <a:spAutoFit/>
          </a:bodyPr>
          <a:lstStyle/>
          <a:p>
            <a:pPr indent="0">
              <a:lnSpc>
                <a:spcPct val="200000"/>
              </a:lnSpc>
              <a:buFont typeface="Arial" panose="020B0604020202020204" pitchFamily="34" charset="0"/>
              <a:buNone/>
            </a:pPr>
            <a:r>
              <a:rPr lang="en-US" sz="2200" dirty="0">
                <a:latin typeface="Calibri" pitchFamily="34" charset="0"/>
                <a:cs typeface="Calibri" pitchFamily="34" charset="0"/>
              </a:rPr>
              <a:t>In </a:t>
            </a:r>
            <a:r>
              <a:rPr lang="en-US" sz="2200" u="sng" dirty="0">
                <a:latin typeface="Calibri" pitchFamily="34" charset="0"/>
                <a:cs typeface="Calibri" pitchFamily="34" charset="0"/>
                <a:hlinkClick r:id="rId2"/>
              </a:rPr>
              <a:t>Android</a:t>
            </a:r>
            <a:r>
              <a:rPr lang="en-US" sz="2200" dirty="0">
                <a:latin typeface="Calibri" pitchFamily="34" charset="0"/>
                <a:cs typeface="Calibri" pitchFamily="34" charset="0"/>
              </a:rPr>
              <a:t>, an </a:t>
            </a:r>
            <a:r>
              <a:rPr lang="en-US" sz="2200" b="1" dirty="0">
                <a:latin typeface="Calibri" pitchFamily="34" charset="0"/>
                <a:cs typeface="Calibri" pitchFamily="34" charset="0"/>
              </a:rPr>
              <a:t>activity</a:t>
            </a:r>
            <a:r>
              <a:rPr lang="en-US" sz="2200" dirty="0">
                <a:latin typeface="Calibri" pitchFamily="34" charset="0"/>
                <a:cs typeface="Calibri" pitchFamily="34" charset="0"/>
              </a:rPr>
              <a:t> is referred to as one screen in an application. It is very similar to a single window of any desktop application. An Android app consists of one or more screens or activities. </a:t>
            </a:r>
            <a:br>
              <a:rPr lang="en-US" sz="2200" dirty="0">
                <a:latin typeface="Calibri" pitchFamily="34" charset="0"/>
                <a:cs typeface="Calibri" pitchFamily="34" charset="0"/>
              </a:rPr>
            </a:br>
            <a:r>
              <a:rPr lang="en-US" sz="2200" dirty="0">
                <a:latin typeface="Calibri" pitchFamily="34" charset="0"/>
                <a:cs typeface="Calibri" pitchFamily="34" charset="0"/>
              </a:rPr>
              <a:t>Each activity goes through various stages or a lifecycle and is managed by activity stacks. So when a new activity starts, the previous one always remains below it. </a:t>
            </a:r>
            <a:endParaRPr lang="en-US" sz="2200" dirty="0" smtClean="0">
              <a:latin typeface="Calibri" pitchFamily="34" charset="0"/>
              <a:cs typeface="Calibri" pitchFamily="34" charset="0"/>
            </a:endParaRPr>
          </a:p>
          <a:p>
            <a:pPr indent="0">
              <a:lnSpc>
                <a:spcPct val="200000"/>
              </a:lnSpc>
              <a:buFont typeface="Arial" panose="020B0604020202020204" pitchFamily="34" charset="0"/>
              <a:buNone/>
            </a:pPr>
            <a:r>
              <a:rPr lang="en-US" sz="2200" dirty="0" smtClean="0">
                <a:latin typeface="Calibri" pitchFamily="34" charset="0"/>
                <a:cs typeface="Calibri" pitchFamily="34" charset="0"/>
              </a:rPr>
              <a:t>There </a:t>
            </a:r>
            <a:r>
              <a:rPr lang="en-US" sz="2200" dirty="0">
                <a:latin typeface="Calibri" pitchFamily="34" charset="0"/>
                <a:cs typeface="Calibri" pitchFamily="34" charset="0"/>
              </a:rPr>
              <a:t>are four stages of an activity. </a:t>
            </a:r>
            <a:endParaRPr lang="en-US" sz="2200" dirty="0" smtClean="0">
              <a:latin typeface="Calibri" pitchFamily="34" charset="0"/>
              <a:cs typeface="Calibri" pitchFamily="34" charset="0"/>
            </a:endParaRPr>
          </a:p>
          <a:p>
            <a:pPr marL="342900" indent="-342900" fontAlgn="base">
              <a:buFont typeface="Arial" pitchFamily="34" charset="0"/>
              <a:buChar char="•"/>
            </a:pPr>
            <a:r>
              <a:rPr lang="en-US" sz="2200" dirty="0" smtClean="0">
                <a:latin typeface="Calibri" pitchFamily="34" charset="0"/>
                <a:cs typeface="Calibri" pitchFamily="34" charset="0"/>
              </a:rPr>
              <a:t>If </a:t>
            </a:r>
            <a:r>
              <a:rPr lang="en-US" sz="2200" dirty="0">
                <a:latin typeface="Calibri" pitchFamily="34" charset="0"/>
                <a:cs typeface="Calibri" pitchFamily="34" charset="0"/>
              </a:rPr>
              <a:t>an activity is in the foreground of the screen </a:t>
            </a:r>
            <a:r>
              <a:rPr lang="en-US" sz="2200" dirty="0" smtClean="0">
                <a:latin typeface="Calibri" pitchFamily="34" charset="0"/>
                <a:cs typeface="Calibri" pitchFamily="34" charset="0"/>
              </a:rPr>
              <a:t>at </a:t>
            </a:r>
            <a:r>
              <a:rPr lang="en-US" sz="2200" dirty="0">
                <a:latin typeface="Calibri" pitchFamily="34" charset="0"/>
                <a:cs typeface="Calibri" pitchFamily="34" charset="0"/>
              </a:rPr>
              <a:t>the top of the stack, then it is said to be active or running. This is usually the activity that the user is currently interacting with.</a:t>
            </a:r>
          </a:p>
          <a:p>
            <a:pPr marL="342900" indent="-342900" fontAlgn="base">
              <a:buFont typeface="Arial" pitchFamily="34" charset="0"/>
              <a:buChar char="•"/>
            </a:pPr>
            <a:r>
              <a:rPr lang="en-US" sz="2200" dirty="0">
                <a:latin typeface="Calibri" pitchFamily="34" charset="0"/>
                <a:cs typeface="Calibri" pitchFamily="34" charset="0"/>
              </a:rPr>
              <a:t>If an activity has lost focus and a non-full-sized or transparent activity has focused on top of your activity. In such a case either another activity has a higher position in multi-window mode or the activity itself is not focusable in the current window mode. Such activity is completely alive.</a:t>
            </a:r>
          </a:p>
          <a:p>
            <a:pPr indent="0">
              <a:lnSpc>
                <a:spcPct val="200000"/>
              </a:lnSpc>
              <a:buFont typeface="Arial" panose="020B0604020202020204" pitchFamily="34" charset="0"/>
              <a:buNone/>
            </a:pPr>
            <a:endParaRPr lang="en-US" sz="2200" dirty="0">
              <a:latin typeface="Calibri" pitchFamily="34" charset="0"/>
              <a:cs typeface="Calibri" pitchFamily="34" charset="0"/>
            </a:endParaRPr>
          </a:p>
        </p:txBody>
      </p:sp>
      <p:sp>
        <p:nvSpPr>
          <p:cNvPr id="5" name="Rectangle 4"/>
          <p:cNvSpPr/>
          <p:nvPr/>
        </p:nvSpPr>
        <p:spPr>
          <a:xfrm>
            <a:off x="10666484" y="55489"/>
            <a:ext cx="1493669" cy="1021315"/>
          </a:xfrm>
          <a:prstGeom prst="rect">
            <a:avLst/>
          </a:prstGeom>
          <a:blipFill rotWithShape="1">
            <a:blip r:embed="rId3">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8205" y="105136"/>
            <a:ext cx="11887201" cy="1323439"/>
          </a:xfrm>
          <a:prstGeom prst="rect">
            <a:avLst/>
          </a:prstGeom>
          <a:noFill/>
        </p:spPr>
        <p:txBody>
          <a:bodyPr wrap="square" rtlCol="0">
            <a:spAutoFit/>
          </a:bodyPr>
          <a:lstStyle/>
          <a:p>
            <a:pPr algn="ctr"/>
            <a:r>
              <a:rPr lang="en-US" sz="4000" b="1" dirty="0">
                <a:latin typeface="Times New Roman" pitchFamily="18" charset="0"/>
                <a:cs typeface="Times New Roman" pitchFamily="18" charset="0"/>
              </a:rPr>
              <a:t>Android Activity Lifecycle</a:t>
            </a:r>
            <a:r>
              <a:rPr lang="en-US" sz="4000" dirty="0">
                <a:latin typeface="Times New Roman" pitchFamily="18" charset="0"/>
                <a:cs typeface="Times New Roman" pitchFamily="18" charset="0"/>
              </a:rPr>
              <a:t/>
            </a:r>
            <a:br>
              <a:rPr lang="en-US" sz="4000" dirty="0">
                <a:latin typeface="Times New Roman" pitchFamily="18" charset="0"/>
                <a:cs typeface="Times New Roman" pitchFamily="18" charset="0"/>
              </a:rPr>
            </a:br>
            <a:endParaRPr lang="en-US" sz="4000" dirty="0">
              <a:solidFill>
                <a:srgbClr val="00B0F0"/>
              </a:solidFill>
              <a:latin typeface="Times New Roman" pitchFamily="18" charset="0"/>
              <a:cs typeface="Times New Roman" pitchFamily="18" charset="0"/>
            </a:endParaRPr>
          </a:p>
        </p:txBody>
      </p:sp>
      <p:sp>
        <p:nvSpPr>
          <p:cNvPr id="3" name="TextBox 2"/>
          <p:cNvSpPr txBox="1"/>
          <p:nvPr/>
        </p:nvSpPr>
        <p:spPr>
          <a:xfrm>
            <a:off x="152399" y="1076804"/>
            <a:ext cx="11887200" cy="2862322"/>
          </a:xfrm>
          <a:prstGeom prst="rect">
            <a:avLst/>
          </a:prstGeom>
          <a:noFill/>
        </p:spPr>
        <p:txBody>
          <a:bodyPr wrap="square" rtlCol="0">
            <a:spAutoFit/>
          </a:bodyPr>
          <a:lstStyle/>
          <a:p>
            <a:pPr marL="342900" indent="-342900" fontAlgn="base">
              <a:buFont typeface="Arial" pitchFamily="34" charset="0"/>
              <a:buChar char="•"/>
            </a:pPr>
            <a:r>
              <a:rPr lang="en-US" sz="2200" dirty="0">
                <a:latin typeface="Calibri" pitchFamily="34" charset="0"/>
                <a:cs typeface="Calibri" pitchFamily="34" charset="0"/>
              </a:rPr>
              <a:t>If an activity is completely hidden by another activity, it is stopped or hidden. It still retains all the information, and as its window is hidden thus it will often be killed by the system when memory is needed elsewhere.</a:t>
            </a:r>
          </a:p>
          <a:p>
            <a:pPr marL="342900" indent="-342900" fontAlgn="base">
              <a:buFont typeface="Arial" pitchFamily="34" charset="0"/>
              <a:buChar char="•"/>
            </a:pPr>
            <a:r>
              <a:rPr lang="en-US" sz="2200" dirty="0">
                <a:latin typeface="Calibri" pitchFamily="34" charset="0"/>
                <a:cs typeface="Calibri" pitchFamily="34" charset="0"/>
              </a:rPr>
              <a:t>The system can destroy the activity from memory by either asking it to finish or simply killing its process. When it is displayed again to the user, it must be completely restarted and restored to its previous state</a:t>
            </a:r>
            <a:r>
              <a:rPr lang="en-US" sz="2200" dirty="0" smtClean="0">
                <a:latin typeface="Calibri" pitchFamily="34" charset="0"/>
                <a:cs typeface="Calibri" pitchFamily="34" charset="0"/>
              </a:rPr>
              <a:t>.</a:t>
            </a:r>
          </a:p>
          <a:p>
            <a:pPr marL="342900" indent="-342900" fontAlgn="base">
              <a:buFont typeface="Arial" pitchFamily="34" charset="0"/>
              <a:buChar char="•"/>
            </a:pPr>
            <a:r>
              <a:rPr lang="en-US" sz="2200" dirty="0">
                <a:latin typeface="Calibri" pitchFamily="34" charset="0"/>
                <a:cs typeface="Calibri" pitchFamily="34" charset="0"/>
              </a:rPr>
              <a:t>For each stage, android provides us with a set of 7 methods that have their own significance for each stage in the life cycle.</a:t>
            </a:r>
          </a:p>
        </p:txBody>
      </p:sp>
      <p:sp>
        <p:nvSpPr>
          <p:cNvPr id="5" name="Rectangle 4"/>
          <p:cNvSpPr/>
          <p:nvPr/>
        </p:nvSpPr>
        <p:spPr>
          <a:xfrm>
            <a:off x="10666484" y="55489"/>
            <a:ext cx="1493669" cy="1021315"/>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Tree>
    <p:extLst>
      <p:ext uri="{BB962C8B-B14F-4D97-AF65-F5344CB8AC3E}">
        <p14:creationId xmlns:p14="http://schemas.microsoft.com/office/powerpoint/2010/main" val="1762584718"/>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8205" y="105136"/>
            <a:ext cx="11887201" cy="1323439"/>
          </a:xfrm>
          <a:prstGeom prst="rect">
            <a:avLst/>
          </a:prstGeom>
          <a:noFill/>
        </p:spPr>
        <p:txBody>
          <a:bodyPr wrap="square" rtlCol="0">
            <a:spAutoFit/>
          </a:bodyPr>
          <a:lstStyle/>
          <a:p>
            <a:pPr algn="ctr"/>
            <a:r>
              <a:rPr lang="en-US" sz="4000" b="1" dirty="0">
                <a:latin typeface="Times New Roman" pitchFamily="18" charset="0"/>
                <a:cs typeface="Times New Roman" pitchFamily="18" charset="0"/>
              </a:rPr>
              <a:t>Android Activity Lifecycle</a:t>
            </a:r>
            <a:r>
              <a:rPr lang="en-US" sz="4000" dirty="0">
                <a:latin typeface="Times New Roman" pitchFamily="18" charset="0"/>
                <a:cs typeface="Times New Roman" pitchFamily="18" charset="0"/>
              </a:rPr>
              <a:t/>
            </a:r>
            <a:br>
              <a:rPr lang="en-US" sz="4000" dirty="0">
                <a:latin typeface="Times New Roman" pitchFamily="18" charset="0"/>
                <a:cs typeface="Times New Roman" pitchFamily="18" charset="0"/>
              </a:rPr>
            </a:br>
            <a:endParaRPr lang="en-US" sz="4000" dirty="0">
              <a:solidFill>
                <a:srgbClr val="00B0F0"/>
              </a:solidFill>
              <a:latin typeface="Times New Roman" pitchFamily="18" charset="0"/>
              <a:cs typeface="Times New Roman" pitchFamily="18" charset="0"/>
            </a:endParaRPr>
          </a:p>
        </p:txBody>
      </p:sp>
      <p:sp>
        <p:nvSpPr>
          <p:cNvPr id="5" name="Rectangle 4"/>
          <p:cNvSpPr/>
          <p:nvPr/>
        </p:nvSpPr>
        <p:spPr>
          <a:xfrm>
            <a:off x="10666484" y="55489"/>
            <a:ext cx="1493669" cy="1021315"/>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aphicFrame>
        <p:nvGraphicFramePr>
          <p:cNvPr id="6" name="Table 5"/>
          <p:cNvGraphicFramePr>
            <a:graphicFrameLocks noGrp="1"/>
          </p:cNvGraphicFramePr>
          <p:nvPr>
            <p:extLst>
              <p:ext uri="{D42A27DB-BD31-4B8C-83A1-F6EECF244321}">
                <p14:modId xmlns:p14="http://schemas.microsoft.com/office/powerpoint/2010/main" val="3182192602"/>
              </p:ext>
            </p:extLst>
          </p:nvPr>
        </p:nvGraphicFramePr>
        <p:xfrm>
          <a:off x="306232" y="999006"/>
          <a:ext cx="5115773" cy="5716058"/>
        </p:xfrm>
        <a:graphic>
          <a:graphicData uri="http://schemas.openxmlformats.org/drawingml/2006/table">
            <a:tbl>
              <a:tblPr firstRow="1" bandRow="1">
                <a:tableStyleId>{5940675A-B579-460E-94D1-54222C63F5DA}</a:tableStyleId>
              </a:tblPr>
              <a:tblGrid>
                <a:gridCol w="1142090"/>
                <a:gridCol w="3973683"/>
              </a:tblGrid>
              <a:tr h="605066">
                <a:tc>
                  <a:txBody>
                    <a:bodyPr/>
                    <a:lstStyle/>
                    <a:p>
                      <a:pPr algn="ctr" fontAlgn="t"/>
                      <a:r>
                        <a:rPr lang="en-US" sz="2400" dirty="0">
                          <a:solidFill>
                            <a:srgbClr val="FFFFFF"/>
                          </a:solidFill>
                          <a:effectLst/>
                        </a:rPr>
                        <a:t>Method</a:t>
                      </a:r>
                    </a:p>
                  </a:txBody>
                  <a:tcPr marL="95250" marR="95250" marT="95250" marB="95250"/>
                </a:tc>
                <a:tc>
                  <a:txBody>
                    <a:bodyPr/>
                    <a:lstStyle/>
                    <a:p>
                      <a:pPr algn="ctr" fontAlgn="t"/>
                      <a:r>
                        <a:rPr lang="en-US" sz="2400" dirty="0">
                          <a:solidFill>
                            <a:srgbClr val="FFFFFF"/>
                          </a:solidFill>
                          <a:effectLst/>
                        </a:rPr>
                        <a:t>Description</a:t>
                      </a:r>
                    </a:p>
                  </a:txBody>
                  <a:tcPr marL="95250" marR="95250" marT="95250" marB="95250"/>
                </a:tc>
              </a:tr>
              <a:tr h="501200">
                <a:tc>
                  <a:txBody>
                    <a:bodyPr/>
                    <a:lstStyle/>
                    <a:p>
                      <a:r>
                        <a:rPr lang="en-US" b="1" dirty="0" err="1">
                          <a:effectLst/>
                        </a:rPr>
                        <a:t>onCreate</a:t>
                      </a:r>
                      <a:endParaRPr lang="en-US" dirty="0">
                        <a:effectLst/>
                      </a:endParaRPr>
                    </a:p>
                  </a:txBody>
                  <a:tcPr marL="76200" marR="76200" marT="76200" marB="76200" anchor="ctr"/>
                </a:tc>
                <a:tc>
                  <a:txBody>
                    <a:bodyPr/>
                    <a:lstStyle/>
                    <a:p>
                      <a:r>
                        <a:rPr lang="en-US">
                          <a:effectLst/>
                        </a:rPr>
                        <a:t>called when activity is first created.</a:t>
                      </a:r>
                    </a:p>
                  </a:txBody>
                  <a:tcPr marL="76200" marR="76200" marT="76200" marB="76200" anchor="ctr"/>
                </a:tc>
              </a:tr>
              <a:tr h="782901">
                <a:tc>
                  <a:txBody>
                    <a:bodyPr/>
                    <a:lstStyle/>
                    <a:p>
                      <a:r>
                        <a:rPr lang="en-US" b="1" dirty="0" err="1">
                          <a:effectLst/>
                        </a:rPr>
                        <a:t>onStart</a:t>
                      </a:r>
                      <a:endParaRPr lang="en-US" dirty="0">
                        <a:effectLst/>
                      </a:endParaRPr>
                    </a:p>
                  </a:txBody>
                  <a:tcPr marL="76200" marR="76200" marT="76200" marB="76200" anchor="ctr"/>
                </a:tc>
                <a:tc>
                  <a:txBody>
                    <a:bodyPr/>
                    <a:lstStyle/>
                    <a:p>
                      <a:r>
                        <a:rPr lang="en-US">
                          <a:effectLst/>
                        </a:rPr>
                        <a:t>called when activity is becoming visible to the user.</a:t>
                      </a:r>
                    </a:p>
                  </a:txBody>
                  <a:tcPr marL="76200" marR="76200" marT="76200" marB="76200" anchor="ctr"/>
                </a:tc>
              </a:tr>
              <a:tr h="782901">
                <a:tc>
                  <a:txBody>
                    <a:bodyPr/>
                    <a:lstStyle/>
                    <a:p>
                      <a:r>
                        <a:rPr lang="en-US" b="1" dirty="0" err="1">
                          <a:effectLst/>
                        </a:rPr>
                        <a:t>onResume</a:t>
                      </a:r>
                      <a:endParaRPr lang="en-US" dirty="0">
                        <a:effectLst/>
                      </a:endParaRPr>
                    </a:p>
                  </a:txBody>
                  <a:tcPr marL="76200" marR="76200" marT="76200" marB="76200" anchor="ctr"/>
                </a:tc>
                <a:tc>
                  <a:txBody>
                    <a:bodyPr/>
                    <a:lstStyle/>
                    <a:p>
                      <a:r>
                        <a:rPr lang="en-US">
                          <a:effectLst/>
                        </a:rPr>
                        <a:t>called when activity will start interacting with the user.</a:t>
                      </a:r>
                    </a:p>
                  </a:txBody>
                  <a:tcPr marL="76200" marR="76200" marT="76200" marB="76200" anchor="ctr"/>
                </a:tc>
              </a:tr>
              <a:tr h="752626">
                <a:tc>
                  <a:txBody>
                    <a:bodyPr/>
                    <a:lstStyle/>
                    <a:p>
                      <a:r>
                        <a:rPr lang="en-US" b="1" dirty="0" err="1">
                          <a:effectLst/>
                        </a:rPr>
                        <a:t>onPause</a:t>
                      </a:r>
                      <a:endParaRPr lang="en-US" dirty="0">
                        <a:effectLst/>
                      </a:endParaRPr>
                    </a:p>
                  </a:txBody>
                  <a:tcPr marL="76200" marR="76200" marT="76200" marB="76200" anchor="ctr"/>
                </a:tc>
                <a:tc>
                  <a:txBody>
                    <a:bodyPr/>
                    <a:lstStyle/>
                    <a:p>
                      <a:r>
                        <a:rPr lang="en-US">
                          <a:effectLst/>
                        </a:rPr>
                        <a:t>called when activity is not visible to the user.</a:t>
                      </a:r>
                    </a:p>
                  </a:txBody>
                  <a:tcPr marL="76200" marR="76200" marT="76200" marB="76200" anchor="ctr"/>
                </a:tc>
              </a:tr>
              <a:tr h="782901">
                <a:tc>
                  <a:txBody>
                    <a:bodyPr/>
                    <a:lstStyle/>
                    <a:p>
                      <a:r>
                        <a:rPr lang="en-US" b="1" dirty="0" err="1">
                          <a:effectLst/>
                        </a:rPr>
                        <a:t>onStop</a:t>
                      </a:r>
                      <a:endParaRPr lang="en-US" dirty="0">
                        <a:effectLst/>
                      </a:endParaRPr>
                    </a:p>
                  </a:txBody>
                  <a:tcPr marL="76200" marR="76200" marT="76200" marB="76200" anchor="ctr"/>
                </a:tc>
                <a:tc>
                  <a:txBody>
                    <a:bodyPr/>
                    <a:lstStyle/>
                    <a:p>
                      <a:r>
                        <a:rPr lang="en-US">
                          <a:effectLst/>
                        </a:rPr>
                        <a:t>called when activity is no longer visible to the user.</a:t>
                      </a:r>
                    </a:p>
                  </a:txBody>
                  <a:tcPr marL="76200" marR="76200" marT="76200" marB="76200" anchor="ctr"/>
                </a:tc>
              </a:tr>
              <a:tr h="782901">
                <a:tc>
                  <a:txBody>
                    <a:bodyPr/>
                    <a:lstStyle/>
                    <a:p>
                      <a:r>
                        <a:rPr lang="en-US" b="1" dirty="0" err="1">
                          <a:effectLst/>
                        </a:rPr>
                        <a:t>onRestart</a:t>
                      </a:r>
                      <a:endParaRPr lang="en-US" dirty="0">
                        <a:effectLst/>
                      </a:endParaRPr>
                    </a:p>
                  </a:txBody>
                  <a:tcPr marL="76200" marR="76200" marT="76200" marB="76200" anchor="ctr"/>
                </a:tc>
                <a:tc>
                  <a:txBody>
                    <a:bodyPr/>
                    <a:lstStyle/>
                    <a:p>
                      <a:r>
                        <a:rPr lang="en-US">
                          <a:effectLst/>
                        </a:rPr>
                        <a:t>called after your activity is stopped, prior to start.</a:t>
                      </a:r>
                    </a:p>
                  </a:txBody>
                  <a:tcPr marL="76200" marR="76200" marT="76200" marB="76200" anchor="ctr"/>
                </a:tc>
              </a:tr>
              <a:tr h="725562">
                <a:tc>
                  <a:txBody>
                    <a:bodyPr/>
                    <a:lstStyle/>
                    <a:p>
                      <a:r>
                        <a:rPr lang="en-US" b="1" dirty="0" err="1">
                          <a:effectLst/>
                        </a:rPr>
                        <a:t>onDestroy</a:t>
                      </a:r>
                      <a:endParaRPr lang="en-US" dirty="0">
                        <a:effectLst/>
                      </a:endParaRPr>
                    </a:p>
                  </a:txBody>
                  <a:tcPr marL="76200" marR="76200" marT="76200" marB="76200" anchor="ctr"/>
                </a:tc>
                <a:tc>
                  <a:txBody>
                    <a:bodyPr/>
                    <a:lstStyle/>
                    <a:p>
                      <a:r>
                        <a:rPr lang="en-US" dirty="0">
                          <a:effectLst/>
                        </a:rPr>
                        <a:t>called before the activity is destroyed.</a:t>
                      </a:r>
                    </a:p>
                  </a:txBody>
                  <a:tcPr marL="76200" marR="76200" marT="76200" marB="76200" anchor="ctr"/>
                </a:tc>
              </a:tr>
            </a:tbl>
          </a:graphicData>
        </a:graphic>
      </p:graphicFrame>
      <p:sp>
        <p:nvSpPr>
          <p:cNvPr id="7" name="Rectangle 6"/>
          <p:cNvSpPr/>
          <p:nvPr/>
        </p:nvSpPr>
        <p:spPr>
          <a:xfrm>
            <a:off x="5653825" y="1076804"/>
            <a:ext cx="6323527" cy="5594452"/>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7787465"/>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2952" y="340658"/>
            <a:ext cx="11887201" cy="1323439"/>
          </a:xfrm>
          <a:prstGeom prst="rect">
            <a:avLst/>
          </a:prstGeom>
          <a:noFill/>
        </p:spPr>
        <p:txBody>
          <a:bodyPr wrap="square" rtlCol="0">
            <a:spAutoFit/>
          </a:bodyPr>
          <a:lstStyle/>
          <a:p>
            <a:pPr algn="ctr"/>
            <a:r>
              <a:rPr lang="en-US" sz="4000" b="1" dirty="0">
                <a:latin typeface="Times New Roman" pitchFamily="18" charset="0"/>
                <a:cs typeface="Times New Roman" pitchFamily="18" charset="0"/>
              </a:rPr>
              <a:t>Android Activity </a:t>
            </a:r>
            <a:r>
              <a:rPr lang="en-US" sz="4000" b="1" dirty="0" smtClean="0">
                <a:latin typeface="Times New Roman" pitchFamily="18" charset="0"/>
                <a:cs typeface="Times New Roman" pitchFamily="18" charset="0"/>
              </a:rPr>
              <a:t>Lifecycle Example</a:t>
            </a:r>
            <a:r>
              <a:rPr lang="en-US" sz="4000" dirty="0">
                <a:latin typeface="Times New Roman" pitchFamily="18" charset="0"/>
                <a:cs typeface="Times New Roman" pitchFamily="18" charset="0"/>
              </a:rPr>
              <a:t/>
            </a:r>
            <a:br>
              <a:rPr lang="en-US" sz="4000" dirty="0">
                <a:latin typeface="Times New Roman" pitchFamily="18" charset="0"/>
                <a:cs typeface="Times New Roman" pitchFamily="18" charset="0"/>
              </a:rPr>
            </a:br>
            <a:endParaRPr lang="en-US" sz="4000" dirty="0">
              <a:solidFill>
                <a:srgbClr val="00B0F0"/>
              </a:solidFill>
              <a:latin typeface="Times New Roman" pitchFamily="18" charset="0"/>
              <a:cs typeface="Times New Roman" pitchFamily="18" charset="0"/>
            </a:endParaRPr>
          </a:p>
        </p:txBody>
      </p:sp>
      <p:sp>
        <p:nvSpPr>
          <p:cNvPr id="3" name="TextBox 2"/>
          <p:cNvSpPr txBox="1"/>
          <p:nvPr/>
        </p:nvSpPr>
        <p:spPr>
          <a:xfrm>
            <a:off x="152400" y="1030995"/>
            <a:ext cx="11887200" cy="5509200"/>
          </a:xfrm>
          <a:prstGeom prst="rect">
            <a:avLst/>
          </a:prstGeom>
          <a:noFill/>
        </p:spPr>
        <p:txBody>
          <a:bodyPr wrap="square" rtlCol="0">
            <a:spAutoFit/>
          </a:bodyPr>
          <a:lstStyle/>
          <a:p>
            <a:r>
              <a:rPr lang="nn-NO" sz="2200" dirty="0" smtClean="0">
                <a:latin typeface="Calibri" pitchFamily="34" charset="0"/>
                <a:cs typeface="Calibri" pitchFamily="34" charset="0"/>
              </a:rPr>
              <a:t>1. File</a:t>
            </a:r>
            <a:r>
              <a:rPr lang="nn-NO" sz="2200" dirty="0">
                <a:latin typeface="Calibri" pitchFamily="34" charset="0"/>
                <a:cs typeface="Calibri" pitchFamily="34" charset="0"/>
              </a:rPr>
              <a:t>: activity_main.xml</a:t>
            </a:r>
          </a:p>
          <a:p>
            <a:r>
              <a:rPr lang="nn-NO" sz="2200" b="1" dirty="0">
                <a:latin typeface="Calibri" pitchFamily="34" charset="0"/>
                <a:cs typeface="Calibri" pitchFamily="34" charset="0"/>
              </a:rPr>
              <a:t>&lt;?</a:t>
            </a:r>
            <a:r>
              <a:rPr lang="nn-NO" sz="2200" dirty="0">
                <a:latin typeface="Calibri" pitchFamily="34" charset="0"/>
                <a:cs typeface="Calibri" pitchFamily="34" charset="0"/>
              </a:rPr>
              <a:t>xml version="1.0" encoding="utf-8"</a:t>
            </a:r>
            <a:r>
              <a:rPr lang="nn-NO" sz="2200" b="1" dirty="0">
                <a:latin typeface="Calibri" pitchFamily="34" charset="0"/>
                <a:cs typeface="Calibri" pitchFamily="34" charset="0"/>
              </a:rPr>
              <a:t>?&gt;</a:t>
            </a:r>
            <a:r>
              <a:rPr lang="nn-NO" sz="2200" dirty="0">
                <a:latin typeface="Calibri" pitchFamily="34" charset="0"/>
                <a:cs typeface="Calibri" pitchFamily="34" charset="0"/>
              </a:rPr>
              <a:t>  </a:t>
            </a:r>
          </a:p>
          <a:p>
            <a:r>
              <a:rPr lang="nn-NO" sz="2200" b="1" dirty="0" smtClean="0">
                <a:latin typeface="Calibri" pitchFamily="34" charset="0"/>
                <a:cs typeface="Calibri" pitchFamily="34" charset="0"/>
              </a:rPr>
              <a:t>&lt;</a:t>
            </a:r>
            <a:r>
              <a:rPr lang="nn-NO" sz="2200" dirty="0" smtClean="0">
                <a:latin typeface="Calibri" pitchFamily="34" charset="0"/>
                <a:cs typeface="Calibri" pitchFamily="34" charset="0"/>
              </a:rPr>
              <a:t>LinearLayout xmlns:android</a:t>
            </a:r>
            <a:r>
              <a:rPr lang="nn-NO" sz="2200" dirty="0">
                <a:latin typeface="Calibri" pitchFamily="34" charset="0"/>
                <a:cs typeface="Calibri" pitchFamily="34" charset="0"/>
              </a:rPr>
              <a:t>="http://schemas.android.com/apk/res/android"  </a:t>
            </a:r>
          </a:p>
          <a:p>
            <a:r>
              <a:rPr lang="nn-NO" sz="2200" dirty="0">
                <a:latin typeface="Calibri" pitchFamily="34" charset="0"/>
                <a:cs typeface="Calibri" pitchFamily="34" charset="0"/>
              </a:rPr>
              <a:t>    xmlns:app="http://schemas.android.com/apk/res-auto"  </a:t>
            </a:r>
          </a:p>
          <a:p>
            <a:r>
              <a:rPr lang="nn-NO" sz="2200" dirty="0">
                <a:latin typeface="Calibri" pitchFamily="34" charset="0"/>
                <a:cs typeface="Calibri" pitchFamily="34" charset="0"/>
              </a:rPr>
              <a:t>    xmlns:tools="http://schemas.android.com/tools"  </a:t>
            </a:r>
          </a:p>
          <a:p>
            <a:r>
              <a:rPr lang="nn-NO" sz="2200" dirty="0">
                <a:latin typeface="Calibri" pitchFamily="34" charset="0"/>
                <a:cs typeface="Calibri" pitchFamily="34" charset="0"/>
              </a:rPr>
              <a:t>    android:layout_width="match_parent"  </a:t>
            </a:r>
          </a:p>
          <a:p>
            <a:r>
              <a:rPr lang="nn-NO" sz="2200" dirty="0">
                <a:latin typeface="Calibri" pitchFamily="34" charset="0"/>
                <a:cs typeface="Calibri" pitchFamily="34" charset="0"/>
              </a:rPr>
              <a:t>    android:layout_height="match_parent"  </a:t>
            </a:r>
            <a:endParaRPr lang="nn-NO" sz="2200" dirty="0" smtClean="0">
              <a:latin typeface="Calibri" pitchFamily="34" charset="0"/>
              <a:cs typeface="Calibri" pitchFamily="34" charset="0"/>
            </a:endParaRPr>
          </a:p>
          <a:p>
            <a:r>
              <a:rPr lang="nn-NO" sz="2200" dirty="0">
                <a:latin typeface="Calibri" pitchFamily="34" charset="0"/>
                <a:cs typeface="Calibri" pitchFamily="34" charset="0"/>
              </a:rPr>
              <a:t>    </a:t>
            </a:r>
            <a:r>
              <a:rPr lang="nn-NO" sz="2200" dirty="0" smtClean="0">
                <a:latin typeface="Calibri" pitchFamily="34" charset="0"/>
                <a:cs typeface="Calibri" pitchFamily="34" charset="0"/>
              </a:rPr>
              <a:t>android:orientation=" vertical"</a:t>
            </a:r>
            <a:r>
              <a:rPr lang="nn-NO" sz="2200" dirty="0">
                <a:latin typeface="Calibri" pitchFamily="34" charset="0"/>
                <a:cs typeface="Calibri" pitchFamily="34" charset="0"/>
              </a:rPr>
              <a:t>  </a:t>
            </a:r>
          </a:p>
          <a:p>
            <a:r>
              <a:rPr lang="nn-NO" sz="2200" dirty="0">
                <a:latin typeface="Calibri" pitchFamily="34" charset="0"/>
                <a:cs typeface="Calibri" pitchFamily="34" charset="0"/>
              </a:rPr>
              <a:t>    tools:context="example.javatpoint.com.activitylifecycle.MainActivity"</a:t>
            </a:r>
            <a:r>
              <a:rPr lang="nn-NO" sz="2200" b="1" dirty="0">
                <a:latin typeface="Calibri" pitchFamily="34" charset="0"/>
                <a:cs typeface="Calibri" pitchFamily="34" charset="0"/>
              </a:rPr>
              <a:t>&gt;</a:t>
            </a:r>
            <a:r>
              <a:rPr lang="nn-NO" sz="2200" dirty="0">
                <a:latin typeface="Calibri" pitchFamily="34" charset="0"/>
                <a:cs typeface="Calibri" pitchFamily="34" charset="0"/>
              </a:rPr>
              <a:t>  </a:t>
            </a:r>
          </a:p>
          <a:p>
            <a:r>
              <a:rPr lang="nn-NO" sz="2200" dirty="0">
                <a:latin typeface="Calibri" pitchFamily="34" charset="0"/>
                <a:cs typeface="Calibri" pitchFamily="34" charset="0"/>
              </a:rPr>
              <a:t>  </a:t>
            </a:r>
          </a:p>
          <a:p>
            <a:r>
              <a:rPr lang="nn-NO" sz="2200" dirty="0">
                <a:latin typeface="Calibri" pitchFamily="34" charset="0"/>
                <a:cs typeface="Calibri" pitchFamily="34" charset="0"/>
              </a:rPr>
              <a:t>    </a:t>
            </a:r>
            <a:r>
              <a:rPr lang="nn-NO" sz="2200" b="1" dirty="0">
                <a:latin typeface="Calibri" pitchFamily="34" charset="0"/>
                <a:cs typeface="Calibri" pitchFamily="34" charset="0"/>
              </a:rPr>
              <a:t>&lt;</a:t>
            </a:r>
            <a:r>
              <a:rPr lang="nn-NO" sz="2200" dirty="0">
                <a:latin typeface="Calibri" pitchFamily="34" charset="0"/>
                <a:cs typeface="Calibri" pitchFamily="34" charset="0"/>
              </a:rPr>
              <a:t>TextView  </a:t>
            </a:r>
          </a:p>
          <a:p>
            <a:r>
              <a:rPr lang="nn-NO" sz="2200" dirty="0">
                <a:latin typeface="Calibri" pitchFamily="34" charset="0"/>
                <a:cs typeface="Calibri" pitchFamily="34" charset="0"/>
              </a:rPr>
              <a:t>        android:layout_width="wrap_content"  </a:t>
            </a:r>
          </a:p>
          <a:p>
            <a:r>
              <a:rPr lang="nn-NO" sz="2200" dirty="0">
                <a:latin typeface="Calibri" pitchFamily="34" charset="0"/>
                <a:cs typeface="Calibri" pitchFamily="34" charset="0"/>
              </a:rPr>
              <a:t>        android:layout_height="wrap_content"  </a:t>
            </a:r>
          </a:p>
          <a:p>
            <a:r>
              <a:rPr lang="nn-NO" sz="2200" dirty="0">
                <a:latin typeface="Calibri" pitchFamily="34" charset="0"/>
                <a:cs typeface="Calibri" pitchFamily="34" charset="0"/>
              </a:rPr>
              <a:t>        android:text="Hello World!" </a:t>
            </a:r>
            <a:r>
              <a:rPr lang="nn-NO" sz="2200" b="1" dirty="0" smtClean="0">
                <a:latin typeface="Calibri" pitchFamily="34" charset="0"/>
                <a:cs typeface="Calibri" pitchFamily="34" charset="0"/>
              </a:rPr>
              <a:t>/&gt;</a:t>
            </a:r>
            <a:r>
              <a:rPr lang="nn-NO" sz="2200" dirty="0">
                <a:latin typeface="Calibri" pitchFamily="34" charset="0"/>
                <a:cs typeface="Calibri" pitchFamily="34" charset="0"/>
              </a:rPr>
              <a:t>  </a:t>
            </a:r>
          </a:p>
          <a:p>
            <a:r>
              <a:rPr lang="nn-NO" sz="2200" dirty="0">
                <a:latin typeface="Calibri" pitchFamily="34" charset="0"/>
                <a:cs typeface="Calibri" pitchFamily="34" charset="0"/>
              </a:rPr>
              <a:t>  </a:t>
            </a:r>
          </a:p>
          <a:p>
            <a:r>
              <a:rPr lang="nn-NO" sz="2200" b="1" dirty="0" smtClean="0">
                <a:latin typeface="Calibri" pitchFamily="34" charset="0"/>
                <a:cs typeface="Calibri" pitchFamily="34" charset="0"/>
              </a:rPr>
              <a:t>&lt;/</a:t>
            </a:r>
            <a:r>
              <a:rPr lang="nn-NO" sz="2200" dirty="0" smtClean="0">
                <a:latin typeface="Calibri" pitchFamily="34" charset="0"/>
                <a:cs typeface="Calibri" pitchFamily="34" charset="0"/>
              </a:rPr>
              <a:t>LinearLayout</a:t>
            </a:r>
            <a:r>
              <a:rPr lang="nn-NO" sz="2200" b="1" dirty="0" smtClean="0">
                <a:latin typeface="Calibri" pitchFamily="34" charset="0"/>
                <a:cs typeface="Calibri" pitchFamily="34" charset="0"/>
              </a:rPr>
              <a:t>&gt;</a:t>
            </a:r>
            <a:r>
              <a:rPr lang="nn-NO" sz="2200" dirty="0">
                <a:latin typeface="Calibri" pitchFamily="34" charset="0"/>
                <a:cs typeface="Calibri" pitchFamily="34" charset="0"/>
              </a:rPr>
              <a:t>  </a:t>
            </a:r>
          </a:p>
        </p:txBody>
      </p:sp>
      <p:sp>
        <p:nvSpPr>
          <p:cNvPr id="5" name="Rectangle 4"/>
          <p:cNvSpPr/>
          <p:nvPr/>
        </p:nvSpPr>
        <p:spPr>
          <a:xfrm>
            <a:off x="10666484" y="55490"/>
            <a:ext cx="1493669" cy="946888"/>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arn(inVertic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arn(inVertic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arn(inVertic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arn(inVertic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arn(inVertical)">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barn(inVertical)">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barn(inVertical)">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barn(inVertical)">
                                      <p:cBhvr>
                                        <p:cTn id="77" dur="5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barn(inVertical)">
                                      <p:cBhvr>
                                        <p:cTn id="82"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2952" y="340658"/>
            <a:ext cx="11887201" cy="1938992"/>
          </a:xfrm>
          <a:prstGeom prst="rect">
            <a:avLst/>
          </a:prstGeom>
          <a:noFill/>
        </p:spPr>
        <p:txBody>
          <a:bodyPr wrap="square" rtlCol="0">
            <a:spAutoFit/>
          </a:bodyPr>
          <a:lstStyle/>
          <a:p>
            <a:pPr algn="ctr"/>
            <a:r>
              <a:rPr lang="en-US" sz="4000" dirty="0">
                <a:latin typeface="Times New Roman" pitchFamily="18" charset="0"/>
                <a:cs typeface="Times New Roman" pitchFamily="18" charset="0"/>
              </a:rPr>
              <a:t>Android Activity Lifecycle Example</a:t>
            </a:r>
          </a:p>
          <a:p>
            <a:pPr algn="ctr"/>
            <a:r>
              <a:rPr lang="en-US" sz="4000" dirty="0">
                <a:latin typeface="Times New Roman" pitchFamily="18" charset="0"/>
                <a:cs typeface="Times New Roman" pitchFamily="18" charset="0"/>
              </a:rPr>
              <a:t/>
            </a:r>
            <a:br>
              <a:rPr lang="en-US" sz="4000" dirty="0">
                <a:latin typeface="Times New Roman" pitchFamily="18" charset="0"/>
                <a:cs typeface="Times New Roman" pitchFamily="18" charset="0"/>
              </a:rPr>
            </a:br>
            <a:endParaRPr lang="en-US" sz="4000" dirty="0">
              <a:solidFill>
                <a:srgbClr val="00B0F0"/>
              </a:solidFill>
              <a:latin typeface="Times New Roman" pitchFamily="18" charset="0"/>
              <a:cs typeface="Times New Roman" pitchFamily="18" charset="0"/>
            </a:endParaRPr>
          </a:p>
        </p:txBody>
      </p:sp>
      <p:sp>
        <p:nvSpPr>
          <p:cNvPr id="3" name="TextBox 2"/>
          <p:cNvSpPr txBox="1"/>
          <p:nvPr/>
        </p:nvSpPr>
        <p:spPr>
          <a:xfrm>
            <a:off x="152400" y="1030995"/>
            <a:ext cx="11887200" cy="5509200"/>
          </a:xfrm>
          <a:prstGeom prst="rect">
            <a:avLst/>
          </a:prstGeom>
          <a:noFill/>
        </p:spPr>
        <p:txBody>
          <a:bodyPr wrap="square" rtlCol="0">
            <a:spAutoFit/>
          </a:bodyPr>
          <a:lstStyle/>
          <a:p>
            <a:r>
              <a:rPr lang="nn-NO" sz="2200" dirty="0">
                <a:latin typeface="Calibri" pitchFamily="34" charset="0"/>
                <a:cs typeface="Calibri" pitchFamily="34" charset="0"/>
              </a:rPr>
              <a:t>File: MainActivity.java</a:t>
            </a:r>
          </a:p>
          <a:p>
            <a:r>
              <a:rPr lang="nn-NO" sz="2200" b="1" dirty="0">
                <a:latin typeface="Calibri" pitchFamily="34" charset="0"/>
                <a:cs typeface="Calibri" pitchFamily="34" charset="0"/>
              </a:rPr>
              <a:t>package</a:t>
            </a:r>
            <a:r>
              <a:rPr lang="nn-NO" sz="2200" dirty="0">
                <a:latin typeface="Calibri" pitchFamily="34" charset="0"/>
                <a:cs typeface="Calibri" pitchFamily="34" charset="0"/>
              </a:rPr>
              <a:t> example.javatpoint.com.activitylifecycle;  </a:t>
            </a:r>
          </a:p>
          <a:p>
            <a:r>
              <a:rPr lang="nn-NO" sz="2200" dirty="0">
                <a:latin typeface="Calibri" pitchFamily="34" charset="0"/>
                <a:cs typeface="Calibri" pitchFamily="34" charset="0"/>
              </a:rPr>
              <a:t>  </a:t>
            </a:r>
          </a:p>
          <a:p>
            <a:r>
              <a:rPr lang="nn-NO" sz="2200" b="1" dirty="0">
                <a:latin typeface="Calibri" pitchFamily="34" charset="0"/>
                <a:cs typeface="Calibri" pitchFamily="34" charset="0"/>
              </a:rPr>
              <a:t>import</a:t>
            </a:r>
            <a:r>
              <a:rPr lang="nn-NO" sz="2200" dirty="0">
                <a:latin typeface="Calibri" pitchFamily="34" charset="0"/>
                <a:cs typeface="Calibri" pitchFamily="34" charset="0"/>
              </a:rPr>
              <a:t> android.app.Activity;  </a:t>
            </a:r>
          </a:p>
          <a:p>
            <a:r>
              <a:rPr lang="nn-NO" sz="2200" b="1" dirty="0">
                <a:latin typeface="Calibri" pitchFamily="34" charset="0"/>
                <a:cs typeface="Calibri" pitchFamily="34" charset="0"/>
              </a:rPr>
              <a:t>import</a:t>
            </a:r>
            <a:r>
              <a:rPr lang="nn-NO" sz="2200" dirty="0">
                <a:latin typeface="Calibri" pitchFamily="34" charset="0"/>
                <a:cs typeface="Calibri" pitchFamily="34" charset="0"/>
              </a:rPr>
              <a:t> android.os.Bundle;  </a:t>
            </a:r>
          </a:p>
          <a:p>
            <a:r>
              <a:rPr lang="nn-NO" sz="2200" b="1" dirty="0">
                <a:latin typeface="Calibri" pitchFamily="34" charset="0"/>
                <a:cs typeface="Calibri" pitchFamily="34" charset="0"/>
              </a:rPr>
              <a:t>import</a:t>
            </a:r>
            <a:r>
              <a:rPr lang="nn-NO" sz="2200" dirty="0">
                <a:latin typeface="Calibri" pitchFamily="34" charset="0"/>
                <a:cs typeface="Calibri" pitchFamily="34" charset="0"/>
              </a:rPr>
              <a:t> android.util.Log;  </a:t>
            </a:r>
          </a:p>
          <a:p>
            <a:r>
              <a:rPr lang="nn-NO" sz="2200" dirty="0">
                <a:latin typeface="Calibri" pitchFamily="34" charset="0"/>
                <a:cs typeface="Calibri" pitchFamily="34" charset="0"/>
              </a:rPr>
              <a:t>  </a:t>
            </a:r>
          </a:p>
          <a:p>
            <a:r>
              <a:rPr lang="nn-NO" sz="2200" b="1" dirty="0">
                <a:latin typeface="Calibri" pitchFamily="34" charset="0"/>
                <a:cs typeface="Calibri" pitchFamily="34" charset="0"/>
              </a:rPr>
              <a:t>public</a:t>
            </a:r>
            <a:r>
              <a:rPr lang="nn-NO" sz="2200" dirty="0">
                <a:latin typeface="Calibri" pitchFamily="34" charset="0"/>
                <a:cs typeface="Calibri" pitchFamily="34" charset="0"/>
              </a:rPr>
              <a:t> </a:t>
            </a:r>
            <a:r>
              <a:rPr lang="nn-NO" sz="2200" b="1" dirty="0">
                <a:latin typeface="Calibri" pitchFamily="34" charset="0"/>
                <a:cs typeface="Calibri" pitchFamily="34" charset="0"/>
              </a:rPr>
              <a:t>class</a:t>
            </a:r>
            <a:r>
              <a:rPr lang="nn-NO" sz="2200" dirty="0">
                <a:latin typeface="Calibri" pitchFamily="34" charset="0"/>
                <a:cs typeface="Calibri" pitchFamily="34" charset="0"/>
              </a:rPr>
              <a:t> MainActivity </a:t>
            </a:r>
            <a:r>
              <a:rPr lang="nn-NO" sz="2200" b="1" dirty="0">
                <a:latin typeface="Calibri" pitchFamily="34" charset="0"/>
                <a:cs typeface="Calibri" pitchFamily="34" charset="0"/>
              </a:rPr>
              <a:t>extends</a:t>
            </a:r>
            <a:r>
              <a:rPr lang="nn-NO" sz="2200" dirty="0">
                <a:latin typeface="Calibri" pitchFamily="34" charset="0"/>
                <a:cs typeface="Calibri" pitchFamily="34" charset="0"/>
              </a:rPr>
              <a:t> Activity {  </a:t>
            </a:r>
          </a:p>
          <a:p>
            <a:r>
              <a:rPr lang="nn-NO" sz="2200" dirty="0">
                <a:latin typeface="Calibri" pitchFamily="34" charset="0"/>
                <a:cs typeface="Calibri" pitchFamily="34" charset="0"/>
              </a:rPr>
              <a:t>  </a:t>
            </a:r>
          </a:p>
          <a:p>
            <a:r>
              <a:rPr lang="nn-NO" sz="2200" dirty="0">
                <a:latin typeface="Calibri" pitchFamily="34" charset="0"/>
                <a:cs typeface="Calibri" pitchFamily="34" charset="0"/>
              </a:rPr>
              <a:t>    @Override  </a:t>
            </a:r>
          </a:p>
          <a:p>
            <a:r>
              <a:rPr lang="nn-NO" sz="2200" dirty="0">
                <a:latin typeface="Calibri" pitchFamily="34" charset="0"/>
                <a:cs typeface="Calibri" pitchFamily="34" charset="0"/>
              </a:rPr>
              <a:t>    </a:t>
            </a:r>
            <a:r>
              <a:rPr lang="nn-NO" sz="2200" b="1" dirty="0">
                <a:latin typeface="Calibri" pitchFamily="34" charset="0"/>
                <a:cs typeface="Calibri" pitchFamily="34" charset="0"/>
              </a:rPr>
              <a:t>protected</a:t>
            </a:r>
            <a:r>
              <a:rPr lang="nn-NO" sz="2200" dirty="0">
                <a:latin typeface="Calibri" pitchFamily="34" charset="0"/>
                <a:cs typeface="Calibri" pitchFamily="34" charset="0"/>
              </a:rPr>
              <a:t> </a:t>
            </a:r>
            <a:r>
              <a:rPr lang="nn-NO" sz="2200" b="1" dirty="0">
                <a:latin typeface="Calibri" pitchFamily="34" charset="0"/>
                <a:cs typeface="Calibri" pitchFamily="34" charset="0"/>
              </a:rPr>
              <a:t>void</a:t>
            </a:r>
            <a:r>
              <a:rPr lang="nn-NO" sz="2200" dirty="0">
                <a:latin typeface="Calibri" pitchFamily="34" charset="0"/>
                <a:cs typeface="Calibri" pitchFamily="34" charset="0"/>
              </a:rPr>
              <a:t> onCreate(Bundle savedInstanceState) {  </a:t>
            </a:r>
          </a:p>
          <a:p>
            <a:r>
              <a:rPr lang="nn-NO" sz="2200" dirty="0">
                <a:latin typeface="Calibri" pitchFamily="34" charset="0"/>
                <a:cs typeface="Calibri" pitchFamily="34" charset="0"/>
              </a:rPr>
              <a:t>        </a:t>
            </a:r>
            <a:r>
              <a:rPr lang="nn-NO" sz="2200" b="1" dirty="0">
                <a:latin typeface="Calibri" pitchFamily="34" charset="0"/>
                <a:cs typeface="Calibri" pitchFamily="34" charset="0"/>
              </a:rPr>
              <a:t>super</a:t>
            </a:r>
            <a:r>
              <a:rPr lang="nn-NO" sz="2200" dirty="0">
                <a:latin typeface="Calibri" pitchFamily="34" charset="0"/>
                <a:cs typeface="Calibri" pitchFamily="34" charset="0"/>
              </a:rPr>
              <a:t>.onCreate(savedInstanceState);  </a:t>
            </a:r>
          </a:p>
          <a:p>
            <a:r>
              <a:rPr lang="nn-NO" sz="2200" dirty="0">
                <a:latin typeface="Calibri" pitchFamily="34" charset="0"/>
                <a:cs typeface="Calibri" pitchFamily="34" charset="0"/>
              </a:rPr>
              <a:t>        setContentView(R.layout.activity_main);  </a:t>
            </a:r>
          </a:p>
          <a:p>
            <a:r>
              <a:rPr lang="nn-NO" sz="2200" dirty="0">
                <a:latin typeface="Calibri" pitchFamily="34" charset="0"/>
                <a:cs typeface="Calibri" pitchFamily="34" charset="0"/>
              </a:rPr>
              <a:t>        Log.d("lifecycle","onCreate invoked");  </a:t>
            </a:r>
          </a:p>
          <a:p>
            <a:r>
              <a:rPr lang="nn-NO" sz="2200" dirty="0">
                <a:latin typeface="Calibri" pitchFamily="34" charset="0"/>
                <a:cs typeface="Calibri" pitchFamily="34" charset="0"/>
              </a:rPr>
              <a:t>    }  </a:t>
            </a:r>
          </a:p>
          <a:p>
            <a:endParaRPr lang="nn-NO" sz="2200" dirty="0">
              <a:latin typeface="Calibri" pitchFamily="34" charset="0"/>
              <a:cs typeface="Calibri" pitchFamily="34" charset="0"/>
            </a:endParaRPr>
          </a:p>
        </p:txBody>
      </p:sp>
      <p:sp>
        <p:nvSpPr>
          <p:cNvPr id="5" name="Rectangle 4"/>
          <p:cNvSpPr/>
          <p:nvPr/>
        </p:nvSpPr>
        <p:spPr>
          <a:xfrm>
            <a:off x="10666484" y="55490"/>
            <a:ext cx="1493669" cy="946888"/>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Tree>
    <p:extLst>
      <p:ext uri="{BB962C8B-B14F-4D97-AF65-F5344CB8AC3E}">
        <p14:creationId xmlns:p14="http://schemas.microsoft.com/office/powerpoint/2010/main" val="206439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arn(inVertic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arn(inVertic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arn(inVertic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arn(inVertic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arn(inVertical)">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barn(inVertical)">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barn(inVertical)">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barn(inVertical)">
                                      <p:cBhvr>
                                        <p:cTn id="7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2952" y="340658"/>
            <a:ext cx="11887201" cy="1938992"/>
          </a:xfrm>
          <a:prstGeom prst="rect">
            <a:avLst/>
          </a:prstGeom>
          <a:noFill/>
        </p:spPr>
        <p:txBody>
          <a:bodyPr wrap="square" rtlCol="0">
            <a:spAutoFit/>
          </a:bodyPr>
          <a:lstStyle/>
          <a:p>
            <a:pPr algn="ctr"/>
            <a:r>
              <a:rPr lang="en-US" sz="4000" dirty="0">
                <a:latin typeface="Times New Roman" pitchFamily="18" charset="0"/>
                <a:cs typeface="Times New Roman" pitchFamily="18" charset="0"/>
              </a:rPr>
              <a:t>Android Activity Lifecycle Example</a:t>
            </a:r>
          </a:p>
          <a:p>
            <a:pPr algn="ctr"/>
            <a:r>
              <a:rPr lang="en-US" sz="4000" dirty="0">
                <a:latin typeface="Times New Roman" pitchFamily="18" charset="0"/>
                <a:cs typeface="Times New Roman" pitchFamily="18" charset="0"/>
              </a:rPr>
              <a:t/>
            </a:r>
            <a:br>
              <a:rPr lang="en-US" sz="4000" dirty="0">
                <a:latin typeface="Times New Roman" pitchFamily="18" charset="0"/>
                <a:cs typeface="Times New Roman" pitchFamily="18" charset="0"/>
              </a:rPr>
            </a:br>
            <a:endParaRPr lang="en-US" sz="4000" dirty="0">
              <a:solidFill>
                <a:srgbClr val="00B0F0"/>
              </a:solidFill>
              <a:latin typeface="Times New Roman" pitchFamily="18" charset="0"/>
              <a:cs typeface="Times New Roman" pitchFamily="18" charset="0"/>
            </a:endParaRPr>
          </a:p>
        </p:txBody>
      </p:sp>
      <p:sp>
        <p:nvSpPr>
          <p:cNvPr id="3" name="TextBox 2"/>
          <p:cNvSpPr txBox="1"/>
          <p:nvPr/>
        </p:nvSpPr>
        <p:spPr>
          <a:xfrm>
            <a:off x="152400" y="876448"/>
            <a:ext cx="11887200" cy="400110"/>
          </a:xfrm>
          <a:prstGeom prst="rect">
            <a:avLst/>
          </a:prstGeom>
          <a:noFill/>
        </p:spPr>
        <p:txBody>
          <a:bodyPr wrap="square" rtlCol="0">
            <a:spAutoFit/>
          </a:bodyPr>
          <a:lstStyle/>
          <a:p>
            <a:endParaRPr lang="en-US" sz="2000" dirty="0">
              <a:latin typeface="Calibri" pitchFamily="34" charset="0"/>
              <a:cs typeface="Calibri" pitchFamily="34" charset="0"/>
            </a:endParaRPr>
          </a:p>
        </p:txBody>
      </p:sp>
      <p:sp>
        <p:nvSpPr>
          <p:cNvPr id="5" name="Rectangle 4"/>
          <p:cNvSpPr/>
          <p:nvPr/>
        </p:nvSpPr>
        <p:spPr>
          <a:xfrm>
            <a:off x="10666484" y="55490"/>
            <a:ext cx="1493669" cy="946888"/>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 name="Rectangle 3"/>
          <p:cNvSpPr/>
          <p:nvPr/>
        </p:nvSpPr>
        <p:spPr>
          <a:xfrm>
            <a:off x="5624124" y="1216056"/>
            <a:ext cx="4662152" cy="21271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	</a:t>
            </a:r>
          </a:p>
          <a:p>
            <a:pPr algn="ctr"/>
            <a:r>
              <a:rPr lang="en-US" sz="2400" b="1" dirty="0" err="1" smtClean="0"/>
              <a:t>OnPause</a:t>
            </a:r>
            <a:endParaRPr lang="en-US" sz="2400" b="1" dirty="0"/>
          </a:p>
          <a:p>
            <a:r>
              <a:rPr lang="en-US" dirty="0" smtClean="0"/>
              <a:t>	</a:t>
            </a:r>
            <a:r>
              <a:rPr lang="en-US" dirty="0"/>
              <a:t> @Override  </a:t>
            </a:r>
          </a:p>
          <a:p>
            <a:r>
              <a:rPr lang="en-US" dirty="0"/>
              <a:t>    </a:t>
            </a:r>
            <a:r>
              <a:rPr lang="en-US" b="1" dirty="0"/>
              <a:t>protected</a:t>
            </a:r>
            <a:r>
              <a:rPr lang="en-US" dirty="0"/>
              <a:t> </a:t>
            </a:r>
            <a:r>
              <a:rPr lang="en-US" b="1" dirty="0"/>
              <a:t>void</a:t>
            </a:r>
            <a:r>
              <a:rPr lang="en-US" dirty="0"/>
              <a:t> </a:t>
            </a:r>
            <a:r>
              <a:rPr lang="en-US" dirty="0" err="1"/>
              <a:t>onPause</a:t>
            </a:r>
            <a:r>
              <a:rPr lang="en-US" dirty="0"/>
              <a:t>() {  </a:t>
            </a:r>
          </a:p>
          <a:p>
            <a:r>
              <a:rPr lang="en-US" dirty="0"/>
              <a:t>        </a:t>
            </a:r>
            <a:r>
              <a:rPr lang="en-US" b="1" dirty="0" err="1"/>
              <a:t>super</a:t>
            </a:r>
            <a:r>
              <a:rPr lang="en-US" dirty="0" err="1"/>
              <a:t>.onPause</a:t>
            </a:r>
            <a:r>
              <a:rPr lang="en-US" dirty="0"/>
              <a:t>();  </a:t>
            </a:r>
          </a:p>
          <a:p>
            <a:r>
              <a:rPr lang="en-US" dirty="0"/>
              <a:t>        </a:t>
            </a:r>
            <a:r>
              <a:rPr lang="en-US" dirty="0" err="1"/>
              <a:t>Log.d</a:t>
            </a:r>
            <a:r>
              <a:rPr lang="en-US" dirty="0"/>
              <a:t>("lifecycle","</a:t>
            </a:r>
            <a:r>
              <a:rPr lang="en-US" dirty="0" err="1"/>
              <a:t>onPause</a:t>
            </a:r>
            <a:r>
              <a:rPr lang="en-US" dirty="0"/>
              <a:t> invoked");  </a:t>
            </a:r>
          </a:p>
          <a:p>
            <a:r>
              <a:rPr lang="en-US" dirty="0"/>
              <a:t>    }  </a:t>
            </a:r>
          </a:p>
          <a:p>
            <a:pPr algn="ctr"/>
            <a:endParaRPr lang="en-US" dirty="0"/>
          </a:p>
        </p:txBody>
      </p:sp>
      <p:sp>
        <p:nvSpPr>
          <p:cNvPr id="6" name="Rectangle 5"/>
          <p:cNvSpPr/>
          <p:nvPr/>
        </p:nvSpPr>
        <p:spPr>
          <a:xfrm>
            <a:off x="425352" y="1154779"/>
            <a:ext cx="4662152" cy="21271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	</a:t>
            </a:r>
          </a:p>
          <a:p>
            <a:pPr algn="ctr"/>
            <a:r>
              <a:rPr lang="en-US" sz="2400" b="1" dirty="0" err="1" smtClean="0"/>
              <a:t>OnStart</a:t>
            </a:r>
            <a:endParaRPr lang="en-US" sz="2400" b="1" dirty="0"/>
          </a:p>
          <a:p>
            <a:r>
              <a:rPr lang="en-US" dirty="0" smtClean="0"/>
              <a:t>	@</a:t>
            </a:r>
            <a:r>
              <a:rPr lang="en-US" dirty="0"/>
              <a:t>Override  </a:t>
            </a:r>
          </a:p>
          <a:p>
            <a:r>
              <a:rPr lang="en-US" dirty="0"/>
              <a:t>    </a:t>
            </a:r>
            <a:r>
              <a:rPr lang="en-US" b="1" dirty="0"/>
              <a:t>protected</a:t>
            </a:r>
            <a:r>
              <a:rPr lang="en-US" dirty="0"/>
              <a:t> </a:t>
            </a:r>
            <a:r>
              <a:rPr lang="en-US" b="1" dirty="0"/>
              <a:t>void</a:t>
            </a:r>
            <a:r>
              <a:rPr lang="en-US" dirty="0"/>
              <a:t> </a:t>
            </a:r>
            <a:r>
              <a:rPr lang="en-US" dirty="0" err="1"/>
              <a:t>onStart</a:t>
            </a:r>
            <a:r>
              <a:rPr lang="en-US" dirty="0"/>
              <a:t>() {  </a:t>
            </a:r>
          </a:p>
          <a:p>
            <a:r>
              <a:rPr lang="en-US" dirty="0"/>
              <a:t>        </a:t>
            </a:r>
            <a:r>
              <a:rPr lang="en-US" b="1" dirty="0" err="1"/>
              <a:t>super</a:t>
            </a:r>
            <a:r>
              <a:rPr lang="en-US" dirty="0" err="1"/>
              <a:t>.onStart</a:t>
            </a:r>
            <a:r>
              <a:rPr lang="en-US" dirty="0"/>
              <a:t>();  </a:t>
            </a:r>
          </a:p>
          <a:p>
            <a:r>
              <a:rPr lang="en-US" dirty="0"/>
              <a:t>        </a:t>
            </a:r>
            <a:r>
              <a:rPr lang="en-US" dirty="0" err="1"/>
              <a:t>Log.d</a:t>
            </a:r>
            <a:r>
              <a:rPr lang="en-US" dirty="0"/>
              <a:t>("lifecycle","</a:t>
            </a:r>
            <a:r>
              <a:rPr lang="en-US" dirty="0" err="1"/>
              <a:t>onStart</a:t>
            </a:r>
            <a:r>
              <a:rPr lang="en-US" dirty="0"/>
              <a:t> invoked");  </a:t>
            </a:r>
          </a:p>
          <a:p>
            <a:r>
              <a:rPr lang="en-US" dirty="0"/>
              <a:t>    }  </a:t>
            </a:r>
          </a:p>
          <a:p>
            <a:pPr algn="ctr"/>
            <a:endParaRPr lang="en-US" dirty="0"/>
          </a:p>
        </p:txBody>
      </p:sp>
      <p:sp>
        <p:nvSpPr>
          <p:cNvPr id="7" name="Rectangle 6"/>
          <p:cNvSpPr/>
          <p:nvPr/>
        </p:nvSpPr>
        <p:spPr>
          <a:xfrm>
            <a:off x="577752" y="3730554"/>
            <a:ext cx="4662152" cy="21271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	</a:t>
            </a:r>
          </a:p>
          <a:p>
            <a:pPr algn="ctr"/>
            <a:r>
              <a:rPr lang="en-US" sz="2400" b="1" dirty="0" err="1" smtClean="0"/>
              <a:t>OnResume</a:t>
            </a:r>
            <a:endParaRPr lang="en-US" sz="2400" b="1" dirty="0"/>
          </a:p>
          <a:p>
            <a:r>
              <a:rPr lang="en-US" dirty="0" smtClean="0"/>
              <a:t>	</a:t>
            </a:r>
            <a:r>
              <a:rPr lang="en-US" dirty="0"/>
              <a:t> @Override  </a:t>
            </a:r>
          </a:p>
          <a:p>
            <a:r>
              <a:rPr lang="en-US" dirty="0"/>
              <a:t>    </a:t>
            </a:r>
            <a:r>
              <a:rPr lang="en-US" b="1" dirty="0"/>
              <a:t>protected</a:t>
            </a:r>
            <a:r>
              <a:rPr lang="en-US" dirty="0"/>
              <a:t> </a:t>
            </a:r>
            <a:r>
              <a:rPr lang="en-US" b="1" dirty="0"/>
              <a:t>void</a:t>
            </a:r>
            <a:r>
              <a:rPr lang="en-US" dirty="0"/>
              <a:t> </a:t>
            </a:r>
            <a:r>
              <a:rPr lang="en-US" dirty="0" err="1"/>
              <a:t>onResume</a:t>
            </a:r>
            <a:r>
              <a:rPr lang="en-US" dirty="0"/>
              <a:t>() {  </a:t>
            </a:r>
          </a:p>
          <a:p>
            <a:r>
              <a:rPr lang="en-US" dirty="0"/>
              <a:t>        </a:t>
            </a:r>
            <a:r>
              <a:rPr lang="en-US" b="1" dirty="0" err="1"/>
              <a:t>super</a:t>
            </a:r>
            <a:r>
              <a:rPr lang="en-US" dirty="0" err="1"/>
              <a:t>.onResume</a:t>
            </a:r>
            <a:r>
              <a:rPr lang="en-US" dirty="0"/>
              <a:t>();  </a:t>
            </a:r>
          </a:p>
          <a:p>
            <a:r>
              <a:rPr lang="en-US" dirty="0"/>
              <a:t>        </a:t>
            </a:r>
            <a:r>
              <a:rPr lang="en-US" dirty="0" err="1"/>
              <a:t>Log.d</a:t>
            </a:r>
            <a:r>
              <a:rPr lang="en-US" dirty="0"/>
              <a:t>("lifecycle","</a:t>
            </a:r>
            <a:r>
              <a:rPr lang="en-US" dirty="0" err="1"/>
              <a:t>onResume</a:t>
            </a:r>
            <a:r>
              <a:rPr lang="en-US" dirty="0"/>
              <a:t> invoked");  </a:t>
            </a:r>
          </a:p>
          <a:p>
            <a:r>
              <a:rPr lang="en-US" dirty="0"/>
              <a:t>    }  </a:t>
            </a:r>
          </a:p>
          <a:p>
            <a:pPr algn="ctr"/>
            <a:endParaRPr lang="en-US" dirty="0"/>
          </a:p>
        </p:txBody>
      </p:sp>
      <p:sp>
        <p:nvSpPr>
          <p:cNvPr id="8" name="Rectangle 7"/>
          <p:cNvSpPr/>
          <p:nvPr/>
        </p:nvSpPr>
        <p:spPr>
          <a:xfrm>
            <a:off x="5624124" y="3730554"/>
            <a:ext cx="4662152" cy="21271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	</a:t>
            </a:r>
          </a:p>
          <a:p>
            <a:pPr algn="ctr"/>
            <a:r>
              <a:rPr lang="en-US" sz="2400" b="1" dirty="0" err="1" smtClean="0"/>
              <a:t>OnStop</a:t>
            </a:r>
            <a:endParaRPr lang="en-US" sz="2400" b="1" dirty="0"/>
          </a:p>
          <a:p>
            <a:r>
              <a:rPr lang="en-US" dirty="0" smtClean="0"/>
              <a:t>	</a:t>
            </a:r>
            <a:r>
              <a:rPr lang="en-US" dirty="0"/>
              <a:t> @Override  </a:t>
            </a:r>
          </a:p>
          <a:p>
            <a:r>
              <a:rPr lang="en-US" dirty="0"/>
              <a:t>    </a:t>
            </a:r>
            <a:r>
              <a:rPr lang="en-US" b="1" dirty="0"/>
              <a:t>protected</a:t>
            </a:r>
            <a:r>
              <a:rPr lang="en-US" dirty="0"/>
              <a:t> </a:t>
            </a:r>
            <a:r>
              <a:rPr lang="en-US" b="1" dirty="0"/>
              <a:t>void</a:t>
            </a:r>
            <a:r>
              <a:rPr lang="en-US" dirty="0"/>
              <a:t> </a:t>
            </a:r>
            <a:r>
              <a:rPr lang="en-US" dirty="0" err="1"/>
              <a:t>onStop</a:t>
            </a:r>
            <a:r>
              <a:rPr lang="en-US" dirty="0"/>
              <a:t>() {  </a:t>
            </a:r>
          </a:p>
          <a:p>
            <a:r>
              <a:rPr lang="en-US" dirty="0"/>
              <a:t>        </a:t>
            </a:r>
            <a:r>
              <a:rPr lang="en-US" b="1" dirty="0" err="1"/>
              <a:t>super</a:t>
            </a:r>
            <a:r>
              <a:rPr lang="en-US" dirty="0" err="1"/>
              <a:t>.onStop</a:t>
            </a:r>
            <a:r>
              <a:rPr lang="en-US" dirty="0"/>
              <a:t>();  </a:t>
            </a:r>
          </a:p>
          <a:p>
            <a:r>
              <a:rPr lang="en-US" dirty="0"/>
              <a:t>        </a:t>
            </a:r>
            <a:r>
              <a:rPr lang="en-US" dirty="0" err="1"/>
              <a:t>Log.d</a:t>
            </a:r>
            <a:r>
              <a:rPr lang="en-US" dirty="0"/>
              <a:t>("lifecycle","</a:t>
            </a:r>
            <a:r>
              <a:rPr lang="en-US" dirty="0" err="1"/>
              <a:t>onStop</a:t>
            </a:r>
            <a:r>
              <a:rPr lang="en-US" dirty="0"/>
              <a:t> invoked");  </a:t>
            </a:r>
          </a:p>
          <a:p>
            <a:r>
              <a:rPr lang="en-US" dirty="0"/>
              <a:t>    }  </a:t>
            </a:r>
          </a:p>
          <a:p>
            <a:pPr algn="ctr"/>
            <a:endParaRPr lang="en-US" dirty="0"/>
          </a:p>
        </p:txBody>
      </p:sp>
    </p:spTree>
    <p:extLst>
      <p:ext uri="{BB962C8B-B14F-4D97-AF65-F5344CB8AC3E}">
        <p14:creationId xmlns:p14="http://schemas.microsoft.com/office/powerpoint/2010/main" val="4028441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000"/>
                                        <p:tgtEl>
                                          <p:spTgt spid="8"/>
                                        </p:tgtEl>
                                      </p:cBhvr>
                                    </p:animEffect>
                                    <p:anim calcmode="lin" valueType="num">
                                      <p:cBhvr>
                                        <p:cTn id="34" dur="1000" fill="hold"/>
                                        <p:tgtEl>
                                          <p:spTgt spid="8"/>
                                        </p:tgtEl>
                                        <p:attrNameLst>
                                          <p:attrName>ppt_x</p:attrName>
                                        </p:attrNameLst>
                                      </p:cBhvr>
                                      <p:tavLst>
                                        <p:tav tm="0">
                                          <p:val>
                                            <p:strVal val="#ppt_x"/>
                                          </p:val>
                                        </p:tav>
                                        <p:tav tm="100000">
                                          <p:val>
                                            <p:strVal val="#ppt_x"/>
                                          </p:val>
                                        </p:tav>
                                      </p:tavLst>
                                    </p:anim>
                                    <p:anim calcmode="lin" valueType="num">
                                      <p:cBhvr>
                                        <p:cTn id="3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2952" y="340658"/>
            <a:ext cx="11887201" cy="1938992"/>
          </a:xfrm>
          <a:prstGeom prst="rect">
            <a:avLst/>
          </a:prstGeom>
          <a:noFill/>
        </p:spPr>
        <p:txBody>
          <a:bodyPr wrap="square" rtlCol="0">
            <a:spAutoFit/>
          </a:bodyPr>
          <a:lstStyle/>
          <a:p>
            <a:pPr algn="ctr"/>
            <a:r>
              <a:rPr lang="en-US" sz="4000" dirty="0">
                <a:latin typeface="Times New Roman" pitchFamily="18" charset="0"/>
                <a:cs typeface="Times New Roman" pitchFamily="18" charset="0"/>
              </a:rPr>
              <a:t>Android Activity Lifecycle Example</a:t>
            </a:r>
          </a:p>
          <a:p>
            <a:pPr algn="ctr"/>
            <a:r>
              <a:rPr lang="en-US" sz="4000" dirty="0">
                <a:latin typeface="Times New Roman" pitchFamily="18" charset="0"/>
                <a:cs typeface="Times New Roman" pitchFamily="18" charset="0"/>
              </a:rPr>
              <a:t/>
            </a:r>
            <a:br>
              <a:rPr lang="en-US" sz="4000" dirty="0">
                <a:latin typeface="Times New Roman" pitchFamily="18" charset="0"/>
                <a:cs typeface="Times New Roman" pitchFamily="18" charset="0"/>
              </a:rPr>
            </a:br>
            <a:endParaRPr lang="en-US" sz="4000" dirty="0">
              <a:solidFill>
                <a:srgbClr val="00B0F0"/>
              </a:solidFill>
              <a:latin typeface="Times New Roman" pitchFamily="18" charset="0"/>
              <a:cs typeface="Times New Roman" pitchFamily="18" charset="0"/>
            </a:endParaRPr>
          </a:p>
        </p:txBody>
      </p:sp>
      <p:sp>
        <p:nvSpPr>
          <p:cNvPr id="3" name="TextBox 2"/>
          <p:cNvSpPr txBox="1"/>
          <p:nvPr/>
        </p:nvSpPr>
        <p:spPr>
          <a:xfrm>
            <a:off x="152400" y="876448"/>
            <a:ext cx="11887200" cy="400110"/>
          </a:xfrm>
          <a:prstGeom prst="rect">
            <a:avLst/>
          </a:prstGeom>
          <a:noFill/>
        </p:spPr>
        <p:txBody>
          <a:bodyPr wrap="square" rtlCol="0">
            <a:spAutoFit/>
          </a:bodyPr>
          <a:lstStyle/>
          <a:p>
            <a:endParaRPr lang="en-US" sz="2000" dirty="0">
              <a:latin typeface="Calibri" pitchFamily="34" charset="0"/>
              <a:cs typeface="Calibri" pitchFamily="34" charset="0"/>
            </a:endParaRPr>
          </a:p>
        </p:txBody>
      </p:sp>
      <p:sp>
        <p:nvSpPr>
          <p:cNvPr id="5" name="Rectangle 4"/>
          <p:cNvSpPr/>
          <p:nvPr/>
        </p:nvSpPr>
        <p:spPr>
          <a:xfrm>
            <a:off x="10666484" y="55490"/>
            <a:ext cx="1493669" cy="946888"/>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 name="Rectangle 3"/>
          <p:cNvSpPr/>
          <p:nvPr/>
        </p:nvSpPr>
        <p:spPr>
          <a:xfrm>
            <a:off x="6092056" y="1216055"/>
            <a:ext cx="4662152" cy="32786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	</a:t>
            </a:r>
          </a:p>
          <a:p>
            <a:pPr algn="ctr"/>
            <a:r>
              <a:rPr lang="en-US" sz="2400" b="1" dirty="0" err="1" smtClean="0"/>
              <a:t>OnDestroy</a:t>
            </a:r>
            <a:endParaRPr lang="en-US" sz="2400" b="1" dirty="0"/>
          </a:p>
          <a:p>
            <a:r>
              <a:rPr lang="en-US" dirty="0" smtClean="0"/>
              <a:t>	</a:t>
            </a:r>
          </a:p>
          <a:p>
            <a:r>
              <a:rPr lang="en-US" dirty="0"/>
              <a:t>@Override  </a:t>
            </a:r>
          </a:p>
          <a:p>
            <a:r>
              <a:rPr lang="en-US" dirty="0"/>
              <a:t>    </a:t>
            </a:r>
            <a:r>
              <a:rPr lang="en-US" b="1" dirty="0"/>
              <a:t>protected</a:t>
            </a:r>
            <a:r>
              <a:rPr lang="en-US" dirty="0"/>
              <a:t> </a:t>
            </a:r>
            <a:r>
              <a:rPr lang="en-US" b="1" dirty="0"/>
              <a:t>void</a:t>
            </a:r>
            <a:r>
              <a:rPr lang="en-US" dirty="0"/>
              <a:t> </a:t>
            </a:r>
            <a:r>
              <a:rPr lang="en-US" dirty="0" err="1"/>
              <a:t>onDestroy</a:t>
            </a:r>
            <a:r>
              <a:rPr lang="en-US" dirty="0"/>
              <a:t>() {  </a:t>
            </a:r>
          </a:p>
          <a:p>
            <a:r>
              <a:rPr lang="en-US" dirty="0"/>
              <a:t>        </a:t>
            </a:r>
            <a:r>
              <a:rPr lang="en-US" b="1" dirty="0" err="1"/>
              <a:t>super</a:t>
            </a:r>
            <a:r>
              <a:rPr lang="en-US" dirty="0" err="1"/>
              <a:t>.onDestroy</a:t>
            </a:r>
            <a:r>
              <a:rPr lang="en-US" dirty="0"/>
              <a:t>();  </a:t>
            </a:r>
          </a:p>
          <a:p>
            <a:r>
              <a:rPr lang="en-US" dirty="0"/>
              <a:t>        </a:t>
            </a:r>
            <a:r>
              <a:rPr lang="en-US" dirty="0" err="1"/>
              <a:t>Log.d</a:t>
            </a:r>
            <a:r>
              <a:rPr lang="en-US" dirty="0"/>
              <a:t>("lifecycle","</a:t>
            </a:r>
            <a:r>
              <a:rPr lang="en-US" dirty="0" err="1"/>
              <a:t>onDestroy</a:t>
            </a:r>
            <a:r>
              <a:rPr lang="en-US" dirty="0"/>
              <a:t> invoked");  </a:t>
            </a:r>
          </a:p>
          <a:p>
            <a:r>
              <a:rPr lang="en-US" dirty="0"/>
              <a:t>    }  </a:t>
            </a:r>
          </a:p>
          <a:p>
            <a:r>
              <a:rPr lang="en-US" dirty="0"/>
              <a:t>}  </a:t>
            </a:r>
          </a:p>
          <a:p>
            <a:pPr algn="ctr"/>
            <a:endParaRPr lang="en-US" dirty="0"/>
          </a:p>
        </p:txBody>
      </p:sp>
      <p:sp>
        <p:nvSpPr>
          <p:cNvPr id="6" name="Rectangle 5"/>
          <p:cNvSpPr/>
          <p:nvPr/>
        </p:nvSpPr>
        <p:spPr>
          <a:xfrm>
            <a:off x="425352" y="1154778"/>
            <a:ext cx="4662152" cy="333994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	</a:t>
            </a:r>
          </a:p>
          <a:p>
            <a:pPr algn="ctr"/>
            <a:r>
              <a:rPr lang="en-US" sz="2400" b="1" dirty="0" err="1" smtClean="0"/>
              <a:t>OnRestart</a:t>
            </a:r>
            <a:endParaRPr lang="en-US" sz="2400" b="1" dirty="0"/>
          </a:p>
          <a:p>
            <a:r>
              <a:rPr lang="en-US" dirty="0" smtClean="0"/>
              <a:t>	</a:t>
            </a:r>
            <a:r>
              <a:rPr lang="en-US" dirty="0"/>
              <a:t> @Override  </a:t>
            </a:r>
          </a:p>
          <a:p>
            <a:r>
              <a:rPr lang="en-US" dirty="0"/>
              <a:t>    </a:t>
            </a:r>
            <a:r>
              <a:rPr lang="en-US" b="1" dirty="0"/>
              <a:t>protected</a:t>
            </a:r>
            <a:r>
              <a:rPr lang="en-US" dirty="0"/>
              <a:t> </a:t>
            </a:r>
            <a:r>
              <a:rPr lang="en-US" b="1" dirty="0"/>
              <a:t>void</a:t>
            </a:r>
            <a:r>
              <a:rPr lang="en-US" dirty="0"/>
              <a:t> </a:t>
            </a:r>
            <a:r>
              <a:rPr lang="en-US" dirty="0" err="1"/>
              <a:t>onRestart</a:t>
            </a:r>
            <a:r>
              <a:rPr lang="en-US" dirty="0"/>
              <a:t>() {  </a:t>
            </a:r>
          </a:p>
          <a:p>
            <a:r>
              <a:rPr lang="en-US" dirty="0"/>
              <a:t>        </a:t>
            </a:r>
            <a:r>
              <a:rPr lang="en-US" b="1" dirty="0" err="1"/>
              <a:t>super</a:t>
            </a:r>
            <a:r>
              <a:rPr lang="en-US" dirty="0" err="1"/>
              <a:t>.onRestart</a:t>
            </a:r>
            <a:r>
              <a:rPr lang="en-US" dirty="0"/>
              <a:t>();  </a:t>
            </a:r>
          </a:p>
          <a:p>
            <a:r>
              <a:rPr lang="en-US" dirty="0"/>
              <a:t>        </a:t>
            </a:r>
            <a:r>
              <a:rPr lang="en-US" dirty="0" err="1"/>
              <a:t>Log.d</a:t>
            </a:r>
            <a:r>
              <a:rPr lang="en-US" dirty="0"/>
              <a:t>("lifecycle","</a:t>
            </a:r>
            <a:r>
              <a:rPr lang="en-US" dirty="0" err="1"/>
              <a:t>onRestart</a:t>
            </a:r>
            <a:r>
              <a:rPr lang="en-US" dirty="0"/>
              <a:t> invoked");  </a:t>
            </a:r>
          </a:p>
          <a:p>
            <a:r>
              <a:rPr lang="en-US" dirty="0"/>
              <a:t>    }  </a:t>
            </a:r>
          </a:p>
          <a:p>
            <a:pPr algn="ctr"/>
            <a:endParaRPr lang="en-US" dirty="0"/>
          </a:p>
        </p:txBody>
      </p:sp>
    </p:spTree>
    <p:extLst>
      <p:ext uri="{BB962C8B-B14F-4D97-AF65-F5344CB8AC3E}">
        <p14:creationId xmlns:p14="http://schemas.microsoft.com/office/powerpoint/2010/main" val="264959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7230" y="313899"/>
            <a:ext cx="10795379" cy="4339650"/>
          </a:xfrm>
          <a:prstGeom prst="rect">
            <a:avLst/>
          </a:prstGeom>
          <a:noFill/>
        </p:spPr>
        <p:txBody>
          <a:bodyPr wrap="square" rtlCol="0">
            <a:spAutoFit/>
          </a:bodyPr>
          <a:lstStyle/>
          <a:p>
            <a:pPr algn="ctr"/>
            <a:endParaRPr lang="en-US" sz="13800" dirty="0">
              <a:latin typeface="Calibri" panose="020F0502020204030204" pitchFamily="34" charset="0"/>
              <a:cs typeface="Calibri" panose="020F0502020204030204" pitchFamily="34" charset="0"/>
            </a:endParaRPr>
          </a:p>
          <a:p>
            <a:pPr algn="ctr"/>
            <a:r>
              <a:rPr lang="en-US" sz="13800" dirty="0">
                <a:effectLst>
                  <a:outerShdw blurRad="50800" dist="38100" dir="2700000" algn="tl" rotWithShape="0">
                    <a:prstClr val="black">
                      <a:alpha val="40000"/>
                    </a:prstClr>
                  </a:outerShdw>
                </a:effectLst>
                <a:latin typeface="Algerian" panose="04020705040A02060702" pitchFamily="82" charset="0"/>
                <a:cs typeface="Calibri" panose="020F0502020204030204" pitchFamily="34" charset="0"/>
              </a:rP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atch">
  <a:themeElements>
    <a:clrScheme name="Thatch">
      <a:dk1>
        <a:sysClr val="windowText" lastClr="000000"/>
      </a:dk1>
      <a:lt1>
        <a:sysClr val="window" lastClr="FFFFFF"/>
      </a:lt1>
      <a:dk2>
        <a:srgbClr val="1D3641"/>
      </a:dk2>
      <a:lt2>
        <a:srgbClr val="DFE6D0"/>
      </a:lt2>
      <a:accent1>
        <a:srgbClr val="759AA5"/>
      </a:accent1>
      <a:accent2>
        <a:srgbClr val="CFC60D"/>
      </a:accent2>
      <a:accent3>
        <a:srgbClr val="99987F"/>
      </a:accent3>
      <a:accent4>
        <a:srgbClr val="90AC97"/>
      </a:accent4>
      <a:accent5>
        <a:srgbClr val="FFAD1C"/>
      </a:accent5>
      <a:accent6>
        <a:srgbClr val="B9AB6F"/>
      </a:accent6>
      <a:hlink>
        <a:srgbClr val="66AACD"/>
      </a:hlink>
      <a:folHlink>
        <a:srgbClr val="809DB3"/>
      </a:folHlink>
    </a:clrScheme>
    <a:fontScheme name="Median">
      <a:majorFont>
        <a:latin typeface="Tw Cen MT"/>
        <a:ea typeface=""/>
        <a:cs typeface=""/>
        <a:font script="Grek" typeface="Calibri"/>
        <a:font script="Cyrl" typeface="Calibri"/>
        <a:font script="Jpan" typeface="HG創英角ｺﾞｼｯｸUB"/>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創英角ｺﾞｼｯｸUB"/>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hatch">
      <a:fillStyleLst>
        <a:solidFill>
          <a:schemeClr val="phClr"/>
        </a:solidFill>
        <a:gradFill rotWithShape="1">
          <a:gsLst>
            <a:gs pos="0">
              <a:schemeClr val="phClr">
                <a:tint val="79000"/>
                <a:satMod val="180000"/>
              </a:schemeClr>
            </a:gs>
            <a:gs pos="65000">
              <a:schemeClr val="phClr">
                <a:tint val="52000"/>
                <a:satMod val="250000"/>
              </a:schemeClr>
            </a:gs>
            <a:gs pos="100000">
              <a:schemeClr val="phClr">
                <a:tint val="29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15875" cap="flat" cmpd="sng" algn="ctr">
          <a:solidFill>
            <a:schemeClr val="phClr"/>
          </a:solidFill>
          <a:prstDash val="solid"/>
        </a:ln>
        <a:ln w="38100" cap="flat" cmpd="sng" algn="ctr">
          <a:solidFill>
            <a:schemeClr val="phClr"/>
          </a:solidFill>
          <a:prstDash val="solid"/>
        </a:ln>
      </a:lnStyleLst>
      <a:effectStyleLst>
        <a:effectStyle>
          <a:effectLst>
            <a:outerShdw blurRad="63500" dist="25400" dir="5400000" rotWithShape="0">
              <a:srgbClr val="000000">
                <a:alpha val="43000"/>
              </a:srgbClr>
            </a:outerShdw>
          </a:effectLst>
        </a:effectStyle>
        <a:effectStyle>
          <a:effectLst>
            <a:outerShdw blurRad="63500" dist="25400" dir="5400000" rotWithShape="0">
              <a:srgbClr val="000000">
                <a:alpha val="43000"/>
              </a:srgbClr>
            </a:outerShdw>
          </a:effectLst>
          <a:scene3d>
            <a:camera prst="orthographicFront">
              <a:rot lat="0" lon="0" rev="0"/>
            </a:camera>
            <a:lightRig rig="brightRoom" dir="t">
              <a:rot lat="0" lon="0" rev="8700000"/>
            </a:lightRig>
          </a:scene3d>
          <a:sp3d contourW="12700" prstMaterial="dkEdge">
            <a:bevelT w="0" h="0" prst="relaxedInset"/>
            <a:contourClr>
              <a:schemeClr val="phClr">
                <a:shade val="65000"/>
                <a:satMod val="150000"/>
              </a:schemeClr>
            </a:contourClr>
          </a:sp3d>
        </a:effectStyle>
        <a:effectStyle>
          <a:effectLst>
            <a:outerShdw blurRad="63500" dist="25400" dir="5400000" rotWithShape="0">
              <a:srgbClr val="000000">
                <a:alpha val="43000"/>
              </a:srgbClr>
            </a:outerShdw>
          </a:effectLst>
          <a:scene3d>
            <a:camera prst="orthographicFront">
              <a:rot lat="0" lon="0" rev="0"/>
            </a:camera>
            <a:lightRig rig="glow" dir="t">
              <a:rot lat="0" lon="0" rev="13200000"/>
            </a:lightRig>
          </a:scene3d>
          <a:sp3d prstMaterial="dkEdge">
            <a:bevelT w="63500" h="50800" prst="relaxedInset"/>
          </a:sp3d>
        </a:effectStyle>
      </a:effectStyleLst>
      <a:bgFillStyleLst>
        <a:solidFill>
          <a:schemeClr val="phClr"/>
        </a:solidFill>
        <a:gradFill rotWithShape="1">
          <a:gsLst>
            <a:gs pos="0">
              <a:schemeClr val="phClr">
                <a:tint val="85000"/>
                <a:shade val="95000"/>
                <a:satMod val="200000"/>
              </a:schemeClr>
            </a:gs>
            <a:gs pos="53000">
              <a:schemeClr val="phClr">
                <a:shade val="60000"/>
                <a:satMod val="220000"/>
              </a:schemeClr>
            </a:gs>
            <a:gs pos="100000">
              <a:schemeClr val="phClr">
                <a:shade val="45000"/>
                <a:satMod val="220000"/>
              </a:schemeClr>
            </a:gs>
          </a:gsLst>
          <a:lin ang="16200000" scaled="0"/>
        </a:gradFill>
        <a:gradFill rotWithShape="1">
          <a:gsLst>
            <a:gs pos="0">
              <a:schemeClr val="phClr">
                <a:tint val="83000"/>
                <a:shade val="97000"/>
                <a:satMod val="230000"/>
              </a:schemeClr>
            </a:gs>
            <a:gs pos="100000">
              <a:schemeClr val="phClr">
                <a:shade val="35000"/>
                <a:satMod val="250000"/>
              </a:schemeClr>
            </a:gs>
          </a:gsLst>
          <a:path path="circle">
            <a:fillToRect l="15000" t="50000" r="85000" b="6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Thatch</Template>
  <TotalTime>101</TotalTime>
  <Words>229</Words>
  <Application>Microsoft Office PowerPoint</Application>
  <PresentationFormat>Custom</PresentationFormat>
  <Paragraphs>112</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Thatch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Naeem Khan</dc:creator>
  <cp:lastModifiedBy>Muhammad Naeem Khan</cp:lastModifiedBy>
  <cp:revision>17</cp:revision>
  <dcterms:created xsi:type="dcterms:W3CDTF">2024-11-04T05:04:00Z</dcterms:created>
  <dcterms:modified xsi:type="dcterms:W3CDTF">2024-12-03T05:38:36Z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92ED70D60F184857A85F9A485E7AD0CC_12</vt:lpwstr>
  </property>
  <property fmtid="{D5CDD505-2E9C-101B-9397-08002B2CF9AE}" pid="3" name="KSOProductBuildVer">
    <vt:lpwstr>1033-12.2.0.18911</vt:lpwstr>
  </property>
</Properties>
</file>