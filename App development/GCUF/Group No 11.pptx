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23"/>
  </p:notesMasterIdLst>
  <p:handoutMasterIdLst>
    <p:handoutMasterId r:id="rId24"/>
  </p:handoutMasterIdLst>
  <p:sldIdLst>
    <p:sldId id="256" r:id="rId2"/>
    <p:sldId id="286" r:id="rId3"/>
    <p:sldId id="288" r:id="rId4"/>
    <p:sldId id="289" r:id="rId5"/>
    <p:sldId id="259" r:id="rId6"/>
    <p:sldId id="291" r:id="rId7"/>
    <p:sldId id="292" r:id="rId8"/>
    <p:sldId id="293" r:id="rId9"/>
    <p:sldId id="258" r:id="rId10"/>
    <p:sldId id="261" r:id="rId11"/>
    <p:sldId id="262" r:id="rId12"/>
    <p:sldId id="263" r:id="rId13"/>
    <p:sldId id="264" r:id="rId14"/>
    <p:sldId id="265" r:id="rId15"/>
    <p:sldId id="266" r:id="rId16"/>
    <p:sldId id="267" r:id="rId17"/>
    <p:sldId id="268" r:id="rId18"/>
    <p:sldId id="276" r:id="rId19"/>
    <p:sldId id="280" r:id="rId20"/>
    <p:sldId id="285" r:id="rId21"/>
    <p:sldId id="287" r:id="rId22"/>
  </p:sldIdLst>
  <p:sldSz cx="9144000" cy="6858000" type="screen4x3"/>
  <p:notesSz cx="7053263"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18" autoAdjust="0"/>
    <p:restoredTop sz="86323" autoAdjust="0"/>
  </p:normalViewPr>
  <p:slideViewPr>
    <p:cSldViewPr>
      <p:cViewPr varScale="1">
        <p:scale>
          <a:sx n="59" d="100"/>
          <a:sy n="59" d="100"/>
        </p:scale>
        <p:origin x="148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5455"/>
          </a:xfrm>
          <a:prstGeom prst="rect">
            <a:avLst/>
          </a:prstGeom>
        </p:spPr>
        <p:txBody>
          <a:bodyPr vert="horz" lIns="93497" tIns="46749" rIns="93497" bIns="46749" rtlCol="0"/>
          <a:lstStyle>
            <a:lvl1pPr algn="r">
              <a:defRPr sz="1200"/>
            </a:lvl1pPr>
          </a:lstStyle>
          <a:p>
            <a:fld id="{FF10D59C-C8AE-47AA-A2C2-18276B226C7A}" type="datetimeFigureOut">
              <a:rPr lang="en-US" smtClean="0"/>
              <a:pPr/>
              <a:t>02-Dec-19</a:t>
            </a:fld>
            <a:endParaRPr lang="en-US"/>
          </a:p>
        </p:txBody>
      </p:sp>
      <p:sp>
        <p:nvSpPr>
          <p:cNvPr id="4" name="Footer Placeholder 3"/>
          <p:cNvSpPr>
            <a:spLocks noGrp="1"/>
          </p:cNvSpPr>
          <p:nvPr>
            <p:ph type="ftr" sz="quarter" idx="2"/>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29"/>
            <a:ext cx="3056414" cy="465455"/>
          </a:xfrm>
          <a:prstGeom prst="rect">
            <a:avLst/>
          </a:prstGeom>
        </p:spPr>
        <p:txBody>
          <a:bodyPr vert="horz" lIns="93497" tIns="46749" rIns="93497" bIns="46749" rtlCol="0" anchor="b"/>
          <a:lstStyle>
            <a:lvl1pPr algn="r">
              <a:defRPr sz="1200"/>
            </a:lvl1pPr>
          </a:lstStyle>
          <a:p>
            <a:fld id="{AB64BC04-B11B-45BE-9DDA-37B495861E24}"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D0556FAC-180C-4456-9D8A-0F7B3601A375}" type="datetimeFigureOut">
              <a:rPr lang="en-US" smtClean="0"/>
              <a:pPr/>
              <a:t>02-Dec-19</a:t>
            </a:fld>
            <a:endParaRPr lang="en-US"/>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72FB244D-DF7C-402E-84ED-EF709B63ADF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993D4CE-AA99-4823-A718-7B40CE2B931B}"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2FB244D-DF7C-402E-84ED-EF709B63ADF8}" type="slidenum">
              <a:rPr lang="en-US" smtClean="0"/>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2FB244D-DF7C-402E-84ED-EF709B63ADF8}" type="slidenum">
              <a:rPr lang="en-US" smtClean="0"/>
              <a:pPr/>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2FB244D-DF7C-402E-84ED-EF709B63ADF8}"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25AD684-FD76-4E72-88CD-85DADEEC41EF}" type="slidenum">
              <a:rPr lang="en-US" smtClean="0"/>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1D8BD707-D9CF-40AE-B4C6-C98DA3205C09}" type="datetimeFigureOut">
              <a:rPr lang="en-US" smtClean="0"/>
              <a:pPr/>
              <a:t>02-Dec-19</a:t>
            </a:fld>
            <a:endParaRPr lang="en-US" dirty="0"/>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pic>
        <p:nvPicPr>
          <p:cNvPr id="17" name="Picture 16" descr="android2.PNG">
            <a:extLst>
              <a:ext uri="{FF2B5EF4-FFF2-40B4-BE49-F238E27FC236}">
                <a16:creationId xmlns:a16="http://schemas.microsoft.com/office/drawing/2014/main" id="{E7BF59A5-9B29-48F4-95CB-E98E862A5292}"/>
              </a:ext>
            </a:extLst>
          </p:cNvPr>
          <p:cNvPicPr>
            <a:picLocks noChangeAspect="1"/>
          </p:cNvPicPr>
          <p:nvPr userDrawn="1"/>
        </p:nvPicPr>
        <p:blipFill>
          <a:blip r:embed="rId3"/>
          <a:stretch>
            <a:fillRect/>
          </a:stretch>
        </p:blipFill>
        <p:spPr>
          <a:xfrm>
            <a:off x="304800" y="5572125"/>
            <a:ext cx="1533525" cy="1285875"/>
          </a:xfrm>
          <a:prstGeom prst="rect">
            <a:avLst/>
          </a:prstGeom>
        </p:spPr>
      </p:pic>
    </p:spTree>
    <p:extLst>
      <p:ext uri="{BB962C8B-B14F-4D97-AF65-F5344CB8AC3E}">
        <p14:creationId xmlns:p14="http://schemas.microsoft.com/office/powerpoint/2010/main" val="1185921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7495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9555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02-Dec-19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05391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02-Dec-19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00893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02-Dec-19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32448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1D8BD707-D9CF-40AE-B4C6-C98DA3205C09}" type="datetimeFigureOut">
              <a:rPr lang="en-US" smtClean="0"/>
              <a:pPr/>
              <a:t>02-Dec-19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08687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02-Dec-19</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46097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02-Dec-19</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10428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02-Dec-19</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74366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551012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89901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56347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02-Dec-19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86244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02-Dec-19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29409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3743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02-Dec-19</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6851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1D8BD707-D9CF-40AE-B4C6-C98DA3205C09}" type="datetimeFigureOut">
              <a:rPr lang="en-US" smtClean="0"/>
              <a:pPr/>
              <a:t>02-Dec-19</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B6F15528-21DE-4FAA-801E-634DDDAF4B2B}" type="slidenum">
              <a:rPr lang="en-US" smtClean="0"/>
              <a:pPr/>
              <a:t>‹#›</a:t>
            </a:fld>
            <a:endParaRPr lang="en-US"/>
          </a:p>
        </p:txBody>
      </p:sp>
      <p:pic>
        <p:nvPicPr>
          <p:cNvPr id="27" name="Picture 26" descr="android2.PNG">
            <a:extLst>
              <a:ext uri="{FF2B5EF4-FFF2-40B4-BE49-F238E27FC236}">
                <a16:creationId xmlns:a16="http://schemas.microsoft.com/office/drawing/2014/main" id="{1536E1E9-918B-4EE6-8D93-43230C2712FF}"/>
              </a:ext>
            </a:extLst>
          </p:cNvPr>
          <p:cNvPicPr>
            <a:picLocks noChangeAspect="1"/>
          </p:cNvPicPr>
          <p:nvPr userDrawn="1"/>
        </p:nvPicPr>
        <p:blipFill>
          <a:blip r:embed="rId20"/>
          <a:stretch>
            <a:fillRect/>
          </a:stretch>
        </p:blipFill>
        <p:spPr>
          <a:xfrm>
            <a:off x="381000" y="5572125"/>
            <a:ext cx="1533525" cy="1285875"/>
          </a:xfrm>
          <a:prstGeom prst="rect">
            <a:avLst/>
          </a:prstGeom>
        </p:spPr>
      </p:pic>
    </p:spTree>
    <p:extLst>
      <p:ext uri="{BB962C8B-B14F-4D97-AF65-F5344CB8AC3E}">
        <p14:creationId xmlns:p14="http://schemas.microsoft.com/office/powerpoint/2010/main" val="1010263611"/>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Android </a:t>
            </a:r>
            <a:br>
              <a:rPr lang="en-US" dirty="0"/>
            </a:br>
            <a:r>
              <a:rPr lang="en-US" dirty="0"/>
              <a:t>User Interface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Android User Interface</a:t>
            </a:r>
          </a:p>
          <a:p>
            <a:r>
              <a:rPr lang="en-US" dirty="0"/>
              <a:t>Label</a:t>
            </a:r>
          </a:p>
          <a:p>
            <a:r>
              <a:rPr lang="en-US" dirty="0"/>
              <a:t>Button</a:t>
            </a:r>
          </a:p>
          <a:p>
            <a:r>
              <a:rPr lang="en-US" dirty="0"/>
              <a:t>Image View and Image Button</a:t>
            </a:r>
          </a:p>
          <a:p>
            <a:r>
              <a:rPr lang="en-US" dirty="0" err="1"/>
              <a:t>EditText</a:t>
            </a:r>
            <a:endParaRPr lang="en-US" dirty="0"/>
          </a:p>
          <a:p>
            <a:r>
              <a:rPr lang="en-US" dirty="0" err="1"/>
              <a:t>CheckBox</a:t>
            </a:r>
            <a:endParaRPr lang="en-US" dirty="0"/>
          </a:p>
          <a:p>
            <a:r>
              <a:rPr lang="en-US" dirty="0" err="1"/>
              <a:t>RadioButton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68F01-A1C8-40A5-B07A-3DD95FBF35DB}"/>
              </a:ext>
            </a:extLst>
          </p:cNvPr>
          <p:cNvSpPr>
            <a:spLocks noGrp="1"/>
          </p:cNvSpPr>
          <p:nvPr>
            <p:ph type="title"/>
          </p:nvPr>
        </p:nvSpPr>
        <p:spPr/>
        <p:txBody>
          <a:bodyPr/>
          <a:lstStyle/>
          <a:p>
            <a:r>
              <a:rPr lang="en-US" dirty="0"/>
              <a:t>Android User Interface</a:t>
            </a:r>
          </a:p>
        </p:txBody>
      </p:sp>
      <p:sp>
        <p:nvSpPr>
          <p:cNvPr id="3" name="Content Placeholder 2">
            <a:extLst>
              <a:ext uri="{FF2B5EF4-FFF2-40B4-BE49-F238E27FC236}">
                <a16:creationId xmlns:a16="http://schemas.microsoft.com/office/drawing/2014/main" id="{A655E36B-76E5-4213-B8E4-88BA6199636F}"/>
              </a:ext>
            </a:extLst>
          </p:cNvPr>
          <p:cNvSpPr>
            <a:spLocks noGrp="1"/>
          </p:cNvSpPr>
          <p:nvPr>
            <p:ph idx="1"/>
          </p:nvPr>
        </p:nvSpPr>
        <p:spPr/>
        <p:txBody>
          <a:bodyPr/>
          <a:lstStyle/>
          <a:p>
            <a:pPr algn="just"/>
            <a:r>
              <a:rPr lang="en-US" dirty="0"/>
              <a:t>The user interface (UI) for an Android app is built as a hierarchy of layouts and widgets. </a:t>
            </a:r>
          </a:p>
          <a:p>
            <a:pPr algn="just"/>
            <a:r>
              <a:rPr lang="en-US" dirty="0"/>
              <a:t>The layouts are </a:t>
            </a:r>
            <a:r>
              <a:rPr lang="en-US" dirty="0" err="1">
                <a:solidFill>
                  <a:schemeClr val="accent6">
                    <a:lumMod val="75000"/>
                  </a:schemeClr>
                </a:solidFill>
              </a:rPr>
              <a:t>ViewGroup</a:t>
            </a:r>
            <a:r>
              <a:rPr lang="en-US" dirty="0"/>
              <a:t> objects, containers that control how their child views are positioned on the screen. </a:t>
            </a:r>
          </a:p>
          <a:p>
            <a:pPr algn="just"/>
            <a:r>
              <a:rPr lang="en-US" dirty="0"/>
              <a:t>Widgets are </a:t>
            </a:r>
            <a:r>
              <a:rPr lang="en-US" dirty="0">
                <a:solidFill>
                  <a:schemeClr val="accent6">
                    <a:lumMod val="75000"/>
                  </a:schemeClr>
                </a:solidFill>
              </a:rPr>
              <a:t>View</a:t>
            </a:r>
            <a:r>
              <a:rPr lang="en-US" dirty="0"/>
              <a:t> objects, UI components such as buttons and text boxes.</a:t>
            </a:r>
          </a:p>
        </p:txBody>
      </p:sp>
    </p:spTree>
    <p:extLst>
      <p:ext uri="{BB962C8B-B14F-4D97-AF65-F5344CB8AC3E}">
        <p14:creationId xmlns:p14="http://schemas.microsoft.com/office/powerpoint/2010/main" val="188633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F87C-A176-415F-A374-600E417BB751}"/>
              </a:ext>
            </a:extLst>
          </p:cNvPr>
          <p:cNvSpPr>
            <a:spLocks noGrp="1"/>
          </p:cNvSpPr>
          <p:nvPr>
            <p:ph type="title"/>
          </p:nvPr>
        </p:nvSpPr>
        <p:spPr/>
        <p:txBody>
          <a:bodyPr/>
          <a:lstStyle/>
          <a:p>
            <a:r>
              <a:rPr lang="en-US" dirty="0"/>
              <a:t>Android - UI</a:t>
            </a:r>
          </a:p>
        </p:txBody>
      </p:sp>
      <p:sp>
        <p:nvSpPr>
          <p:cNvPr id="3" name="Content Placeholder 2">
            <a:extLst>
              <a:ext uri="{FF2B5EF4-FFF2-40B4-BE49-F238E27FC236}">
                <a16:creationId xmlns:a16="http://schemas.microsoft.com/office/drawing/2014/main" id="{C861A453-561F-4F22-9272-B9CBE46067C8}"/>
              </a:ext>
            </a:extLst>
          </p:cNvPr>
          <p:cNvSpPr>
            <a:spLocks noGrp="1"/>
          </p:cNvSpPr>
          <p:nvPr>
            <p:ph idx="1"/>
          </p:nvPr>
        </p:nvSpPr>
        <p:spPr>
          <a:xfrm>
            <a:off x="864382" y="2489200"/>
            <a:ext cx="7670018" cy="3530600"/>
          </a:xfrm>
        </p:spPr>
        <p:txBody>
          <a:bodyPr/>
          <a:lstStyle/>
          <a:p>
            <a:pPr algn="just"/>
            <a:r>
              <a:rPr lang="en-US" dirty="0"/>
              <a:t>The basic building block for user interface is a View object which is created from the View class and occupies a rectangular area on the screen and is responsible for drawing and event handling. View is the base class for widgets, which are used to create interactive UI components like buttons, text fields, etc.</a:t>
            </a:r>
          </a:p>
          <a:p>
            <a:pPr algn="just"/>
            <a:r>
              <a:rPr lang="en-US" dirty="0"/>
              <a:t>The </a:t>
            </a:r>
            <a:r>
              <a:rPr lang="en-US" b="1" dirty="0" err="1"/>
              <a:t>ViewGroup</a:t>
            </a:r>
            <a:r>
              <a:rPr lang="en-US" dirty="0"/>
              <a:t> is a subclass of </a:t>
            </a:r>
            <a:r>
              <a:rPr lang="en-US" b="1" dirty="0"/>
              <a:t>View</a:t>
            </a:r>
            <a:r>
              <a:rPr lang="en-US" dirty="0"/>
              <a:t> and provides invisible container that hold other Views or other </a:t>
            </a:r>
            <a:r>
              <a:rPr lang="en-US" dirty="0" err="1"/>
              <a:t>ViewGroups</a:t>
            </a:r>
            <a:r>
              <a:rPr lang="en-US" dirty="0"/>
              <a:t> and define their layout properties.</a:t>
            </a:r>
          </a:p>
          <a:p>
            <a:pPr algn="just"/>
            <a:endParaRPr lang="en-US" dirty="0"/>
          </a:p>
        </p:txBody>
      </p:sp>
    </p:spTree>
    <p:extLst>
      <p:ext uri="{BB962C8B-B14F-4D97-AF65-F5344CB8AC3E}">
        <p14:creationId xmlns:p14="http://schemas.microsoft.com/office/powerpoint/2010/main" val="144343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View Class</a:t>
            </a:r>
          </a:p>
        </p:txBody>
      </p:sp>
      <p:sp>
        <p:nvSpPr>
          <p:cNvPr id="3" name="Content Placeholder 2"/>
          <p:cNvSpPr>
            <a:spLocks noGrp="1"/>
          </p:cNvSpPr>
          <p:nvPr>
            <p:ph idx="1"/>
          </p:nvPr>
        </p:nvSpPr>
        <p:spPr/>
        <p:txBody>
          <a:bodyPr>
            <a:normAutofit/>
          </a:bodyPr>
          <a:lstStyle/>
          <a:p>
            <a:r>
              <a:rPr lang="en-US" dirty="0"/>
              <a:t>The </a:t>
            </a:r>
            <a:r>
              <a:rPr lang="en-US" b="1" dirty="0">
                <a:solidFill>
                  <a:srgbClr val="0070C0"/>
                </a:solidFill>
              </a:rPr>
              <a:t>View</a:t>
            </a:r>
            <a:r>
              <a:rPr lang="en-US" dirty="0"/>
              <a:t> class represents the basic building block for user interface components. </a:t>
            </a:r>
          </a:p>
          <a:p>
            <a:r>
              <a:rPr lang="en-US" dirty="0"/>
              <a:t>View is the base class for </a:t>
            </a:r>
            <a:r>
              <a:rPr lang="en-US" b="1" i="1" dirty="0">
                <a:solidFill>
                  <a:srgbClr val="0070C0"/>
                </a:solidFill>
              </a:rPr>
              <a:t>widgets</a:t>
            </a:r>
            <a:r>
              <a:rPr lang="en-US" i="1" dirty="0"/>
              <a:t>, which are used to create interactive UI components (buttons, text fields, etc.). </a:t>
            </a:r>
          </a:p>
          <a:p>
            <a:r>
              <a:rPr lang="en-US" dirty="0"/>
              <a:t>The </a:t>
            </a:r>
            <a:r>
              <a:rPr lang="en-US" b="1" dirty="0" err="1">
                <a:solidFill>
                  <a:srgbClr val="0070C0"/>
                </a:solidFill>
              </a:rPr>
              <a:t>ViewGroup</a:t>
            </a:r>
            <a:r>
              <a:rPr lang="en-US" dirty="0"/>
              <a:t> subclass is the base class for </a:t>
            </a:r>
            <a:r>
              <a:rPr lang="en-US" b="1" i="1" dirty="0">
                <a:solidFill>
                  <a:srgbClr val="0070C0"/>
                </a:solidFill>
              </a:rPr>
              <a:t>layouts</a:t>
            </a:r>
            <a:r>
              <a:rPr lang="en-US" i="1" dirty="0"/>
              <a:t>, which are invisible containers that hold other Views (or other </a:t>
            </a:r>
            <a:r>
              <a:rPr lang="en-US" i="1" dirty="0" err="1"/>
              <a:t>ViewGroups</a:t>
            </a:r>
            <a:r>
              <a:rPr lang="en-US" i="1" dirty="0"/>
              <a:t>) and define their layout properties.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12D5C-BCCA-46FA-9B94-B0BA7709F298}"/>
              </a:ext>
            </a:extLst>
          </p:cNvPr>
          <p:cNvSpPr>
            <a:spLocks noGrp="1"/>
          </p:cNvSpPr>
          <p:nvPr>
            <p:ph idx="1"/>
          </p:nvPr>
        </p:nvSpPr>
        <p:spPr>
          <a:xfrm>
            <a:off x="864382" y="2489200"/>
            <a:ext cx="7807178" cy="3530600"/>
          </a:xfrm>
        </p:spPr>
        <p:txBody>
          <a:bodyPr/>
          <a:lstStyle/>
          <a:p>
            <a:pPr algn="just"/>
            <a:r>
              <a:rPr lang="en-US" dirty="0"/>
              <a:t>A layout defines the visual structure for a user interface, such as the UI for an activity/fragment. You can declare a layout in two ways: </a:t>
            </a:r>
          </a:p>
          <a:p>
            <a:pPr algn="just"/>
            <a:r>
              <a:rPr lang="en-US" b="1" dirty="0"/>
              <a:t>Declare UI elements in XML </a:t>
            </a:r>
            <a:r>
              <a:rPr lang="en-US" dirty="0"/>
              <a:t>- Android provides a straight forward XML vocabulary that corresponds to the View classes and subclasses, such as those for widgets and layouts. </a:t>
            </a:r>
          </a:p>
          <a:p>
            <a:pPr algn="just"/>
            <a:r>
              <a:rPr lang="en-US" b="1" dirty="0"/>
              <a:t>Instantiate layout elements at runtime </a:t>
            </a:r>
            <a:r>
              <a:rPr lang="en-US" dirty="0"/>
              <a:t>- Your application can create View and </a:t>
            </a:r>
            <a:r>
              <a:rPr lang="en-US" dirty="0" err="1"/>
              <a:t>ViewGroup</a:t>
            </a:r>
            <a:r>
              <a:rPr lang="en-US" dirty="0"/>
              <a:t> objects (and manipulate their properties) programmatically.</a:t>
            </a:r>
          </a:p>
        </p:txBody>
      </p:sp>
      <p:sp>
        <p:nvSpPr>
          <p:cNvPr id="4" name="Title 1">
            <a:extLst>
              <a:ext uri="{FF2B5EF4-FFF2-40B4-BE49-F238E27FC236}">
                <a16:creationId xmlns:a16="http://schemas.microsoft.com/office/drawing/2014/main" id="{3290EE67-EFF2-4BDD-8DDD-F601ACEC75D2}"/>
              </a:ext>
            </a:extLst>
          </p:cNvPr>
          <p:cNvSpPr>
            <a:spLocks noGrp="1"/>
          </p:cNvSpPr>
          <p:nvPr>
            <p:ph type="title"/>
          </p:nvPr>
        </p:nvSpPr>
        <p:spPr>
          <a:xfrm>
            <a:off x="865188" y="927100"/>
            <a:ext cx="6345237" cy="709613"/>
          </a:xfrm>
        </p:spPr>
        <p:txBody>
          <a:bodyPr/>
          <a:lstStyle/>
          <a:p>
            <a:r>
              <a:rPr lang="en-US" dirty="0"/>
              <a:t>Android - UI Layouts</a:t>
            </a:r>
          </a:p>
        </p:txBody>
      </p:sp>
    </p:spTree>
    <p:extLst>
      <p:ext uri="{BB962C8B-B14F-4D97-AF65-F5344CB8AC3E}">
        <p14:creationId xmlns:p14="http://schemas.microsoft.com/office/powerpoint/2010/main" val="324273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12D5C-BCCA-46FA-9B94-B0BA7709F298}"/>
              </a:ext>
            </a:extLst>
          </p:cNvPr>
          <p:cNvSpPr>
            <a:spLocks noGrp="1"/>
          </p:cNvSpPr>
          <p:nvPr>
            <p:ph idx="1"/>
          </p:nvPr>
        </p:nvSpPr>
        <p:spPr>
          <a:xfrm>
            <a:off x="864382" y="2489200"/>
            <a:ext cx="5765018" cy="3530600"/>
          </a:xfrm>
        </p:spPr>
        <p:txBody>
          <a:bodyPr/>
          <a:lstStyle/>
          <a:p>
            <a:pPr algn="just"/>
            <a:r>
              <a:rPr lang="en-US" b="1" dirty="0" err="1"/>
              <a:t>LinearLayout</a:t>
            </a:r>
            <a:r>
              <a:rPr lang="en-US" b="1" dirty="0"/>
              <a:t>-</a:t>
            </a:r>
            <a:r>
              <a:rPr lang="en-US" dirty="0"/>
              <a:t> A layout that organizes its children into a single horizontal or vertical row. It creates a scrollbar if the length of the window exceeds the length of the screen.</a:t>
            </a:r>
          </a:p>
          <a:p>
            <a:pPr algn="just"/>
            <a:r>
              <a:rPr lang="en-US" b="1" dirty="0" err="1"/>
              <a:t>RelativeLayout</a:t>
            </a:r>
            <a:r>
              <a:rPr lang="en-US" b="1" dirty="0"/>
              <a:t>-</a:t>
            </a:r>
            <a:r>
              <a:rPr lang="en-US" dirty="0"/>
              <a:t> Enables you to specify the location of child objects relative to each other (child A to the left of child B) or to the parent (aligned to the top of the parent).</a:t>
            </a:r>
          </a:p>
          <a:p>
            <a:pPr algn="just"/>
            <a:r>
              <a:rPr lang="en-US" b="1" dirty="0"/>
              <a:t> WebView</a:t>
            </a:r>
            <a:r>
              <a:rPr lang="en-US" dirty="0"/>
              <a:t>–  To Displays web pages</a:t>
            </a:r>
          </a:p>
        </p:txBody>
      </p:sp>
      <p:sp>
        <p:nvSpPr>
          <p:cNvPr id="4" name="Title 1">
            <a:extLst>
              <a:ext uri="{FF2B5EF4-FFF2-40B4-BE49-F238E27FC236}">
                <a16:creationId xmlns:a16="http://schemas.microsoft.com/office/drawing/2014/main" id="{3290EE67-EFF2-4BDD-8DDD-F601ACEC75D2}"/>
              </a:ext>
            </a:extLst>
          </p:cNvPr>
          <p:cNvSpPr>
            <a:spLocks noGrp="1"/>
          </p:cNvSpPr>
          <p:nvPr>
            <p:ph type="title"/>
          </p:nvPr>
        </p:nvSpPr>
        <p:spPr>
          <a:xfrm>
            <a:off x="865188" y="927100"/>
            <a:ext cx="6345237" cy="709613"/>
          </a:xfrm>
        </p:spPr>
        <p:txBody>
          <a:bodyPr/>
          <a:lstStyle/>
          <a:p>
            <a:r>
              <a:rPr lang="en-US" dirty="0"/>
              <a:t>Android – Layouts Types</a:t>
            </a:r>
          </a:p>
        </p:txBody>
      </p:sp>
      <p:pic>
        <p:nvPicPr>
          <p:cNvPr id="5" name="Picture 4">
            <a:extLst>
              <a:ext uri="{FF2B5EF4-FFF2-40B4-BE49-F238E27FC236}">
                <a16:creationId xmlns:a16="http://schemas.microsoft.com/office/drawing/2014/main" id="{599485CF-433B-4C4A-9FE8-620B8FAFBDBE}"/>
              </a:ext>
            </a:extLst>
          </p:cNvPr>
          <p:cNvPicPr>
            <a:picLocks noChangeAspect="1"/>
          </p:cNvPicPr>
          <p:nvPr/>
        </p:nvPicPr>
        <p:blipFill rotWithShape="1">
          <a:blip r:embed="rId2">
            <a:extLst>
              <a:ext uri="{28A0092B-C50C-407E-A947-70E740481C1C}">
                <a14:useLocalDpi xmlns:a14="http://schemas.microsoft.com/office/drawing/2010/main" val="0"/>
              </a:ext>
            </a:extLst>
          </a:blip>
          <a:srcRect l="67555" t="16597"/>
          <a:stretch/>
        </p:blipFill>
        <p:spPr>
          <a:xfrm>
            <a:off x="6746311" y="2290763"/>
            <a:ext cx="2169089" cy="4186237"/>
          </a:xfrm>
          <a:prstGeom prst="rect">
            <a:avLst/>
          </a:prstGeom>
        </p:spPr>
      </p:pic>
    </p:spTree>
    <p:extLst>
      <p:ext uri="{BB962C8B-B14F-4D97-AF65-F5344CB8AC3E}">
        <p14:creationId xmlns:p14="http://schemas.microsoft.com/office/powerpoint/2010/main" val="676800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12D5C-BCCA-46FA-9B94-B0BA7709F298}"/>
              </a:ext>
            </a:extLst>
          </p:cNvPr>
          <p:cNvSpPr>
            <a:spLocks noGrp="1"/>
          </p:cNvSpPr>
          <p:nvPr>
            <p:ph idx="1"/>
          </p:nvPr>
        </p:nvSpPr>
        <p:spPr>
          <a:xfrm>
            <a:off x="864382" y="2489200"/>
            <a:ext cx="5765018" cy="3530600"/>
          </a:xfrm>
        </p:spPr>
        <p:txBody>
          <a:bodyPr/>
          <a:lstStyle/>
          <a:p>
            <a:pPr algn="just"/>
            <a:r>
              <a:rPr lang="en-US" b="1" dirty="0" err="1"/>
              <a:t>ListView</a:t>
            </a:r>
            <a:r>
              <a:rPr lang="en-US" b="1" dirty="0"/>
              <a:t>– </a:t>
            </a:r>
            <a:r>
              <a:rPr lang="en-US" dirty="0"/>
              <a:t>Displays a scrolling single column list </a:t>
            </a:r>
          </a:p>
          <a:p>
            <a:pPr algn="just"/>
            <a:endParaRPr lang="en-US" dirty="0"/>
          </a:p>
          <a:p>
            <a:pPr algn="just"/>
            <a:endParaRPr lang="en-US" dirty="0"/>
          </a:p>
          <a:p>
            <a:pPr marL="0" indent="0" algn="just">
              <a:buNone/>
            </a:pPr>
            <a:endParaRPr lang="en-US" dirty="0"/>
          </a:p>
          <a:p>
            <a:pPr algn="just"/>
            <a:r>
              <a:rPr lang="en-US" b="1" dirty="0" err="1"/>
              <a:t>GridView</a:t>
            </a:r>
            <a:r>
              <a:rPr lang="en-US" b="1" dirty="0"/>
              <a:t>– </a:t>
            </a:r>
            <a:r>
              <a:rPr lang="en-US" dirty="0"/>
              <a:t>Displays a scrolling grid of columns and rows</a:t>
            </a:r>
          </a:p>
        </p:txBody>
      </p:sp>
      <p:sp>
        <p:nvSpPr>
          <p:cNvPr id="4" name="Title 1">
            <a:extLst>
              <a:ext uri="{FF2B5EF4-FFF2-40B4-BE49-F238E27FC236}">
                <a16:creationId xmlns:a16="http://schemas.microsoft.com/office/drawing/2014/main" id="{3290EE67-EFF2-4BDD-8DDD-F601ACEC75D2}"/>
              </a:ext>
            </a:extLst>
          </p:cNvPr>
          <p:cNvSpPr>
            <a:spLocks noGrp="1"/>
          </p:cNvSpPr>
          <p:nvPr>
            <p:ph type="title"/>
          </p:nvPr>
        </p:nvSpPr>
        <p:spPr>
          <a:xfrm>
            <a:off x="865188" y="927100"/>
            <a:ext cx="6345237" cy="709613"/>
          </a:xfrm>
        </p:spPr>
        <p:txBody>
          <a:bodyPr/>
          <a:lstStyle/>
          <a:p>
            <a:r>
              <a:rPr lang="en-US" dirty="0"/>
              <a:t>Android – Layouts Types</a:t>
            </a:r>
          </a:p>
        </p:txBody>
      </p:sp>
      <p:pic>
        <p:nvPicPr>
          <p:cNvPr id="6" name="Picture 5">
            <a:extLst>
              <a:ext uri="{FF2B5EF4-FFF2-40B4-BE49-F238E27FC236}">
                <a16:creationId xmlns:a16="http://schemas.microsoft.com/office/drawing/2014/main" id="{9A0E842F-F656-47DF-B8FF-852E2078C6BF}"/>
              </a:ext>
            </a:extLst>
          </p:cNvPr>
          <p:cNvPicPr>
            <a:picLocks noChangeAspect="1"/>
          </p:cNvPicPr>
          <p:nvPr/>
        </p:nvPicPr>
        <p:blipFill rotWithShape="1">
          <a:blip r:embed="rId2">
            <a:extLst>
              <a:ext uri="{28A0092B-C50C-407E-A947-70E740481C1C}">
                <a14:useLocalDpi xmlns:a14="http://schemas.microsoft.com/office/drawing/2010/main" val="0"/>
              </a:ext>
            </a:extLst>
          </a:blip>
          <a:srcRect l="63793" t="18267" r="3605" b="8247"/>
          <a:stretch/>
        </p:blipFill>
        <p:spPr>
          <a:xfrm>
            <a:off x="6858000" y="2209800"/>
            <a:ext cx="1981201" cy="3352800"/>
          </a:xfrm>
          <a:prstGeom prst="rect">
            <a:avLst/>
          </a:prstGeom>
        </p:spPr>
      </p:pic>
    </p:spTree>
    <p:extLst>
      <p:ext uri="{BB962C8B-B14F-4D97-AF65-F5344CB8AC3E}">
        <p14:creationId xmlns:p14="http://schemas.microsoft.com/office/powerpoint/2010/main" val="2205028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Using @ in XML Layouts</a:t>
            </a:r>
            <a:endParaRPr lang="en-US" dirty="0"/>
          </a:p>
        </p:txBody>
      </p:sp>
      <p:pic>
        <p:nvPicPr>
          <p:cNvPr id="2050" name="Picture 2"/>
          <p:cNvPicPr>
            <a:picLocks noChangeAspect="1" noChangeArrowheads="1"/>
          </p:cNvPicPr>
          <p:nvPr/>
        </p:nvPicPr>
        <p:blipFill>
          <a:blip r:embed="rId3"/>
          <a:srcRect/>
          <a:stretch>
            <a:fillRect/>
          </a:stretch>
        </p:blipFill>
        <p:spPr bwMode="auto">
          <a:xfrm>
            <a:off x="514350" y="1809750"/>
            <a:ext cx="6419850" cy="18478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a:srcRect/>
          <a:stretch>
            <a:fillRect/>
          </a:stretch>
        </p:blipFill>
        <p:spPr bwMode="auto">
          <a:xfrm>
            <a:off x="6922770" y="1804603"/>
            <a:ext cx="2082800" cy="3124200"/>
          </a:xfrm>
          <a:prstGeom prst="rect">
            <a:avLst/>
          </a:prstGeom>
          <a:noFill/>
          <a:ln w="9525">
            <a:noFill/>
            <a:miter lim="800000"/>
            <a:headEnd/>
            <a:tailEnd/>
          </a:ln>
          <a:effectLst/>
        </p:spPr>
      </p:pic>
      <p:sp>
        <p:nvSpPr>
          <p:cNvPr id="6" name="Rectangle 5"/>
          <p:cNvSpPr/>
          <p:nvPr/>
        </p:nvSpPr>
        <p:spPr>
          <a:xfrm>
            <a:off x="533400" y="3657600"/>
            <a:ext cx="6400800" cy="1938992"/>
          </a:xfrm>
          <a:prstGeom prst="rect">
            <a:avLst/>
          </a:prstGeom>
        </p:spPr>
        <p:txBody>
          <a:bodyPr wrap="square">
            <a:spAutoFit/>
          </a:bodyPr>
          <a:lstStyle/>
          <a:p>
            <a:r>
              <a:rPr lang="en-US" sz="2000" dirty="0"/>
              <a:t>Anything you </a:t>
            </a:r>
            <a:r>
              <a:rPr lang="en-US" sz="2000" i="1" dirty="0"/>
              <a:t>do want to use in your Java source needs an</a:t>
            </a:r>
          </a:p>
          <a:p>
            <a:r>
              <a:rPr lang="en-US" sz="2000" b="1" dirty="0" err="1"/>
              <a:t>android:id</a:t>
            </a:r>
            <a:r>
              <a:rPr lang="en-US" sz="2000" b="1" dirty="0"/>
              <a:t>=“…” </a:t>
            </a:r>
            <a:endParaRPr lang="en-US" sz="2000" dirty="0"/>
          </a:p>
          <a:p>
            <a:r>
              <a:rPr lang="en-US" sz="2000" dirty="0"/>
              <a:t>The convention is to use </a:t>
            </a:r>
            <a:r>
              <a:rPr lang="en-US" sz="2000" b="1" i="1" dirty="0"/>
              <a:t>@+id/</a:t>
            </a:r>
            <a:r>
              <a:rPr lang="en-US" sz="2000" b="1" i="1" dirty="0" err="1"/>
              <a:t>nnn</a:t>
            </a:r>
            <a:r>
              <a:rPr lang="en-US" sz="2000" b="1" i="1" dirty="0"/>
              <a:t> </a:t>
            </a:r>
            <a:r>
              <a:rPr lang="en-US" sz="2000" dirty="0"/>
              <a:t>as the id value</a:t>
            </a:r>
            <a:r>
              <a:rPr lang="en-US" sz="2000" b="1" i="1" dirty="0"/>
              <a:t>, </a:t>
            </a:r>
            <a:r>
              <a:rPr lang="en-US" sz="2000" dirty="0"/>
              <a:t>where</a:t>
            </a:r>
            <a:r>
              <a:rPr lang="en-US" sz="2000" b="1" i="1" dirty="0"/>
              <a:t> the </a:t>
            </a:r>
            <a:r>
              <a:rPr lang="en-US" sz="2000" b="1" i="1" dirty="0" err="1"/>
              <a:t>nnn</a:t>
            </a:r>
            <a:r>
              <a:rPr lang="en-US" sz="2000" b="1" i="1" dirty="0"/>
              <a:t> </a:t>
            </a:r>
            <a:r>
              <a:rPr lang="en-US" sz="2000" dirty="0"/>
              <a:t>represents your locally-unique name for the widget</a:t>
            </a:r>
            <a:r>
              <a:rPr lang="en-US" sz="2000" b="1" i="1" dirty="0"/>
              <a:t> (</a:t>
            </a:r>
            <a:r>
              <a:rPr lang="en-US" sz="2000" b="1" i="1" dirty="0" err="1"/>
              <a:t>eg</a:t>
            </a:r>
            <a:r>
              <a:rPr lang="en-US" sz="2000" b="1" i="1" dirty="0"/>
              <a:t>. </a:t>
            </a:r>
            <a:r>
              <a:rPr lang="en-US" sz="2000" b="1" i="1" dirty="0">
                <a:solidFill>
                  <a:srgbClr val="0070C0"/>
                </a:solidFill>
              </a:rPr>
              <a:t>@+id/</a:t>
            </a:r>
            <a:r>
              <a:rPr lang="en-US" sz="2000" b="1" i="1" dirty="0" err="1">
                <a:solidFill>
                  <a:srgbClr val="0070C0"/>
                </a:solidFill>
              </a:rPr>
              <a:t>myButton</a:t>
            </a:r>
            <a:r>
              <a:rPr lang="en-US" sz="2000" b="1" i="1" dirty="0"/>
              <a:t>). </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Attaching Layouts to Java Code</a:t>
            </a:r>
            <a:endParaRPr lang="en-US" dirty="0"/>
          </a:p>
        </p:txBody>
      </p:sp>
      <p:sp>
        <p:nvSpPr>
          <p:cNvPr id="3" name="Content Placeholder 2"/>
          <p:cNvSpPr>
            <a:spLocks noGrp="1"/>
          </p:cNvSpPr>
          <p:nvPr>
            <p:ph idx="1"/>
          </p:nvPr>
        </p:nvSpPr>
        <p:spPr>
          <a:xfrm>
            <a:off x="864382" y="2489200"/>
            <a:ext cx="7136618" cy="3530600"/>
          </a:xfrm>
        </p:spPr>
        <p:txBody>
          <a:bodyPr>
            <a:normAutofit/>
          </a:bodyPr>
          <a:lstStyle/>
          <a:p>
            <a:r>
              <a:rPr lang="en-US" dirty="0"/>
              <a:t>Assume </a:t>
            </a:r>
            <a:r>
              <a:rPr lang="en-US" b="1" i="1" dirty="0">
                <a:solidFill>
                  <a:srgbClr val="0070C0"/>
                </a:solidFill>
              </a:rPr>
              <a:t>res/layout/main.xml</a:t>
            </a:r>
            <a:r>
              <a:rPr lang="en-US" i="1" dirty="0"/>
              <a:t> </a:t>
            </a:r>
            <a:r>
              <a:rPr lang="en-US" dirty="0"/>
              <a:t>has been created. This layout could be called by an application using the statement</a:t>
            </a:r>
          </a:p>
          <a:p>
            <a:pPr>
              <a:buNone/>
            </a:pPr>
            <a:r>
              <a:rPr lang="en-US" b="1" dirty="0"/>
              <a:t>	</a:t>
            </a:r>
            <a:r>
              <a:rPr lang="en-US" b="1" dirty="0" err="1"/>
              <a:t>setContentView</a:t>
            </a:r>
            <a:r>
              <a:rPr lang="en-US" b="1" dirty="0"/>
              <a:t>(</a:t>
            </a:r>
            <a:r>
              <a:rPr lang="en-US" b="1" dirty="0" err="1"/>
              <a:t>R.layout.</a:t>
            </a:r>
            <a:r>
              <a:rPr lang="en-US" b="1" i="1" dirty="0" err="1"/>
              <a:t>main</a:t>
            </a:r>
            <a:r>
              <a:rPr lang="en-US" b="1" i="1" dirty="0"/>
              <a:t>);</a:t>
            </a:r>
          </a:p>
          <a:p>
            <a:r>
              <a:rPr lang="en-US" dirty="0"/>
              <a:t>Individual widgets, such as </a:t>
            </a:r>
            <a:r>
              <a:rPr lang="en-US" i="1" dirty="0" err="1">
                <a:solidFill>
                  <a:srgbClr val="0070C0"/>
                </a:solidFill>
              </a:rPr>
              <a:t>myButton</a:t>
            </a:r>
            <a:r>
              <a:rPr lang="en-US" i="1" dirty="0"/>
              <a:t> </a:t>
            </a:r>
            <a:r>
              <a:rPr lang="en-US" dirty="0"/>
              <a:t>could be accessed by the application using the statement </a:t>
            </a:r>
            <a:r>
              <a:rPr lang="en-US" i="1" dirty="0" err="1">
                <a:solidFill>
                  <a:srgbClr val="0070C0"/>
                </a:solidFill>
              </a:rPr>
              <a:t>findViewByID</a:t>
            </a:r>
            <a:r>
              <a:rPr lang="en-US" i="1" dirty="0">
                <a:solidFill>
                  <a:srgbClr val="0070C0"/>
                </a:solidFill>
              </a:rPr>
              <a:t>(...) </a:t>
            </a:r>
            <a:r>
              <a:rPr lang="en-US" dirty="0"/>
              <a:t>as in </a:t>
            </a:r>
          </a:p>
          <a:p>
            <a:pPr>
              <a:buNone/>
            </a:pPr>
            <a:r>
              <a:rPr lang="en-US" b="1" dirty="0"/>
              <a:t>	Button </a:t>
            </a:r>
            <a:r>
              <a:rPr lang="en-US" b="1" dirty="0" err="1"/>
              <a:t>btn</a:t>
            </a:r>
            <a:r>
              <a:rPr lang="en-US" b="1" dirty="0"/>
              <a:t>= (Button) </a:t>
            </a:r>
            <a:r>
              <a:rPr lang="en-US" b="1" dirty="0" err="1"/>
              <a:t>findViewById</a:t>
            </a:r>
            <a:r>
              <a:rPr lang="en-US" b="1" dirty="0"/>
              <a:t>(</a:t>
            </a:r>
            <a:r>
              <a:rPr lang="en-US" b="1" dirty="0" err="1"/>
              <a:t>R.id.</a:t>
            </a:r>
            <a:r>
              <a:rPr lang="en-US" b="1" i="1" dirty="0" err="1"/>
              <a:t>myButton</a:t>
            </a:r>
            <a:r>
              <a:rPr lang="en-US" b="1" i="1" dirty="0"/>
              <a:t>);</a:t>
            </a:r>
          </a:p>
          <a:p>
            <a:r>
              <a:rPr lang="en-US" dirty="0"/>
              <a:t>Where </a:t>
            </a:r>
            <a:r>
              <a:rPr lang="en-US" b="1" dirty="0">
                <a:solidFill>
                  <a:srgbClr val="0070C0"/>
                </a:solidFill>
              </a:rPr>
              <a:t>R</a:t>
            </a:r>
            <a:r>
              <a:rPr lang="en-US" dirty="0"/>
              <a:t> is a class automatically generated to keep track of resources available to the application. In particular </a:t>
            </a:r>
            <a:r>
              <a:rPr lang="en-US" dirty="0">
                <a:solidFill>
                  <a:srgbClr val="0070C0"/>
                </a:solidFill>
              </a:rPr>
              <a:t>R.id... </a:t>
            </a:r>
            <a:r>
              <a:rPr lang="en-US" dirty="0"/>
              <a:t>is the collection of widgets defined in the XML layout.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Attaching Layouts to Java Code</a:t>
            </a:r>
            <a:endParaRPr lang="en-US" dirty="0"/>
          </a:p>
        </p:txBody>
      </p:sp>
      <p:sp>
        <p:nvSpPr>
          <p:cNvPr id="3" name="Content Placeholder 2"/>
          <p:cNvSpPr>
            <a:spLocks noGrp="1"/>
          </p:cNvSpPr>
          <p:nvPr>
            <p:ph idx="1"/>
          </p:nvPr>
        </p:nvSpPr>
        <p:spPr/>
        <p:txBody>
          <a:bodyPr>
            <a:normAutofit/>
          </a:bodyPr>
          <a:lstStyle/>
          <a:p>
            <a:pPr>
              <a:buNone/>
            </a:pPr>
            <a:r>
              <a:rPr lang="en-US" b="1" dirty="0"/>
              <a:t>Attaching Listeners to the Widgets</a:t>
            </a:r>
          </a:p>
          <a:p>
            <a:r>
              <a:rPr lang="en-US" dirty="0"/>
              <a:t>The button of our example could now be used, for instance a listener for the click event could be written as: </a:t>
            </a:r>
          </a:p>
        </p:txBody>
      </p:sp>
      <p:pic>
        <p:nvPicPr>
          <p:cNvPr id="3074" name="Picture 2"/>
          <p:cNvPicPr>
            <a:picLocks noChangeAspect="1" noChangeArrowheads="1"/>
          </p:cNvPicPr>
          <p:nvPr/>
        </p:nvPicPr>
        <p:blipFill>
          <a:blip r:embed="rId3"/>
          <a:srcRect/>
          <a:stretch>
            <a:fillRect/>
          </a:stretch>
        </p:blipFill>
        <p:spPr bwMode="auto">
          <a:xfrm>
            <a:off x="2057400" y="4038600"/>
            <a:ext cx="5638800" cy="248508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Labels</a:t>
            </a:r>
            <a:endParaRPr lang="en-US" dirty="0"/>
          </a:p>
        </p:txBody>
      </p:sp>
      <p:sp>
        <p:nvSpPr>
          <p:cNvPr id="3" name="Content Placeholder 2"/>
          <p:cNvSpPr>
            <a:spLocks noGrp="1"/>
          </p:cNvSpPr>
          <p:nvPr>
            <p:ph idx="1"/>
          </p:nvPr>
        </p:nvSpPr>
        <p:spPr>
          <a:xfrm>
            <a:off x="457200" y="2332037"/>
            <a:ext cx="4343400" cy="4525963"/>
          </a:xfrm>
        </p:spPr>
        <p:txBody>
          <a:bodyPr>
            <a:normAutofit/>
          </a:bodyPr>
          <a:lstStyle/>
          <a:p>
            <a:r>
              <a:rPr lang="en-US" dirty="0"/>
              <a:t>A label is called in android a </a:t>
            </a:r>
            <a:r>
              <a:rPr lang="en-US" b="1" dirty="0" err="1">
                <a:solidFill>
                  <a:srgbClr val="0070C0"/>
                </a:solidFill>
              </a:rPr>
              <a:t>TextView</a:t>
            </a:r>
            <a:r>
              <a:rPr lang="en-US" b="1" dirty="0"/>
              <a:t>.</a:t>
            </a:r>
          </a:p>
          <a:p>
            <a:r>
              <a:rPr lang="en-US" dirty="0" err="1"/>
              <a:t>TextViews</a:t>
            </a:r>
            <a:r>
              <a:rPr lang="en-US" dirty="0"/>
              <a:t> are typically used to display a caption. </a:t>
            </a:r>
          </a:p>
          <a:p>
            <a:r>
              <a:rPr lang="en-US" dirty="0" err="1"/>
              <a:t>TextViews</a:t>
            </a:r>
            <a:r>
              <a:rPr lang="en-US" dirty="0"/>
              <a:t> are </a:t>
            </a:r>
            <a:r>
              <a:rPr lang="en-US" i="1" dirty="0"/>
              <a:t>not </a:t>
            </a:r>
            <a:r>
              <a:rPr lang="en-US" dirty="0"/>
              <a:t>editable, therefore they take no input.</a:t>
            </a:r>
          </a:p>
          <a:p>
            <a:endParaRPr lang="en-US" dirty="0"/>
          </a:p>
        </p:txBody>
      </p:sp>
      <p:pic>
        <p:nvPicPr>
          <p:cNvPr id="4099" name="Picture 3"/>
          <p:cNvPicPr>
            <a:picLocks noChangeAspect="1" noChangeArrowheads="1"/>
          </p:cNvPicPr>
          <p:nvPr/>
        </p:nvPicPr>
        <p:blipFill>
          <a:blip r:embed="rId3"/>
          <a:srcRect/>
          <a:stretch>
            <a:fillRect/>
          </a:stretch>
        </p:blipFill>
        <p:spPr bwMode="auto">
          <a:xfrm>
            <a:off x="5334000" y="2133600"/>
            <a:ext cx="3038475" cy="4572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Labels</a:t>
            </a:r>
            <a:endParaRPr lang="en-US" dirty="0"/>
          </a:p>
        </p:txBody>
      </p:sp>
      <p:pic>
        <p:nvPicPr>
          <p:cNvPr id="5123" name="Picture 3"/>
          <p:cNvPicPr>
            <a:picLocks noChangeAspect="1" noChangeArrowheads="1"/>
          </p:cNvPicPr>
          <p:nvPr/>
        </p:nvPicPr>
        <p:blipFill>
          <a:blip r:embed="rId3"/>
          <a:srcRect/>
          <a:stretch>
            <a:fillRect/>
          </a:stretch>
        </p:blipFill>
        <p:spPr bwMode="auto">
          <a:xfrm>
            <a:off x="1600200" y="1968500"/>
            <a:ext cx="6895890" cy="45720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Buttons</a:t>
            </a:r>
            <a:endParaRPr lang="en-US" dirty="0"/>
          </a:p>
        </p:txBody>
      </p:sp>
      <p:sp>
        <p:nvSpPr>
          <p:cNvPr id="3" name="Content Placeholder 2"/>
          <p:cNvSpPr>
            <a:spLocks noGrp="1"/>
          </p:cNvSpPr>
          <p:nvPr>
            <p:ph idx="1"/>
          </p:nvPr>
        </p:nvSpPr>
        <p:spPr>
          <a:xfrm>
            <a:off x="457200" y="2332037"/>
            <a:ext cx="8229600" cy="4525963"/>
          </a:xfrm>
        </p:spPr>
        <p:txBody>
          <a:bodyPr/>
          <a:lstStyle/>
          <a:p>
            <a:r>
              <a:rPr lang="en-US" sz="2000" dirty="0"/>
              <a:t>A </a:t>
            </a:r>
            <a:r>
              <a:rPr lang="en-US" sz="2000" b="1" dirty="0">
                <a:solidFill>
                  <a:srgbClr val="0070C0"/>
                </a:solidFill>
              </a:rPr>
              <a:t>Button</a:t>
            </a:r>
            <a:r>
              <a:rPr lang="en-US" sz="2000" dirty="0"/>
              <a:t> widget allows the simulation of a clicking action on a GUI.</a:t>
            </a:r>
          </a:p>
          <a:p>
            <a:r>
              <a:rPr lang="en-US" sz="2000" dirty="0"/>
              <a:t>Button is a subclass of </a:t>
            </a:r>
            <a:r>
              <a:rPr lang="en-US" sz="2000" dirty="0" err="1"/>
              <a:t>TextView</a:t>
            </a:r>
            <a:r>
              <a:rPr lang="en-US" sz="2000" dirty="0"/>
              <a:t>. Therefore formatting a Button’s face is similar to the setting of a </a:t>
            </a:r>
            <a:r>
              <a:rPr lang="en-US" sz="2000" dirty="0" err="1"/>
              <a:t>TextView</a:t>
            </a:r>
            <a:r>
              <a:rPr lang="en-US" sz="2000" dirty="0"/>
              <a:t>.</a:t>
            </a:r>
          </a:p>
          <a:p>
            <a:endParaRPr lang="en-US" dirty="0"/>
          </a:p>
        </p:txBody>
      </p:sp>
      <p:pic>
        <p:nvPicPr>
          <p:cNvPr id="6148" name="Picture 4"/>
          <p:cNvPicPr>
            <a:picLocks noChangeAspect="1" noChangeArrowheads="1"/>
          </p:cNvPicPr>
          <p:nvPr/>
        </p:nvPicPr>
        <p:blipFill>
          <a:blip r:embed="rId3"/>
          <a:srcRect/>
          <a:stretch>
            <a:fillRect/>
          </a:stretch>
        </p:blipFill>
        <p:spPr bwMode="auto">
          <a:xfrm>
            <a:off x="3124200" y="4038600"/>
            <a:ext cx="3276600" cy="17526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Images</a:t>
            </a:r>
            <a:endParaRPr lang="en-US" dirty="0"/>
          </a:p>
        </p:txBody>
      </p:sp>
      <p:sp>
        <p:nvSpPr>
          <p:cNvPr id="3" name="Content Placeholder 2"/>
          <p:cNvSpPr>
            <a:spLocks noGrp="1"/>
          </p:cNvSpPr>
          <p:nvPr>
            <p:ph idx="1"/>
          </p:nvPr>
        </p:nvSpPr>
        <p:spPr/>
        <p:txBody>
          <a:bodyPr>
            <a:normAutofit fontScale="92500"/>
          </a:bodyPr>
          <a:lstStyle/>
          <a:p>
            <a:r>
              <a:rPr lang="en-US" b="1" dirty="0" err="1">
                <a:solidFill>
                  <a:srgbClr val="0070C0"/>
                </a:solidFill>
              </a:rPr>
              <a:t>ImageView</a:t>
            </a:r>
            <a:r>
              <a:rPr lang="en-US" dirty="0"/>
              <a:t> and </a:t>
            </a:r>
            <a:r>
              <a:rPr lang="en-US" b="1" dirty="0" err="1">
                <a:solidFill>
                  <a:srgbClr val="0070C0"/>
                </a:solidFill>
              </a:rPr>
              <a:t>ImageButton</a:t>
            </a:r>
            <a:r>
              <a:rPr lang="en-US" dirty="0"/>
              <a:t> are two Android widgets that allow embedding of images in your applications.</a:t>
            </a:r>
          </a:p>
          <a:p>
            <a:r>
              <a:rPr lang="en-US" dirty="0"/>
              <a:t>Each widget takes an </a:t>
            </a:r>
            <a:r>
              <a:rPr lang="en-US" b="1" dirty="0" err="1">
                <a:solidFill>
                  <a:srgbClr val="0070C0"/>
                </a:solidFill>
              </a:rPr>
              <a:t>android:src</a:t>
            </a:r>
            <a:r>
              <a:rPr lang="en-US" dirty="0"/>
              <a:t> or </a:t>
            </a:r>
            <a:r>
              <a:rPr lang="en-US" b="1" dirty="0" err="1">
                <a:solidFill>
                  <a:srgbClr val="0070C0"/>
                </a:solidFill>
              </a:rPr>
              <a:t>android:background</a:t>
            </a:r>
            <a:r>
              <a:rPr lang="en-US" dirty="0"/>
              <a:t> attribute (in an XML layout) to specify what picture to use. </a:t>
            </a:r>
          </a:p>
          <a:p>
            <a:r>
              <a:rPr lang="en-US" dirty="0"/>
              <a:t>Pictures are usually reference a </a:t>
            </a:r>
            <a:r>
              <a:rPr lang="en-US" dirty="0" err="1"/>
              <a:t>drawable</a:t>
            </a:r>
            <a:r>
              <a:rPr lang="en-US" dirty="0"/>
              <a:t> resource.</a:t>
            </a:r>
          </a:p>
          <a:p>
            <a:r>
              <a:rPr lang="en-US" dirty="0"/>
              <a:t>You can also set the image content based on a URI from a content provider via </a:t>
            </a:r>
            <a:r>
              <a:rPr lang="en-US" dirty="0" err="1"/>
              <a:t>setImageURI</a:t>
            </a:r>
            <a:r>
              <a:rPr lang="en-US" dirty="0"/>
              <a:t>().</a:t>
            </a:r>
          </a:p>
          <a:p>
            <a:r>
              <a:rPr lang="en-US" b="1" dirty="0" err="1">
                <a:solidFill>
                  <a:srgbClr val="0070C0"/>
                </a:solidFill>
              </a:rPr>
              <a:t>ImageButton</a:t>
            </a:r>
            <a:r>
              <a:rPr lang="en-US" dirty="0"/>
              <a:t>, is a subclass of </a:t>
            </a:r>
            <a:r>
              <a:rPr lang="en-US" dirty="0" err="1"/>
              <a:t>ImageView</a:t>
            </a:r>
            <a:r>
              <a:rPr lang="en-US" dirty="0"/>
              <a:t>. It adds the standard Button behavior for responding to </a:t>
            </a:r>
            <a:r>
              <a:rPr lang="en-US" dirty="0" err="1"/>
              <a:t>clickevents</a:t>
            </a:r>
            <a:r>
              <a:rPr lang="en-US" dirty="0"/>
              <a:t>.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Images</a:t>
            </a:r>
            <a:endParaRPr lang="en-US" dirty="0"/>
          </a:p>
        </p:txBody>
      </p:sp>
      <p:pic>
        <p:nvPicPr>
          <p:cNvPr id="7170" name="Picture 2"/>
          <p:cNvPicPr>
            <a:picLocks noChangeAspect="1" noChangeArrowheads="1"/>
          </p:cNvPicPr>
          <p:nvPr/>
        </p:nvPicPr>
        <p:blipFill>
          <a:blip r:embed="rId3"/>
          <a:srcRect/>
          <a:stretch>
            <a:fillRect/>
          </a:stretch>
        </p:blipFill>
        <p:spPr bwMode="auto">
          <a:xfrm>
            <a:off x="1689738" y="2133600"/>
            <a:ext cx="5486400" cy="4000771"/>
          </a:xfrm>
          <a:prstGeom prst="rect">
            <a:avLst/>
          </a:prstGeom>
          <a:noFill/>
          <a:ln w="9525">
            <a:noFill/>
            <a:miter lim="800000"/>
            <a:headEnd/>
            <a:tailEnd/>
          </a:ln>
          <a:effectLst/>
        </p:spPr>
      </p:pic>
      <p:pic>
        <p:nvPicPr>
          <p:cNvPr id="7171" name="Picture 3"/>
          <p:cNvPicPr>
            <a:picLocks noChangeAspect="1" noChangeArrowheads="1"/>
          </p:cNvPicPr>
          <p:nvPr/>
        </p:nvPicPr>
        <p:blipFill>
          <a:blip r:embed="rId4"/>
          <a:srcRect/>
          <a:stretch>
            <a:fillRect/>
          </a:stretch>
        </p:blipFill>
        <p:spPr bwMode="auto">
          <a:xfrm>
            <a:off x="6002501" y="3048000"/>
            <a:ext cx="2347274" cy="177879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a:t>
            </a:r>
            <a:r>
              <a:rPr lang="en-US" b="1" dirty="0" err="1"/>
              <a:t>EditText</a:t>
            </a:r>
            <a:endParaRPr lang="en-US" dirty="0"/>
          </a:p>
        </p:txBody>
      </p:sp>
      <p:sp>
        <p:nvSpPr>
          <p:cNvPr id="3" name="Content Placeholder 2"/>
          <p:cNvSpPr>
            <a:spLocks noGrp="1"/>
          </p:cNvSpPr>
          <p:nvPr>
            <p:ph idx="1"/>
          </p:nvPr>
        </p:nvSpPr>
        <p:spPr>
          <a:xfrm>
            <a:off x="243840" y="2332037"/>
            <a:ext cx="4495800" cy="4525963"/>
          </a:xfrm>
        </p:spPr>
        <p:txBody>
          <a:bodyPr>
            <a:normAutofit/>
          </a:bodyPr>
          <a:lstStyle/>
          <a:p>
            <a:r>
              <a:rPr lang="en-US" dirty="0"/>
              <a:t>The </a:t>
            </a:r>
            <a:r>
              <a:rPr lang="en-US" b="1" dirty="0" err="1">
                <a:solidFill>
                  <a:srgbClr val="0070C0"/>
                </a:solidFill>
              </a:rPr>
              <a:t>EditText</a:t>
            </a:r>
            <a:r>
              <a:rPr lang="en-US" dirty="0"/>
              <a:t>(or </a:t>
            </a:r>
            <a:r>
              <a:rPr lang="en-US" dirty="0" err="1"/>
              <a:t>textBox</a:t>
            </a:r>
            <a:r>
              <a:rPr lang="en-US" dirty="0"/>
              <a:t>) widget is an extension of </a:t>
            </a:r>
            <a:r>
              <a:rPr lang="en-US" dirty="0" err="1"/>
              <a:t>TextView</a:t>
            </a:r>
            <a:r>
              <a:rPr lang="en-US" dirty="0"/>
              <a:t> that allows updates. </a:t>
            </a:r>
          </a:p>
          <a:p>
            <a:r>
              <a:rPr lang="en-US" dirty="0"/>
              <a:t>The control configures itself to be </a:t>
            </a:r>
            <a:r>
              <a:rPr lang="en-US" i="1" dirty="0"/>
              <a:t>editable.</a:t>
            </a:r>
          </a:p>
          <a:p>
            <a:r>
              <a:rPr lang="en-US" dirty="0"/>
              <a:t>Important Java methods are: </a:t>
            </a:r>
            <a:r>
              <a:rPr lang="en-US" dirty="0" err="1">
                <a:solidFill>
                  <a:srgbClr val="0070C0"/>
                </a:solidFill>
              </a:rPr>
              <a:t>txtBox.setText</a:t>
            </a:r>
            <a:r>
              <a:rPr lang="en-US" dirty="0">
                <a:solidFill>
                  <a:srgbClr val="0070C0"/>
                </a:solidFill>
              </a:rPr>
              <a:t>(“</a:t>
            </a:r>
            <a:r>
              <a:rPr lang="en-US" dirty="0" err="1">
                <a:solidFill>
                  <a:srgbClr val="0070C0"/>
                </a:solidFill>
              </a:rPr>
              <a:t>someValue</a:t>
            </a:r>
            <a:r>
              <a:rPr lang="en-US" dirty="0">
                <a:solidFill>
                  <a:srgbClr val="0070C0"/>
                </a:solidFill>
              </a:rPr>
              <a:t>”) </a:t>
            </a:r>
            <a:r>
              <a:rPr lang="en-US" dirty="0"/>
              <a:t>and </a:t>
            </a:r>
            <a:r>
              <a:rPr lang="en-US" dirty="0" err="1">
                <a:solidFill>
                  <a:srgbClr val="0070C0"/>
                </a:solidFill>
              </a:rPr>
              <a:t>txtBox.getText</a:t>
            </a:r>
            <a:r>
              <a:rPr lang="en-US" dirty="0">
                <a:solidFill>
                  <a:srgbClr val="0070C0"/>
                </a:solidFill>
              </a:rPr>
              <a:t>().</a:t>
            </a:r>
            <a:r>
              <a:rPr lang="en-US" dirty="0" err="1">
                <a:solidFill>
                  <a:srgbClr val="0070C0"/>
                </a:solidFill>
              </a:rPr>
              <a:t>toString</a:t>
            </a:r>
            <a:r>
              <a:rPr lang="en-US" dirty="0">
                <a:solidFill>
                  <a:srgbClr val="0070C0"/>
                </a:solidFill>
              </a:rPr>
              <a:t>()</a:t>
            </a:r>
          </a:p>
          <a:p>
            <a:endParaRPr lang="en-US" dirty="0"/>
          </a:p>
        </p:txBody>
      </p:sp>
      <p:pic>
        <p:nvPicPr>
          <p:cNvPr id="8196" name="Picture 4"/>
          <p:cNvPicPr>
            <a:picLocks noChangeAspect="1" noChangeArrowheads="1"/>
          </p:cNvPicPr>
          <p:nvPr/>
        </p:nvPicPr>
        <p:blipFill>
          <a:blip r:embed="rId3"/>
          <a:srcRect/>
          <a:stretch>
            <a:fillRect/>
          </a:stretch>
        </p:blipFill>
        <p:spPr bwMode="auto">
          <a:xfrm>
            <a:off x="5892800" y="2209800"/>
            <a:ext cx="3098800" cy="4648200"/>
          </a:xfrm>
          <a:prstGeom prst="rect">
            <a:avLst/>
          </a:prstGeom>
          <a:noFill/>
          <a:ln w="9525">
            <a:noFill/>
            <a:miter lim="800000"/>
            <a:headEnd/>
            <a:tailEnd/>
          </a:ln>
          <a:effectLst/>
        </p:spPr>
      </p:pic>
      <p:sp>
        <p:nvSpPr>
          <p:cNvPr id="8" name="Right Arrow 7"/>
          <p:cNvSpPr/>
          <p:nvPr/>
        </p:nvSpPr>
        <p:spPr>
          <a:xfrm>
            <a:off x="4739640" y="2971800"/>
            <a:ext cx="9906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a:t>
            </a:r>
            <a:r>
              <a:rPr lang="en-US" b="1" dirty="0" err="1"/>
              <a:t>CheckBox</a:t>
            </a:r>
            <a:endParaRPr lang="en-US" dirty="0"/>
          </a:p>
        </p:txBody>
      </p:sp>
      <p:sp>
        <p:nvSpPr>
          <p:cNvPr id="3" name="Content Placeholder 2"/>
          <p:cNvSpPr>
            <a:spLocks noGrp="1"/>
          </p:cNvSpPr>
          <p:nvPr>
            <p:ph idx="1"/>
          </p:nvPr>
        </p:nvSpPr>
        <p:spPr>
          <a:xfrm>
            <a:off x="381000" y="2332037"/>
            <a:ext cx="4267200" cy="4525963"/>
          </a:xfrm>
        </p:spPr>
        <p:txBody>
          <a:bodyPr>
            <a:normAutofit/>
          </a:bodyPr>
          <a:lstStyle/>
          <a:p>
            <a:r>
              <a:rPr lang="en-US" dirty="0"/>
              <a:t>A checkbox is a specific type of two-states button that can be either </a:t>
            </a:r>
            <a:r>
              <a:rPr lang="en-US" i="1" dirty="0">
                <a:solidFill>
                  <a:srgbClr val="0070C0"/>
                </a:solidFill>
              </a:rPr>
              <a:t>checked</a:t>
            </a:r>
            <a:r>
              <a:rPr lang="en-US" i="1" dirty="0"/>
              <a:t> or </a:t>
            </a:r>
            <a:r>
              <a:rPr lang="en-US" i="1" dirty="0">
                <a:solidFill>
                  <a:srgbClr val="0070C0"/>
                </a:solidFill>
              </a:rPr>
              <a:t>unchecked</a:t>
            </a:r>
            <a:r>
              <a:rPr lang="en-US" i="1" dirty="0"/>
              <a:t>. </a:t>
            </a:r>
          </a:p>
          <a:p>
            <a:r>
              <a:rPr lang="en-US" dirty="0"/>
              <a:t>An example usage of a checkbox inside your activity would be the following: </a:t>
            </a:r>
          </a:p>
        </p:txBody>
      </p:sp>
      <p:pic>
        <p:nvPicPr>
          <p:cNvPr id="15362" name="Picture 2"/>
          <p:cNvPicPr>
            <a:picLocks noChangeAspect="1" noChangeArrowheads="1"/>
          </p:cNvPicPr>
          <p:nvPr/>
        </p:nvPicPr>
        <p:blipFill>
          <a:blip r:embed="rId3"/>
          <a:srcRect/>
          <a:stretch>
            <a:fillRect/>
          </a:stretch>
        </p:blipFill>
        <p:spPr bwMode="auto">
          <a:xfrm>
            <a:off x="5807562" y="2209800"/>
            <a:ext cx="2895600" cy="43434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a:t>
            </a:r>
            <a:r>
              <a:rPr lang="en-US" b="1" dirty="0" err="1"/>
              <a:t>RadioButtons</a:t>
            </a:r>
            <a:endParaRPr lang="en-US" dirty="0"/>
          </a:p>
        </p:txBody>
      </p:sp>
      <p:sp>
        <p:nvSpPr>
          <p:cNvPr id="3" name="Content Placeholder 2"/>
          <p:cNvSpPr>
            <a:spLocks noGrp="1"/>
          </p:cNvSpPr>
          <p:nvPr>
            <p:ph idx="1"/>
          </p:nvPr>
        </p:nvSpPr>
        <p:spPr/>
        <p:txBody>
          <a:bodyPr>
            <a:normAutofit lnSpcReduction="10000"/>
          </a:bodyPr>
          <a:lstStyle/>
          <a:p>
            <a:r>
              <a:rPr lang="en-US" dirty="0"/>
              <a:t>A radio button is a two-states button that can be either </a:t>
            </a:r>
            <a:r>
              <a:rPr lang="en-US" b="1" i="1" dirty="0">
                <a:solidFill>
                  <a:srgbClr val="0070C0"/>
                </a:solidFill>
              </a:rPr>
              <a:t>checked</a:t>
            </a:r>
            <a:r>
              <a:rPr lang="en-US" i="1" dirty="0"/>
              <a:t> or </a:t>
            </a:r>
            <a:r>
              <a:rPr lang="en-US" b="1" i="1" dirty="0">
                <a:solidFill>
                  <a:srgbClr val="0070C0"/>
                </a:solidFill>
              </a:rPr>
              <a:t>unchecked. </a:t>
            </a:r>
          </a:p>
          <a:p>
            <a:r>
              <a:rPr lang="en-US" dirty="0"/>
              <a:t>When the radio button is unchecked, the user can press or click it to check it. </a:t>
            </a:r>
          </a:p>
          <a:p>
            <a:r>
              <a:rPr lang="en-US" dirty="0"/>
              <a:t>Radio buttons are normally used together in a </a:t>
            </a:r>
            <a:r>
              <a:rPr lang="en-US" b="1" dirty="0" err="1">
                <a:solidFill>
                  <a:srgbClr val="0070C0"/>
                </a:solidFill>
              </a:rPr>
              <a:t>RadioGroup</a:t>
            </a:r>
            <a:r>
              <a:rPr lang="en-US" b="1" dirty="0"/>
              <a:t>. </a:t>
            </a:r>
          </a:p>
          <a:p>
            <a:r>
              <a:rPr lang="en-US" dirty="0"/>
              <a:t>When several radio buttons live inside a radio group, checking one radio button </a:t>
            </a:r>
            <a:r>
              <a:rPr lang="en-US" b="1" i="1" dirty="0" err="1">
                <a:solidFill>
                  <a:srgbClr val="0070C0"/>
                </a:solidFill>
              </a:rPr>
              <a:t>unchecks</a:t>
            </a:r>
            <a:r>
              <a:rPr lang="en-US" b="1" i="1" dirty="0">
                <a:solidFill>
                  <a:srgbClr val="0070C0"/>
                </a:solidFill>
              </a:rPr>
              <a:t> </a:t>
            </a:r>
            <a:r>
              <a:rPr lang="en-US" dirty="0"/>
              <a:t>all </a:t>
            </a:r>
            <a:r>
              <a:rPr lang="en-US" i="1" dirty="0"/>
              <a:t>the others.</a:t>
            </a:r>
          </a:p>
          <a:p>
            <a:r>
              <a:rPr lang="en-US" dirty="0"/>
              <a:t>Similarly, you can call </a:t>
            </a:r>
            <a:r>
              <a:rPr lang="en-US" b="1" dirty="0" err="1">
                <a:solidFill>
                  <a:srgbClr val="0070C0"/>
                </a:solidFill>
              </a:rPr>
              <a:t>isChecked</a:t>
            </a:r>
            <a:r>
              <a:rPr lang="en-US" b="1" dirty="0">
                <a:solidFill>
                  <a:srgbClr val="0070C0"/>
                </a:solidFill>
              </a:rPr>
              <a:t>() </a:t>
            </a:r>
            <a:r>
              <a:rPr lang="en-US" dirty="0"/>
              <a:t>on a </a:t>
            </a:r>
            <a:r>
              <a:rPr lang="en-US" dirty="0" err="1"/>
              <a:t>RadioButtonto</a:t>
            </a:r>
            <a:r>
              <a:rPr lang="en-US" dirty="0"/>
              <a:t> see if it is selected, </a:t>
            </a:r>
            <a:r>
              <a:rPr lang="en-US" b="1" dirty="0">
                <a:solidFill>
                  <a:srgbClr val="0070C0"/>
                </a:solidFill>
              </a:rPr>
              <a:t>toggle() </a:t>
            </a:r>
            <a:r>
              <a:rPr lang="en-US" dirty="0"/>
              <a:t>to select it, and so on, like you can with a </a:t>
            </a:r>
            <a:r>
              <a:rPr lang="en-US" dirty="0" err="1"/>
              <a:t>CheckBox</a:t>
            </a:r>
            <a:r>
              <a:rPr lang="en-US" dirty="0"/>
              <a:t>.</a:t>
            </a:r>
          </a:p>
          <a:p>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Basic Widgets: </a:t>
            </a:r>
            <a:r>
              <a:rPr lang="en-US" b="1" dirty="0" err="1"/>
              <a:t>RadioButtons</a:t>
            </a:r>
            <a:endParaRPr lang="en-US" dirty="0"/>
          </a:p>
        </p:txBody>
      </p:sp>
      <p:sp>
        <p:nvSpPr>
          <p:cNvPr id="3" name="Content Placeholder 2"/>
          <p:cNvSpPr>
            <a:spLocks noGrp="1"/>
          </p:cNvSpPr>
          <p:nvPr>
            <p:ph idx="1"/>
          </p:nvPr>
        </p:nvSpPr>
        <p:spPr>
          <a:xfrm>
            <a:off x="360340" y="2133600"/>
            <a:ext cx="6345260" cy="3530600"/>
          </a:xfrm>
        </p:spPr>
        <p:txBody>
          <a:bodyPr/>
          <a:lstStyle/>
          <a:p>
            <a:pPr>
              <a:buNone/>
            </a:pPr>
            <a:r>
              <a:rPr lang="en-US" b="1" dirty="0"/>
              <a:t>Example</a:t>
            </a:r>
          </a:p>
          <a:p>
            <a:pPr>
              <a:buNone/>
            </a:pPr>
            <a:r>
              <a:rPr lang="en-US" sz="2400" dirty="0"/>
              <a:t>This UI uses </a:t>
            </a:r>
            <a:r>
              <a:rPr lang="en-US" sz="2400" i="1" dirty="0" err="1"/>
              <a:t>RadioButtons</a:t>
            </a:r>
            <a:r>
              <a:rPr lang="en-US" sz="2400" i="1" dirty="0"/>
              <a:t> </a:t>
            </a:r>
          </a:p>
          <a:p>
            <a:pPr>
              <a:buNone/>
            </a:pPr>
            <a:r>
              <a:rPr lang="en-US" sz="2400" i="1" dirty="0"/>
              <a:t>and </a:t>
            </a:r>
            <a:r>
              <a:rPr lang="en-US" sz="2400" i="1" dirty="0" err="1"/>
              <a:t>CheckBoxes</a:t>
            </a:r>
            <a:endParaRPr lang="en-US" sz="2400" i="1" dirty="0"/>
          </a:p>
          <a:p>
            <a:pPr>
              <a:buNone/>
            </a:pPr>
            <a:r>
              <a:rPr lang="en-US" sz="2400" dirty="0"/>
              <a:t>to define choices</a:t>
            </a:r>
            <a:endParaRPr lang="en-US" dirty="0"/>
          </a:p>
        </p:txBody>
      </p:sp>
      <p:pic>
        <p:nvPicPr>
          <p:cNvPr id="23554" name="Picture 2"/>
          <p:cNvPicPr>
            <a:picLocks noChangeAspect="1" noChangeArrowheads="1"/>
          </p:cNvPicPr>
          <p:nvPr/>
        </p:nvPicPr>
        <p:blipFill>
          <a:blip r:embed="rId3"/>
          <a:srcRect/>
          <a:stretch>
            <a:fillRect/>
          </a:stretch>
        </p:blipFill>
        <p:spPr bwMode="auto">
          <a:xfrm>
            <a:off x="5710260" y="2133600"/>
            <a:ext cx="3098800" cy="4648200"/>
          </a:xfrm>
          <a:prstGeom prst="rect">
            <a:avLst/>
          </a:prstGeom>
          <a:noFill/>
          <a:ln w="9525">
            <a:noFill/>
            <a:miter lim="800000"/>
            <a:headEnd/>
            <a:tailEnd/>
          </a:ln>
          <a:effectLst/>
        </p:spPr>
      </p:pic>
      <p:sp>
        <p:nvSpPr>
          <p:cNvPr id="5" name="Right Arrow 4"/>
          <p:cNvSpPr/>
          <p:nvPr/>
        </p:nvSpPr>
        <p:spPr>
          <a:xfrm>
            <a:off x="3433741" y="3365500"/>
            <a:ext cx="19812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RadioGroup</a:t>
            </a:r>
            <a:endParaRPr lang="en-US" sz="1600" dirty="0"/>
          </a:p>
        </p:txBody>
      </p:sp>
      <p:sp>
        <p:nvSpPr>
          <p:cNvPr id="6" name="Right Arrow 5"/>
          <p:cNvSpPr/>
          <p:nvPr/>
        </p:nvSpPr>
        <p:spPr>
          <a:xfrm>
            <a:off x="3200400" y="5627437"/>
            <a:ext cx="27432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Summary of choices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Unit measurement</a:t>
            </a:r>
            <a:br>
              <a:rPr lang="en-US" dirty="0"/>
            </a:br>
            <a:r>
              <a:rPr lang="en-US" dirty="0"/>
              <a:t>in Android</a:t>
            </a:r>
          </a:p>
        </p:txBody>
      </p:sp>
      <p:sp>
        <p:nvSpPr>
          <p:cNvPr id="3" name="Content Placeholder 2"/>
          <p:cNvSpPr>
            <a:spLocks noGrp="1"/>
          </p:cNvSpPr>
          <p:nvPr>
            <p:ph idx="1"/>
          </p:nvPr>
        </p:nvSpPr>
        <p:spPr/>
        <p:txBody>
          <a:bodyPr>
            <a:normAutofit fontScale="85000" lnSpcReduction="20000"/>
          </a:bodyPr>
          <a:lstStyle/>
          <a:p>
            <a:r>
              <a:rPr lang="en-US" dirty="0" err="1"/>
              <a:t>px</a:t>
            </a:r>
            <a:r>
              <a:rPr lang="en-US" dirty="0"/>
              <a:t> = Pixels – corresponds to actual pixels on the screen.</a:t>
            </a:r>
          </a:p>
          <a:p>
            <a:r>
              <a:rPr lang="en-US" dirty="0"/>
              <a:t>pt = Points – 1/72 of an inch based on the physical size of the screen.</a:t>
            </a:r>
          </a:p>
          <a:p>
            <a:r>
              <a:rPr lang="en-US" dirty="0" err="1"/>
              <a:t>dp</a:t>
            </a:r>
            <a:endParaRPr lang="en-US" dirty="0"/>
          </a:p>
          <a:p>
            <a:pPr>
              <a:buNone/>
            </a:pPr>
            <a:r>
              <a:rPr lang="en-US" dirty="0"/>
              <a:t>	Density-independent Pixels – an abstract unit that is based on the physical density of the screen. These units are relative to a 160 dpi screen, so one </a:t>
            </a:r>
            <a:r>
              <a:rPr lang="en-US" dirty="0" err="1"/>
              <a:t>dp</a:t>
            </a:r>
            <a:r>
              <a:rPr lang="en-US" dirty="0"/>
              <a:t> is one pixel on a 160 dpi screen. The ratio of </a:t>
            </a:r>
            <a:r>
              <a:rPr lang="en-US" dirty="0" err="1"/>
              <a:t>dp</a:t>
            </a:r>
            <a:r>
              <a:rPr lang="en-US" dirty="0"/>
              <a:t>-to-pixel will change with the screen density, but not necessarily in direct proportion. Note: The compiler accepts both “dip” and “</a:t>
            </a:r>
            <a:r>
              <a:rPr lang="en-US" dirty="0" err="1"/>
              <a:t>dp</a:t>
            </a:r>
            <a:r>
              <a:rPr lang="en-US" dirty="0"/>
              <a:t>”, though “</a:t>
            </a:r>
            <a:r>
              <a:rPr lang="en-US" dirty="0" err="1"/>
              <a:t>dp</a:t>
            </a:r>
            <a:r>
              <a:rPr lang="en-US" dirty="0"/>
              <a:t>” is more consistent with “sp”.</a:t>
            </a:r>
          </a:p>
          <a:p>
            <a:r>
              <a:rPr lang="en-US" dirty="0"/>
              <a:t>sp</a:t>
            </a:r>
          </a:p>
          <a:p>
            <a:pPr>
              <a:buNone/>
            </a:pPr>
            <a:r>
              <a:rPr lang="en-US" dirty="0"/>
              <a:t>	Scale-independent Pixels – this is like the </a:t>
            </a:r>
            <a:r>
              <a:rPr lang="en-US" dirty="0" err="1"/>
              <a:t>dp</a:t>
            </a:r>
            <a:r>
              <a:rPr lang="en-US" dirty="0"/>
              <a:t> unit, but it is also scaled by the user’s font size preference. It is recommend you use this unit when specifying font sizes, so they will be adjusted for both the screen density and user’s preference.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283</TotalTime>
  <Words>1160</Words>
  <Application>Microsoft Office PowerPoint</Application>
  <PresentationFormat>On-screen Show (4:3)</PresentationFormat>
  <Paragraphs>106</Paragraphs>
  <Slides>21</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Century Gothic</vt:lpstr>
      <vt:lpstr>Wingdings 3</vt:lpstr>
      <vt:lpstr>Ion Boardroom</vt:lpstr>
      <vt:lpstr>Android  User Interface</vt:lpstr>
      <vt:lpstr>Outline</vt:lpstr>
      <vt:lpstr>Android User Interface</vt:lpstr>
      <vt:lpstr>Android - UI</vt:lpstr>
      <vt:lpstr>The View Class</vt:lpstr>
      <vt:lpstr>Android - UI Layouts</vt:lpstr>
      <vt:lpstr>Android – Layouts Types</vt:lpstr>
      <vt:lpstr>Android – Layouts Types</vt:lpstr>
      <vt:lpstr>Using @ in XML Layouts</vt:lpstr>
      <vt:lpstr>Attaching Layouts to Java Code</vt:lpstr>
      <vt:lpstr>Attaching Layouts to Java Code</vt:lpstr>
      <vt:lpstr>Basic Widgets: Labels</vt:lpstr>
      <vt:lpstr>Basic Widgets: Labels</vt:lpstr>
      <vt:lpstr>Basic Widgets: Buttons</vt:lpstr>
      <vt:lpstr>Basic Widgets: Images</vt:lpstr>
      <vt:lpstr>Basic Widgets: Images</vt:lpstr>
      <vt:lpstr>Basic Widgets: EditText</vt:lpstr>
      <vt:lpstr>Basic Widgets: CheckBox</vt:lpstr>
      <vt:lpstr>Basic Widgets: RadioButtons</vt:lpstr>
      <vt:lpstr>Basic Widgets: RadioButtons</vt:lpstr>
      <vt:lpstr>Unit measurement in Android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User Interface</dc:title>
  <dc:creator/>
  <cp:lastModifiedBy>MIRZA ARSLAN</cp:lastModifiedBy>
  <cp:revision>110</cp:revision>
  <dcterms:created xsi:type="dcterms:W3CDTF">2006-08-16T00:00:00Z</dcterms:created>
  <dcterms:modified xsi:type="dcterms:W3CDTF">2019-12-02T06:33:12Z</dcterms:modified>
</cp:coreProperties>
</file>