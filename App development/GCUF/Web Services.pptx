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86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8" r:id="rId3"/>
    <p:sldId id="321" r:id="rId4"/>
    <p:sldId id="336" r:id="rId5"/>
    <p:sldId id="337" r:id="rId6"/>
    <p:sldId id="332" r:id="rId7"/>
    <p:sldId id="324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8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F23418-877D-4E15-98EB-B18A416688F8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B3ED0-4E7F-4552-8A34-7C1339267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95D31-9972-44D7-A973-436B8E0F36E9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085B6-4FD1-4360-BB53-F417E13A6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4128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630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12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64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04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6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75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38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339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9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22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553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59E04-BC48-4C3C-B2CF-95287A202A10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44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" y="10"/>
            <a:ext cx="12191984" cy="68579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  <a:alpha val="54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254895">
            <a:off x="1244259" y="1587490"/>
            <a:ext cx="1378634" cy="3101380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254895" flipV="1">
            <a:off x="1414026" y="953161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254895" flipV="1">
            <a:off x="2528004" y="4145838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254895">
            <a:off x="2781579" y="1021138"/>
            <a:ext cx="434003" cy="871580"/>
          </a:xfrm>
          <a:prstGeom prst="line">
            <a:avLst/>
          </a:prstGeom>
          <a:ln w="76200" cap="rnd">
            <a:solidFill>
              <a:schemeClr val="bg1"/>
            </a:solidFill>
            <a:round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254895">
            <a:off x="3531651" y="3347833"/>
            <a:ext cx="428346" cy="836383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45302" y="1610122"/>
            <a:ext cx="847402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spc="6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</a:rPr>
              <a:t>WELCOME</a:t>
            </a:r>
          </a:p>
        </p:txBody>
      </p:sp>
      <p:sp>
        <p:nvSpPr>
          <p:cNvPr id="25" name="Arrow: Right 24">
            <a:hlinkClick r:id="" action="ppaction://hlinkshowjump?jump=nextslide"/>
          </p:cNvPr>
          <p:cNvSpPr/>
          <p:nvPr/>
        </p:nvSpPr>
        <p:spPr>
          <a:xfrm>
            <a:off x="10743027" y="2321170"/>
            <a:ext cx="1172308" cy="438026"/>
          </a:xfrm>
          <a:prstGeom prst="rightArrow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131280" y="5767141"/>
            <a:ext cx="9636369" cy="920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Mobile And Application Development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6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5" grpId="0" animBg="1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6753" y="1757038"/>
            <a:ext cx="11887200" cy="92202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>
                <a:latin typeface="Calibri" panose="020F0502020204030204" pitchFamily="34" charset="0"/>
                <a:cs typeface="Calibri" panose="020F0502020204030204" pitchFamily="34" charset="0"/>
              </a:rPr>
              <a:t>Consuming and Accessing web services</a:t>
            </a:r>
            <a:endParaRPr 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6753" y="2707969"/>
            <a:ext cx="11887200" cy="230832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Mobile And Application Development</a:t>
            </a: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Practical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32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71667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Flowchart: Alternate Process 5"/>
          <p:cNvSpPr/>
          <p:nvPr/>
        </p:nvSpPr>
        <p:spPr>
          <a:xfrm>
            <a:off x="1674254" y="5151549"/>
            <a:ext cx="8474298" cy="1197736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3200" b="1" i="1" cap="all" dirty="0" smtClean="0">
                <a:ln/>
                <a:solidFill>
                  <a:srgbClr val="FF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Instructor: Muhammad Naeem Khan</a:t>
            </a:r>
            <a:endParaRPr lang="en-US" sz="3200" b="1" i="1" cap="all" dirty="0">
              <a:ln/>
              <a:solidFill>
                <a:srgbClr val="FF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are web services?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388" y="1184856"/>
            <a:ext cx="1202976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The Internet is the worldwide connectivity of hundreds of thousands of computers of various types that belong to multiple networks. On the World Wide Web, a web service is a standardized method for propagating messages between client and server applications. A web service is a software module that is intended to carry out a specific set of functions. Web services in cloud computing can be found and invoked over the network.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The web service would be able to deliver functionality to the client that invoked the web service</a:t>
            </a:r>
            <a:r>
              <a:rPr lang="en-US" sz="2400" dirty="0" smtClean="0"/>
              <a:t>.</a:t>
            </a:r>
          </a:p>
          <a:p>
            <a:pPr fontAlgn="base"/>
            <a:r>
              <a:rPr lang="en-US" sz="2400" dirty="0"/>
              <a:t>A web service is a set of open protocols and standards that allow data to be exchanged between different applications or systems. Web services can be used by software programs written in a variety of programming languages and running on a variety of platforms to exchange data via computer networks such as the Internet in a similar way to inter-process communication on a single computer.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7855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are web services?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388" y="1184856"/>
            <a:ext cx="1202976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Any software, application, or cloud technology that uses standardized web protocols (HTTP or HTTPS) to connect, interoperate, and exchange data messages – commonly XML (Extensible Markup Language) – across the internet is considered a web service.</a:t>
            </a:r>
            <a:br>
              <a:rPr lang="en-US" sz="2400" dirty="0"/>
            </a:br>
            <a:r>
              <a:rPr lang="en-US" sz="2400" dirty="0"/>
              <a:t>Web services have the advantage of allowing programs developed in different languages to connect with one another by exchanging data over a web service between clients and servers. A client invokes a web service by submitting an XML request, which the service responds with an XML response</a:t>
            </a:r>
            <a:r>
              <a:rPr lang="en-US" sz="2400" b="1" dirty="0"/>
              <a:t>.</a:t>
            </a: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r>
              <a:rPr lang="en-US" sz="2400" b="1" dirty="0"/>
              <a:t>Functions of Web Services</a:t>
            </a: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q"/>
            </a:pPr>
            <a:r>
              <a:rPr lang="en-US" sz="2400" dirty="0"/>
              <a:t>It’s possible to access it via the internet or intranet networks.</a:t>
            </a:r>
          </a:p>
          <a:p>
            <a:pPr marL="342900" indent="-342900" fontAlgn="base">
              <a:buFont typeface="Wingdings" panose="05000000000000000000" pitchFamily="2" charset="2"/>
              <a:buChar char="q"/>
            </a:pPr>
            <a:r>
              <a:rPr lang="en-US" sz="2400" dirty="0"/>
              <a:t>XML messaging protocol that is standardized.</a:t>
            </a:r>
          </a:p>
          <a:p>
            <a:pPr marL="342900" indent="-342900" fontAlgn="base">
              <a:buFont typeface="Wingdings" panose="05000000000000000000" pitchFamily="2" charset="2"/>
              <a:buChar char="q"/>
            </a:pPr>
            <a:r>
              <a:rPr lang="en-US" sz="2400" dirty="0"/>
              <a:t>Operating system or programming language independent.</a:t>
            </a:r>
          </a:p>
          <a:p>
            <a:pPr marL="342900" indent="-342900" fontAlgn="base">
              <a:buFont typeface="Wingdings" panose="05000000000000000000" pitchFamily="2" charset="2"/>
              <a:buChar char="q"/>
            </a:pPr>
            <a:r>
              <a:rPr lang="en-US" sz="2400" dirty="0"/>
              <a:t>Using the XML standard, it is self-describing.</a:t>
            </a:r>
          </a:p>
          <a:p>
            <a:pPr marL="342900" indent="-342900" fontAlgn="base">
              <a:buFont typeface="Wingdings" panose="05000000000000000000" pitchFamily="2" charset="2"/>
              <a:buChar char="q"/>
            </a:pPr>
            <a:r>
              <a:rPr lang="en-US" sz="2400" dirty="0"/>
              <a:t>A simple location approach can be used to locate it.</a:t>
            </a:r>
          </a:p>
        </p:txBody>
      </p:sp>
    </p:spTree>
    <p:extLst>
      <p:ext uri="{BB962C8B-B14F-4D97-AF65-F5344CB8AC3E}">
        <p14:creationId xmlns:p14="http://schemas.microsoft.com/office/powerpoint/2010/main" val="99296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How does it works?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388" y="1184856"/>
            <a:ext cx="120297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The diagram depicts a very simplified version of how a web service would function. The client would use requests to send a sequence of web service calls to a server that would host the actual web service.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2" name="Rectangle 1"/>
          <p:cNvSpPr/>
          <p:nvPr/>
        </p:nvSpPr>
        <p:spPr>
          <a:xfrm>
            <a:off x="3035021" y="2038442"/>
            <a:ext cx="7293833" cy="443963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79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388" y="1184856"/>
            <a:ext cx="120297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1. Using </a:t>
            </a:r>
            <a:r>
              <a:rPr lang="en-US" sz="2800" b="1" dirty="0" err="1"/>
              <a:t>HttpURLConnection</a:t>
            </a:r>
            <a:r>
              <a:rPr lang="en-US" sz="2800" b="1" dirty="0"/>
              <a:t> (Basic Approach)</a:t>
            </a:r>
          </a:p>
          <a:p>
            <a:r>
              <a:rPr lang="en-US" sz="2800" dirty="0" err="1"/>
              <a:t>HttpURLConnection</a:t>
            </a:r>
            <a:r>
              <a:rPr lang="en-US" sz="2800" dirty="0"/>
              <a:t> is a built-in Java class used for making network requests.</a:t>
            </a:r>
          </a:p>
          <a:p>
            <a:r>
              <a:rPr lang="en-US" sz="2800" b="1" dirty="0"/>
              <a:t>Steps:</a:t>
            </a:r>
          </a:p>
          <a:p>
            <a:r>
              <a:rPr lang="en-US" sz="2800" b="1" dirty="0"/>
              <a:t>Add Internet Permission</a:t>
            </a:r>
            <a:r>
              <a:rPr lang="en-US" sz="2800" dirty="0"/>
              <a:t> in </a:t>
            </a:r>
            <a:r>
              <a:rPr lang="en-US" sz="2800" dirty="0" smtClean="0"/>
              <a:t>AndroidManifest.xml</a:t>
            </a:r>
            <a:endParaRPr lang="en-US" sz="2800" dirty="0"/>
          </a:p>
          <a:p>
            <a:r>
              <a:rPr lang="en-US" sz="2800" dirty="0"/>
              <a:t>&lt;uses-permission </a:t>
            </a:r>
            <a:r>
              <a:rPr lang="en-US" sz="2800" dirty="0" err="1"/>
              <a:t>android:name</a:t>
            </a:r>
            <a:r>
              <a:rPr lang="en-US" sz="2800" dirty="0"/>
              <a:t>="</a:t>
            </a:r>
            <a:r>
              <a:rPr lang="en-US" sz="2800" dirty="0" err="1"/>
              <a:t>android.permission.INTERNET</a:t>
            </a:r>
            <a:r>
              <a:rPr lang="en-US" sz="2800" dirty="0"/>
              <a:t>"/&gt;</a:t>
            </a:r>
          </a:p>
        </p:txBody>
      </p:sp>
    </p:spTree>
    <p:extLst>
      <p:ext uri="{BB962C8B-B14F-4D97-AF65-F5344CB8AC3E}">
        <p14:creationId xmlns:p14="http://schemas.microsoft.com/office/powerpoint/2010/main" val="286815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sz="4000" b="1" dirty="0" smtClean="0"/>
              <a:t>activity_main.java</a:t>
            </a:r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815189"/>
              </p:ext>
            </p:extLst>
          </p:nvPr>
        </p:nvGraphicFramePr>
        <p:xfrm>
          <a:off x="130388" y="1138121"/>
          <a:ext cx="11937116" cy="559650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052698"/>
                <a:gridCol w="5884418"/>
              </a:tblGrid>
              <a:tr h="5596508">
                <a:tc>
                  <a:txBody>
                    <a:bodyPr/>
                    <a:lstStyle/>
                    <a:p>
                      <a:pPr algn="l"/>
                      <a:r>
                        <a:rPr lang="en-US" smtClean="0"/>
                        <a:t>import java.io.BufferedReader; import java.io.InputStreamReader; import java.net.HttpURLConnection; import java.net.URL; public class HttpHandler { public static String getDataFromWebService(String urlString) { StringBuilder result = new StringBuilder();</a:t>
                      </a:r>
                    </a:p>
                    <a:p>
                      <a:pPr algn="l"/>
                      <a:r>
                        <a:rPr lang="en-US" smtClean="0"/>
                        <a:t>try { URL url = new URL(urlString); HttpURLConnection conn = (HttpURLConnection) url.openConnection(); conn.setRequestMethod("GET"); conn.setRequestProperty("Accept", "application/json"); BufferedReader reader = new BufferedReader(new InputStreamReader(conn.getInputStream())); String line; while ((line = reader.readLine()) != null) { result.append(line); }</a:t>
                      </a:r>
                    </a:p>
                    <a:p>
                      <a:pPr algn="l"/>
                      <a:r>
                        <a:rPr lang="en-US" smtClean="0"/>
                        <a:t>reader.close(); } catch (Exception e) { e.printStackTrace(); } return result.toString(); } }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Call the Function from </a:t>
                      </a:r>
                      <a:r>
                        <a:rPr lang="en-US" b="1" dirty="0" err="1" smtClean="0"/>
                        <a:t>MainActivity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java</a:t>
                      </a:r>
                    </a:p>
                    <a:p>
                      <a:pPr rtl="0"/>
                      <a:r>
                        <a:rPr lang="en-US" dirty="0" smtClean="0"/>
                        <a:t>new Thread(() -&gt; { String response = </a:t>
                      </a:r>
                      <a:r>
                        <a:rPr lang="en-US" dirty="0" err="1" smtClean="0"/>
                        <a:t>HttpHandler.getDataFromWebService</a:t>
                      </a:r>
                      <a:r>
                        <a:rPr lang="en-US" dirty="0" smtClean="0"/>
                        <a:t>("https://jsonplaceholder.typicode.com/posts/1"); </a:t>
                      </a:r>
                      <a:r>
                        <a:rPr lang="en-US" dirty="0" err="1" smtClean="0"/>
                        <a:t>System.out.println</a:t>
                      </a:r>
                      <a:r>
                        <a:rPr lang="en-US" dirty="0" smtClean="0"/>
                        <a:t>(response); }).start();</a:t>
                      </a:r>
                    </a:p>
                    <a:p>
                      <a:pPr algn="l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14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7230" y="313899"/>
            <a:ext cx="1079537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3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  <a:cs typeface="Calibri" panose="020F0502020204030204" pitchFamily="34" charset="0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1126</TotalTime>
  <Words>353</Words>
  <Application>Microsoft Office PowerPoint</Application>
  <PresentationFormat>Custom</PresentationFormat>
  <Paragraphs>35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Naeem Khan</dc:creator>
  <cp:lastModifiedBy>Muhammad Naeem Khan</cp:lastModifiedBy>
  <cp:revision>116</cp:revision>
  <dcterms:created xsi:type="dcterms:W3CDTF">2024-11-04T05:04:00Z</dcterms:created>
  <dcterms:modified xsi:type="dcterms:W3CDTF">2025-02-19T02:34:47Z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92ED70D60F184857A85F9A485E7AD0CC_12</vt:lpwstr>
  </property>
  <property fmtid="{D5CDD505-2E9C-101B-9397-08002B2CF9AE}" pid="3" name="KSOProductBuildVer">
    <vt:lpwstr>1033-12.2.0.18911</vt:lpwstr>
  </property>
</Properties>
</file>