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4" r:id="rId1"/>
  </p:sldMasterIdLst>
  <p:notesMasterIdLst>
    <p:notesMasterId r:id="rId16"/>
  </p:notesMasterIdLst>
  <p:handoutMasterIdLst>
    <p:handoutMasterId r:id="rId17"/>
  </p:handoutMasterIdLst>
  <p:sldIdLst>
    <p:sldId id="256" r:id="rId2"/>
    <p:sldId id="258" r:id="rId3"/>
    <p:sldId id="321" r:id="rId4"/>
    <p:sldId id="326" r:id="rId5"/>
    <p:sldId id="324" r:id="rId6"/>
    <p:sldId id="327" r:id="rId7"/>
    <p:sldId id="328" r:id="rId8"/>
    <p:sldId id="329" r:id="rId9"/>
    <p:sldId id="334" r:id="rId10"/>
    <p:sldId id="330" r:id="rId11"/>
    <p:sldId id="331" r:id="rId12"/>
    <p:sldId id="332" r:id="rId13"/>
    <p:sldId id="333" r:id="rId14"/>
    <p:sldId id="26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6" d="100"/>
          <a:sy n="66" d="100"/>
        </p:scale>
        <p:origin x="-900" y="-29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F23418-877D-4E15-98EB-B18A416688F8}" type="datetimeFigureOut">
              <a:rPr lang="en-US" smtClean="0"/>
              <a:t>1/21/2025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1B3ED0-4E7F-4552-8A34-7C1339267C6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95D31-9972-44D7-A973-436B8E0F36E9}"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F085B6-4FD1-4360-BB53-F417E13A6F25}" type="slidenum">
              <a:rPr lang="en-US" smtClean="0"/>
              <a:t>‹#›</a:t>
            </a:fld>
            <a:endParaRPr lang="en-US"/>
          </a:p>
        </p:txBody>
      </p:sp>
    </p:spTree>
    <p:extLst>
      <p:ext uri="{BB962C8B-B14F-4D97-AF65-F5344CB8AC3E}">
        <p14:creationId xmlns:p14="http://schemas.microsoft.com/office/powerpoint/2010/main" val="3620841288"/>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extBox 7"/>
          <p:cNvSpPr txBox="1"/>
          <p:nvPr/>
        </p:nvSpPr>
        <p:spPr>
          <a:xfrm>
            <a:off x="2438400" y="3159761"/>
            <a:ext cx="6096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1036320" y="1219200"/>
            <a:ext cx="10058400" cy="2152650"/>
          </a:xfrm>
        </p:spPr>
        <p:txBody>
          <a:bodyPr>
            <a:noAutofit/>
          </a:bodyPr>
          <a:lstStyle>
            <a:lvl1pPr>
              <a:defRPr sz="60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844800" y="3375491"/>
            <a:ext cx="82296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Date Placeholder 14"/>
          <p:cNvSpPr>
            <a:spLocks noGrp="1"/>
          </p:cNvSpPr>
          <p:nvPr>
            <p:ph type="dt" sz="half" idx="10"/>
          </p:nvPr>
        </p:nvSpPr>
        <p:spPr/>
        <p:txBody>
          <a:bodyPr/>
          <a:lstStyle/>
          <a:p>
            <a:fld id="{92A59E04-BC48-4C3C-B2CF-95287A202A10}" type="datetimeFigureOut">
              <a:rPr lang="en-US" smtClean="0"/>
              <a:t>1/21/2025</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4" name="Date Placeholder 13"/>
          <p:cNvSpPr>
            <a:spLocks noGrp="1"/>
          </p:cNvSpPr>
          <p:nvPr>
            <p:ph type="dt" sz="half" idx="10"/>
          </p:nvPr>
        </p:nvSpPr>
        <p:spPr/>
        <p:txBody>
          <a:bodyPr/>
          <a:lstStyle/>
          <a:p>
            <a:fld id="{92A59E04-BC48-4C3C-B2CF-95287A202A10}" type="datetimeFigureOut">
              <a:rPr lang="en-US" smtClean="0"/>
              <a:t>1/21/2025</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TextBox 7"/>
          <p:cNvSpPr txBox="1"/>
          <p:nvPr/>
        </p:nvSpPr>
        <p:spPr>
          <a:xfrm>
            <a:off x="5689600" y="4074498"/>
            <a:ext cx="6096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6096000" y="4267368"/>
            <a:ext cx="49784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2" name="Date Placeholder 11"/>
          <p:cNvSpPr>
            <a:spLocks noGrp="1"/>
          </p:cNvSpPr>
          <p:nvPr>
            <p:ph type="dt" sz="half" idx="10"/>
          </p:nvPr>
        </p:nvSpPr>
        <p:spPr/>
        <p:txBody>
          <a:bodyPr/>
          <a:lstStyle/>
          <a:p>
            <a:fld id="{92A59E04-BC48-4C3C-B2CF-95287A202A10}" type="datetimeFigureOut">
              <a:rPr lang="en-US" smtClean="0"/>
              <a:t>1/21/2025</a:t>
            </a:fld>
            <a:endParaRPr lang="en-US"/>
          </a:p>
        </p:txBody>
      </p:sp>
      <p:sp>
        <p:nvSpPr>
          <p:cNvPr id="13" name="Slide Number Placeholder 12"/>
          <p:cNvSpPr>
            <a:spLocks noGrp="1"/>
          </p:cNvSpPr>
          <p:nvPr>
            <p:ph type="sldNum" sz="quarter" idx="11"/>
          </p:nvPr>
        </p:nvSpPr>
        <p:spPr/>
        <p:txBody>
          <a:bodyPr/>
          <a:lstStyle/>
          <a:p>
            <a:fld id="{8CF08CA4-D9C5-4472-8FBF-7DFA91021E4F}"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
        <p:nvSpPr>
          <p:cNvPr id="4" name="Title 3"/>
          <p:cNvSpPr>
            <a:spLocks noGrp="1"/>
          </p:cNvSpPr>
          <p:nvPr>
            <p:ph type="title"/>
          </p:nvPr>
        </p:nvSpPr>
        <p:spPr>
          <a:xfrm>
            <a:off x="3048000" y="1905000"/>
            <a:ext cx="804672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92A59E04-BC48-4C3C-B2CF-95287A202A10}" type="datetimeFigureOut">
              <a:rPr lang="en-US" smtClean="0"/>
              <a:t>1/21/2025</a:t>
            </a:fld>
            <a:endParaRPr lang="en-US"/>
          </a:p>
        </p:txBody>
      </p:sp>
      <p:sp>
        <p:nvSpPr>
          <p:cNvPr id="9" name="Slide Number Placeholder 8"/>
          <p:cNvSpPr>
            <a:spLocks noGrp="1"/>
          </p:cNvSpPr>
          <p:nvPr>
            <p:ph type="sldNum" sz="quarter" idx="11"/>
          </p:nvPr>
        </p:nvSpPr>
        <p:spPr/>
        <p:txBody>
          <a:bodyPr/>
          <a:lstStyle/>
          <a:p>
            <a:fld id="{8CF08CA4-D9C5-4472-8FBF-7DFA91021E4F}"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
        <p:nvSpPr>
          <p:cNvPr id="11" name="Title 10"/>
          <p:cNvSpPr>
            <a:spLocks noGrp="1"/>
          </p:cNvSpPr>
          <p:nvPr>
            <p:ph type="title"/>
          </p:nvPr>
        </p:nvSpPr>
        <p:spPr/>
        <p:txBody>
          <a:bodyPr/>
          <a:lstStyle/>
          <a:p>
            <a:r>
              <a:rPr lang="en-US" smtClean="0"/>
              <a:t>Click to edit Master title style</a:t>
            </a:r>
            <a:endParaRPr lang="en-US" dirty="0"/>
          </a:p>
        </p:txBody>
      </p:sp>
      <p:sp>
        <p:nvSpPr>
          <p:cNvPr id="5" name="Content Placeholder 4"/>
          <p:cNvSpPr>
            <a:spLocks noGrp="1"/>
          </p:cNvSpPr>
          <p:nvPr>
            <p:ph sz="quarter" idx="13"/>
          </p:nvPr>
        </p:nvSpPr>
        <p:spPr>
          <a:xfrm>
            <a:off x="1792224" y="658368"/>
            <a:ext cx="4364736" cy="3429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6"/>
          <p:cNvSpPr>
            <a:spLocks noGrp="1"/>
          </p:cNvSpPr>
          <p:nvPr>
            <p:ph sz="quarter" idx="14"/>
          </p:nvPr>
        </p:nvSpPr>
        <p:spPr>
          <a:xfrm>
            <a:off x="6705600" y="658369"/>
            <a:ext cx="4364736" cy="3432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816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792224" y="1371600"/>
            <a:ext cx="43688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70560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705600" y="1371600"/>
            <a:ext cx="4364736"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Box 12"/>
          <p:cNvSpPr txBox="1"/>
          <p:nvPr/>
        </p:nvSpPr>
        <p:spPr>
          <a:xfrm>
            <a:off x="1408853"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6373707"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en-US" smtClean="0"/>
              <a:t>Click to edit Master title style</a:t>
            </a:r>
            <a:endParaRPr lang="en-US" dirty="0"/>
          </a:p>
        </p:txBody>
      </p:sp>
      <p:sp>
        <p:nvSpPr>
          <p:cNvPr id="14" name="Date Placeholder 13"/>
          <p:cNvSpPr>
            <a:spLocks noGrp="1"/>
          </p:cNvSpPr>
          <p:nvPr>
            <p:ph type="dt" sz="half" idx="10"/>
          </p:nvPr>
        </p:nvSpPr>
        <p:spPr/>
        <p:txBody>
          <a:bodyPr/>
          <a:lstStyle/>
          <a:p>
            <a:fld id="{92A59E04-BC48-4C3C-B2CF-95287A202A10}" type="datetimeFigureOut">
              <a:rPr lang="en-US" smtClean="0"/>
              <a:t>1/21/2025</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7" name="Date Placeholder 6"/>
          <p:cNvSpPr>
            <a:spLocks noGrp="1"/>
          </p:cNvSpPr>
          <p:nvPr>
            <p:ph type="dt" sz="half" idx="10"/>
          </p:nvPr>
        </p:nvSpPr>
        <p:spPr/>
        <p:txBody>
          <a:bodyPr/>
          <a:lstStyle/>
          <a:p>
            <a:fld id="{92A59E04-BC48-4C3C-B2CF-95287A202A10}" type="datetimeFigureOut">
              <a:rPr lang="en-US" smtClean="0"/>
              <a:t>1/21/2025</a:t>
            </a:fld>
            <a:endParaRPr lang="en-US"/>
          </a:p>
        </p:txBody>
      </p:sp>
      <p:sp>
        <p:nvSpPr>
          <p:cNvPr id="8" name="Slide Number Placeholder 7"/>
          <p:cNvSpPr>
            <a:spLocks noGrp="1"/>
          </p:cNvSpPr>
          <p:nvPr>
            <p:ph type="sldNum" sz="quarter" idx="11"/>
          </p:nvPr>
        </p:nvSpPr>
        <p:spPr/>
        <p:txBody>
          <a:bodyPr/>
          <a:lstStyle/>
          <a:p>
            <a:fld id="{8CF08CA4-D9C5-4472-8FBF-7DFA91021E4F}"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2A59E04-BC48-4C3C-B2CF-95287A202A10}" type="datetimeFigureOut">
              <a:rPr lang="en-US" smtClean="0"/>
              <a:t>1/21/2025</a:t>
            </a:fld>
            <a:endParaRPr lang="en-US"/>
          </a:p>
        </p:txBody>
      </p:sp>
      <p:sp>
        <p:nvSpPr>
          <p:cNvPr id="6" name="Slide Number Placeholder 5"/>
          <p:cNvSpPr>
            <a:spLocks noGrp="1"/>
          </p:cNvSpPr>
          <p:nvPr>
            <p:ph type="sldNum" sz="quarter" idx="11"/>
          </p:nvPr>
        </p:nvSpPr>
        <p:spPr/>
        <p:txBody>
          <a:bodyPr/>
          <a:lstStyle/>
          <a:p>
            <a:fld id="{8CF08CA4-D9C5-4472-8FBF-7DFA91021E4F}" type="slidenum">
              <a:rPr lang="en-US" smtClean="0"/>
              <a:t>‹#›</a:t>
            </a:fld>
            <a:endParaRPr lang="en-US"/>
          </a:p>
        </p:txBody>
      </p:sp>
      <p:sp>
        <p:nvSpPr>
          <p:cNvPr id="7" name="Footer Placeholder 6"/>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TextBox 8"/>
          <p:cNvSpPr txBox="1"/>
          <p:nvPr/>
        </p:nvSpPr>
        <p:spPr>
          <a:xfrm>
            <a:off x="7105227" y="1774588"/>
            <a:ext cx="6096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1117600" y="685801"/>
            <a:ext cx="57912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00" y="685801"/>
            <a:ext cx="34544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5" name="Date Placeholder 14"/>
          <p:cNvSpPr>
            <a:spLocks noGrp="1"/>
          </p:cNvSpPr>
          <p:nvPr>
            <p:ph type="dt" sz="half" idx="10"/>
          </p:nvPr>
        </p:nvSpPr>
        <p:spPr/>
        <p:txBody>
          <a:bodyPr/>
          <a:lstStyle/>
          <a:p>
            <a:fld id="{92A59E04-BC48-4C3C-B2CF-95287A202A10}" type="datetimeFigureOut">
              <a:rPr lang="en-US" smtClean="0"/>
              <a:t>1/21/2025</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
        <p:nvSpPr>
          <p:cNvPr id="18" name="Title 1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625600" y="612776"/>
            <a:ext cx="89408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3657600" y="3453047"/>
            <a:ext cx="67056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Box 8"/>
          <p:cNvSpPr txBox="1"/>
          <p:nvPr/>
        </p:nvSpPr>
        <p:spPr>
          <a:xfrm>
            <a:off x="3247136" y="3331464"/>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en-US" smtClean="0"/>
              <a:t>Click to edit Master title style</a:t>
            </a:r>
            <a:endParaRPr lang="en-US"/>
          </a:p>
        </p:txBody>
      </p:sp>
      <p:sp>
        <p:nvSpPr>
          <p:cNvPr id="13" name="Date Placeholder 12"/>
          <p:cNvSpPr>
            <a:spLocks noGrp="1"/>
          </p:cNvSpPr>
          <p:nvPr>
            <p:ph type="dt" sz="half" idx="10"/>
          </p:nvPr>
        </p:nvSpPr>
        <p:spPr/>
        <p:txBody>
          <a:bodyPr/>
          <a:lstStyle/>
          <a:p>
            <a:fld id="{92A59E04-BC48-4C3C-B2CF-95287A202A10}" type="datetimeFigureOut">
              <a:rPr lang="en-US" smtClean="0"/>
              <a:t>1/21/2025</a:t>
            </a:fld>
            <a:endParaRPr lang="en-US"/>
          </a:p>
        </p:txBody>
      </p:sp>
      <p:sp>
        <p:nvSpPr>
          <p:cNvPr id="14" name="Slide Number Placeholder 13"/>
          <p:cNvSpPr>
            <a:spLocks noGrp="1"/>
          </p:cNvSpPr>
          <p:nvPr>
            <p:ph type="sldNum" sz="quarter" idx="11"/>
          </p:nvPr>
        </p:nvSpPr>
        <p:spPr/>
        <p:txBody>
          <a:bodyPr/>
          <a:lstStyle/>
          <a:p>
            <a:fld id="{8CF08CA4-D9C5-4472-8FBF-7DFA91021E4F}"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844800" y="685802"/>
            <a:ext cx="7721600" cy="3505199"/>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A59E04-BC48-4C3C-B2CF-95287A202A10}"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2800" y="609601"/>
            <a:ext cx="2844800" cy="51816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860800" y="685801"/>
            <a:ext cx="6705600" cy="45720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2A59E04-BC48-4C3C-B2CF-95287A202A10}"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830961" y="1038441"/>
            <a:ext cx="965416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557464" y="419133"/>
            <a:ext cx="5538472" cy="5973945"/>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4370607" y="116855"/>
            <a:ext cx="8639149"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36320" y="4876800"/>
            <a:ext cx="10058400" cy="9144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2844800" y="685802"/>
            <a:ext cx="8128000" cy="3657599"/>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00" y="6154739"/>
            <a:ext cx="28448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92A59E04-BC48-4C3C-B2CF-95287A202A10}" type="datetimeFigureOut">
              <a:rPr lang="en-US" smtClean="0"/>
              <a:t>1/21/2025</a:t>
            </a:fld>
            <a:endParaRPr lang="en-US"/>
          </a:p>
        </p:txBody>
      </p:sp>
      <p:sp>
        <p:nvSpPr>
          <p:cNvPr id="5" name="Footer Placeholder 4"/>
          <p:cNvSpPr>
            <a:spLocks noGrp="1"/>
          </p:cNvSpPr>
          <p:nvPr>
            <p:ph type="ftr" sz="quarter" idx="3"/>
          </p:nvPr>
        </p:nvSpPr>
        <p:spPr>
          <a:xfrm>
            <a:off x="1097280" y="6154739"/>
            <a:ext cx="6096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endParaRPr lang="en-US"/>
          </a:p>
        </p:txBody>
      </p:sp>
      <p:sp>
        <p:nvSpPr>
          <p:cNvPr id="6" name="Slide Number Placeholder 5"/>
          <p:cNvSpPr>
            <a:spLocks noGrp="1"/>
          </p:cNvSpPr>
          <p:nvPr>
            <p:ph type="sldNum" sz="quarter" idx="4"/>
          </p:nvPr>
        </p:nvSpPr>
        <p:spPr>
          <a:xfrm>
            <a:off x="1097280" y="5842000"/>
            <a:ext cx="28448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8CF08CA4-D9C5-4472-8FBF-7DFA91021E4F}"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7" y="10"/>
            <a:ext cx="12191984" cy="6857991"/>
          </a:xfrm>
          <a:prstGeom prst="rect">
            <a:avLst/>
          </a:prstGeom>
        </p:spPr>
      </p:pic>
      <p:sp>
        <p:nvSpPr>
          <p:cNvPr id="6" name="Rectangle 5"/>
          <p:cNvSpPr/>
          <p:nvPr/>
        </p:nvSpPr>
        <p:spPr>
          <a:xfrm>
            <a:off x="0" y="0"/>
            <a:ext cx="12192000" cy="6858000"/>
          </a:xfrm>
          <a:prstGeom prst="rect">
            <a:avLst/>
          </a:prstGeom>
          <a:gradFill flip="none" rotWithShape="1">
            <a:gsLst>
              <a:gs pos="0">
                <a:schemeClr val="accent4">
                  <a:lumMod val="0"/>
                  <a:lumOff val="100000"/>
                </a:schemeClr>
              </a:gs>
              <a:gs pos="35000">
                <a:schemeClr val="accent4">
                  <a:lumMod val="0"/>
                  <a:lumOff val="100000"/>
                  <a:alpha val="54000"/>
                </a:schemeClr>
              </a:gs>
              <a:gs pos="100000">
                <a:schemeClr val="accent4">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p:nvCxnSpPr>
        <p:spPr>
          <a:xfrm rot="254895">
            <a:off x="1244259" y="1587490"/>
            <a:ext cx="1378634" cy="3101380"/>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254895" flipV="1">
            <a:off x="1414026" y="953161"/>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254895" flipV="1">
            <a:off x="2528004" y="4145838"/>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254895">
            <a:off x="2781579" y="1021138"/>
            <a:ext cx="434003" cy="871580"/>
          </a:xfrm>
          <a:prstGeom prst="line">
            <a:avLst/>
          </a:prstGeom>
          <a:ln w="76200" cap="rnd">
            <a:solidFill>
              <a:schemeClr val="bg1"/>
            </a:solidFill>
            <a:round/>
            <a:tailEnd type="ova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254895">
            <a:off x="3531651" y="3347833"/>
            <a:ext cx="428346" cy="836383"/>
          </a:xfrm>
          <a:prstGeom prst="line">
            <a:avLst/>
          </a:prstGeom>
          <a:ln w="76200" cap="rnd">
            <a:solidFill>
              <a:schemeClr val="bg1"/>
            </a:solidFill>
            <a:round/>
            <a:headEnd type="oval"/>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145302" y="1610122"/>
            <a:ext cx="8474028" cy="1862048"/>
          </a:xfrm>
          <a:prstGeom prst="rect">
            <a:avLst/>
          </a:prstGeom>
          <a:noFill/>
        </p:spPr>
        <p:txBody>
          <a:bodyPr wrap="square" rtlCol="0">
            <a:spAutoFit/>
          </a:bodyPr>
          <a:lstStyle/>
          <a:p>
            <a:r>
              <a:rPr lang="en-US" sz="11500" spc="600" dirty="0">
                <a:solidFill>
                  <a:schemeClr val="bg1"/>
                </a:solidFill>
                <a:effectLst>
                  <a:outerShdw blurRad="50800" dist="38100" dir="5400000" algn="t" rotWithShape="0">
                    <a:prstClr val="black">
                      <a:alpha val="40000"/>
                    </a:prstClr>
                  </a:outerShdw>
                </a:effectLst>
                <a:latin typeface="Aptos" panose="020B0004020202020204" pitchFamily="34" charset="0"/>
              </a:rPr>
              <a:t>WELCOME</a:t>
            </a:r>
          </a:p>
        </p:txBody>
      </p:sp>
      <p:sp>
        <p:nvSpPr>
          <p:cNvPr id="25" name="Arrow: Right 24">
            <a:hlinkClick r:id="" action="ppaction://hlinkshowjump?jump=nextslide"/>
          </p:cNvPr>
          <p:cNvSpPr/>
          <p:nvPr/>
        </p:nvSpPr>
        <p:spPr>
          <a:xfrm>
            <a:off x="10743027" y="2321170"/>
            <a:ext cx="1172308" cy="438026"/>
          </a:xfrm>
          <a:prstGeom prst="rightArrow">
            <a:avLst/>
          </a:prstGeom>
          <a:solidFill>
            <a:schemeClr val="bg1"/>
          </a:solidFill>
          <a:ln>
            <a:noFill/>
          </a:ln>
          <a:scene3d>
            <a:camera prst="orthographicFront"/>
            <a:lightRig rig="threePt" dir="t"/>
          </a:scene3d>
          <a:sp3d>
            <a:bevelT w="101600" prst="ribl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131280" y="5767141"/>
            <a:ext cx="9636369" cy="920252"/>
          </a:xfrm>
          <a:prstGeom prst="rect">
            <a:avLst/>
          </a:prstGeom>
          <a:noFill/>
        </p:spPr>
        <p:txBody>
          <a:bodyPr wrap="square" rtlCol="0">
            <a:spAutoFit/>
          </a:bodyPr>
          <a:lstStyle/>
          <a:p>
            <a:pPr indent="0" algn="ctr">
              <a:lnSpc>
                <a:spcPct val="150000"/>
              </a:lnSpc>
              <a:buFont typeface="Arial" panose="020B0604020202020204" pitchFamily="34" charset="0"/>
              <a:buNone/>
            </a:pPr>
            <a:r>
              <a:rPr lang="en-US" sz="4000" dirty="0">
                <a:solidFill>
                  <a:schemeClr val="bg1"/>
                </a:solidFill>
                <a:latin typeface="Calibri" panose="020F0502020204030204" pitchFamily="34" charset="0"/>
                <a:cs typeface="Calibri" panose="020F0502020204030204" pitchFamily="34" charset="0"/>
              </a:rPr>
              <a:t>Mobile And Application Development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7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right)">
                                      <p:cBhvr>
                                        <p:cTn id="12" dur="7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75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75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75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1000"/>
                                        <p:tgtEl>
                                          <p:spTgt spid="21"/>
                                        </p:tgtEl>
                                      </p:cBhvr>
                                    </p:animEffect>
                                  </p:childTnLst>
                                </p:cTn>
                              </p:par>
                            </p:childTnLst>
                          </p:cTn>
                        </p:par>
                        <p:par>
                          <p:cTn id="33" fill="hold">
                            <p:stCondLst>
                              <p:cond delay="1000"/>
                            </p:stCondLst>
                            <p:childTnLst>
                              <p:par>
                                <p:cTn id="34" presetID="26" presetClass="emph" presetSubtype="0" repeatCount="indefinite" fill="hold" grpId="1" nodeType="afterEffect">
                                  <p:stCondLst>
                                    <p:cond delay="0"/>
                                  </p:stCondLst>
                                  <p:endCondLst>
                                    <p:cond evt="onNext" delay="0">
                                      <p:tgtEl>
                                        <p:sldTgt/>
                                      </p:tgtEl>
                                    </p:cond>
                                  </p:endCondLst>
                                  <p:childTnLst>
                                    <p:animEffect transition="out" filter="fade">
                                      <p:cBhvr>
                                        <p:cTn id="35" dur="1000" tmFilter="0, 0; .2, .5; .8, .5; 1, 0"/>
                                        <p:tgtEl>
                                          <p:spTgt spid="21"/>
                                        </p:tgtEl>
                                      </p:cBhvr>
                                    </p:animEffect>
                                    <p:animScale>
                                      <p:cBhvr>
                                        <p:cTn id="36" dur="500" autoRev="1" fill="hold"/>
                                        <p:tgtEl>
                                          <p:spTgt spid="21"/>
                                        </p:tgtEl>
                                      </p:cBhvr>
                                      <p:by x="105000" y="105000"/>
                                    </p:animScale>
                                  </p:childTnLst>
                                </p:cTn>
                              </p:par>
                            </p:childTnLst>
                          </p:cTn>
                        </p:par>
                        <p:par>
                          <p:cTn id="37" fill="hold">
                            <p:stCondLst>
                              <p:cond delay="2000"/>
                            </p:stCondLst>
                            <p:childTnLst>
                              <p:par>
                                <p:cTn id="38" presetID="2" presetClass="entr" presetSubtype="4" fill="hold" grpId="0" nodeType="afterEffect">
                                  <p:stCondLst>
                                    <p:cond delay="0"/>
                                  </p:stCondLst>
                                  <p:childTnLst>
                                    <p:set>
                                      <p:cBhvr>
                                        <p:cTn id="39" dur="1" fill="hold">
                                          <p:stCondLst>
                                            <p:cond delay="0"/>
                                          </p:stCondLst>
                                        </p:cTn>
                                        <p:tgtEl>
                                          <p:spTgt spid="26"/>
                                        </p:tgtEl>
                                        <p:attrNameLst>
                                          <p:attrName>style.visibility</p:attrName>
                                        </p:attrNameLst>
                                      </p:cBhvr>
                                      <p:to>
                                        <p:strVal val="visible"/>
                                      </p:to>
                                    </p:set>
                                    <p:anim calcmode="lin" valueType="num">
                                      <p:cBhvr additive="base">
                                        <p:cTn id="40" dur="500" fill="hold"/>
                                        <p:tgtEl>
                                          <p:spTgt spid="26"/>
                                        </p:tgtEl>
                                        <p:attrNameLst>
                                          <p:attrName>ppt_x</p:attrName>
                                        </p:attrNameLst>
                                      </p:cBhvr>
                                      <p:tavLst>
                                        <p:tav tm="0">
                                          <p:val>
                                            <p:strVal val="#ppt_x"/>
                                          </p:val>
                                        </p:tav>
                                        <p:tav tm="100000">
                                          <p:val>
                                            <p:strVal val="#ppt_x"/>
                                          </p:val>
                                        </p:tav>
                                      </p:tavLst>
                                    </p:anim>
                                    <p:anim calcmode="lin" valueType="num">
                                      <p:cBhvr additive="base">
                                        <p:cTn id="41" dur="500" fill="hold"/>
                                        <p:tgtEl>
                                          <p:spTgt spid="26"/>
                                        </p:tgtEl>
                                        <p:attrNameLst>
                                          <p:attrName>ppt_y</p:attrName>
                                        </p:attrNameLst>
                                      </p:cBhvr>
                                      <p:tavLst>
                                        <p:tav tm="0">
                                          <p:val>
                                            <p:strVal val="1+#ppt_h/2"/>
                                          </p:val>
                                        </p:tav>
                                        <p:tav tm="100000">
                                          <p:val>
                                            <p:strVal val="#ppt_y"/>
                                          </p:val>
                                        </p:tav>
                                      </p:tavLst>
                                    </p:anim>
                                  </p:childTnLst>
                                </p:cTn>
                              </p:par>
                            </p:childTnLst>
                          </p:cTn>
                        </p:par>
                        <p:par>
                          <p:cTn id="42" fill="hold">
                            <p:stCondLst>
                              <p:cond delay="2500"/>
                            </p:stCondLst>
                            <p:childTnLst>
                              <p:par>
                                <p:cTn id="43" presetID="22" presetClass="entr" presetSubtype="8"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5" grpId="0" animBg="1"/>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753" y="1757038"/>
            <a:ext cx="11887200" cy="922020"/>
          </a:xfrm>
          <a:prstGeom prst="rect">
            <a:avLst/>
          </a:prstGeom>
          <a:solidFill>
            <a:schemeClr val="bg1">
              <a:lumMod val="95000"/>
              <a:lumOff val="5000"/>
            </a:schemeClr>
          </a:solidFill>
        </p:spPr>
        <p:txBody>
          <a:bodyPr wrap="square" rtlCol="0">
            <a:spAutoFit/>
          </a:bodyPr>
          <a:lstStyle/>
          <a:p>
            <a:pPr algn="ctr"/>
            <a:r>
              <a:rPr lang="en-US" sz="5400" smtClean="0">
                <a:latin typeface="Calibri" panose="020F0502020204030204" pitchFamily="34" charset="0"/>
                <a:cs typeface="Calibri" panose="020F0502020204030204" pitchFamily="34" charset="0"/>
              </a:rPr>
              <a:t>ListView</a:t>
            </a:r>
            <a:endParaRPr lang="en-US" sz="5400" dirty="0">
              <a:latin typeface="Calibri" panose="020F0502020204030204" pitchFamily="34" charset="0"/>
              <a:cs typeface="Calibri" panose="020F0502020204030204" pitchFamily="34" charset="0"/>
            </a:endParaRPr>
          </a:p>
        </p:txBody>
      </p:sp>
      <p:sp>
        <p:nvSpPr>
          <p:cNvPr id="3" name="TextBox 2"/>
          <p:cNvSpPr txBox="1"/>
          <p:nvPr/>
        </p:nvSpPr>
        <p:spPr>
          <a:xfrm>
            <a:off x="196753" y="2707969"/>
            <a:ext cx="11887200" cy="2308324"/>
          </a:xfrm>
          <a:prstGeom prst="rect">
            <a:avLst/>
          </a:prstGeom>
          <a:solidFill>
            <a:schemeClr val="accent2"/>
          </a:solidFill>
        </p:spPr>
        <p:txBody>
          <a:bodyPr wrap="square" rtlCol="0">
            <a:spAutoFit/>
          </a:bodyPr>
          <a:lstStyle/>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Mobile And Application Development</a:t>
            </a:r>
          </a:p>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Practical</a:t>
            </a:r>
            <a:r>
              <a:rPr lang="en-US" sz="3200" dirty="0">
                <a:latin typeface="Calibri" panose="020F0502020204030204" pitchFamily="34" charset="0"/>
                <a:cs typeface="Calibri" panose="020F0502020204030204" pitchFamily="34" charset="0"/>
              </a:rPr>
              <a:t> </a:t>
            </a:r>
            <a:endParaRPr lang="en-US" sz="3200" dirty="0" smtClean="0">
              <a:latin typeface="Calibri" panose="020F0502020204030204" pitchFamily="34" charset="0"/>
              <a:cs typeface="Calibri" panose="020F0502020204030204" pitchFamily="34" charset="0"/>
            </a:endParaRPr>
          </a:p>
          <a:p>
            <a:pPr indent="0" algn="ctr">
              <a:lnSpc>
                <a:spcPct val="150000"/>
              </a:lnSpc>
              <a:buFont typeface="Arial" panose="020B0604020202020204" pitchFamily="34" charset="0"/>
              <a:buNone/>
            </a:pPr>
            <a:endParaRPr lang="en-US" sz="3200" dirty="0">
              <a:latin typeface="Calibri" panose="020F0502020204030204" pitchFamily="34" charset="0"/>
              <a:cs typeface="Calibri" panose="020F0502020204030204" pitchFamily="34" charset="0"/>
            </a:endParaRPr>
          </a:p>
        </p:txBody>
      </p:sp>
      <p:sp>
        <p:nvSpPr>
          <p:cNvPr id="5" name="Rectangle 4"/>
          <p:cNvSpPr/>
          <p:nvPr/>
        </p:nvSpPr>
        <p:spPr>
          <a:xfrm>
            <a:off x="10666484" y="55490"/>
            <a:ext cx="1493669" cy="971667"/>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Flowchart: Alternate Process 5"/>
          <p:cNvSpPr/>
          <p:nvPr/>
        </p:nvSpPr>
        <p:spPr>
          <a:xfrm>
            <a:off x="1674254" y="5151549"/>
            <a:ext cx="8474298" cy="1197736"/>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3200" b="1" i="1" cap="all" dirty="0" smtClean="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Instructor: Muhammad Naeem Khan</a:t>
            </a:r>
            <a:endParaRPr lang="en-US" sz="3200" b="1" i="1" cap="all" dirty="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80">
                                          <p:stCondLst>
                                            <p:cond delay="0"/>
                                          </p:stCondLst>
                                        </p:cTn>
                                        <p:tgtEl>
                                          <p:spTgt spid="2"/>
                                        </p:tgtEl>
                                      </p:cBhvr>
                                    </p:animEffect>
                                    <p:anim calcmode="lin" valueType="num">
                                      <p:cBhvr>
                                        <p:cTn id="2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gtEl>
                                      </p:cBhvr>
                                      <p:to x="100000" y="60000"/>
                                    </p:animScale>
                                    <p:animScale>
                                      <p:cBhvr>
                                        <p:cTn id="32" dur="166" decel="50000">
                                          <p:stCondLst>
                                            <p:cond delay="676"/>
                                          </p:stCondLst>
                                        </p:cTn>
                                        <p:tgtEl>
                                          <p:spTgt spid="2"/>
                                        </p:tgtEl>
                                      </p:cBhvr>
                                      <p:to x="100000" y="100000"/>
                                    </p:animScale>
                                    <p:animScale>
                                      <p:cBhvr>
                                        <p:cTn id="33" dur="26">
                                          <p:stCondLst>
                                            <p:cond delay="1312"/>
                                          </p:stCondLst>
                                        </p:cTn>
                                        <p:tgtEl>
                                          <p:spTgt spid="2"/>
                                        </p:tgtEl>
                                      </p:cBhvr>
                                      <p:to x="100000" y="80000"/>
                                    </p:animScale>
                                    <p:animScale>
                                      <p:cBhvr>
                                        <p:cTn id="34" dur="166" decel="50000">
                                          <p:stCondLst>
                                            <p:cond delay="1338"/>
                                          </p:stCondLst>
                                        </p:cTn>
                                        <p:tgtEl>
                                          <p:spTgt spid="2"/>
                                        </p:tgtEl>
                                      </p:cBhvr>
                                      <p:to x="100000" y="100000"/>
                                    </p:animScale>
                                    <p:animScale>
                                      <p:cBhvr>
                                        <p:cTn id="35" dur="26">
                                          <p:stCondLst>
                                            <p:cond delay="1642"/>
                                          </p:stCondLst>
                                        </p:cTn>
                                        <p:tgtEl>
                                          <p:spTgt spid="2"/>
                                        </p:tgtEl>
                                      </p:cBhvr>
                                      <p:to x="100000" y="90000"/>
                                    </p:animScale>
                                    <p:animScale>
                                      <p:cBhvr>
                                        <p:cTn id="36" dur="166" decel="50000">
                                          <p:stCondLst>
                                            <p:cond delay="1668"/>
                                          </p:stCondLst>
                                        </p:cTn>
                                        <p:tgtEl>
                                          <p:spTgt spid="2"/>
                                        </p:tgtEl>
                                      </p:cBhvr>
                                      <p:to x="100000" y="100000"/>
                                    </p:animScale>
                                    <p:animScale>
                                      <p:cBhvr>
                                        <p:cTn id="37" dur="26">
                                          <p:stCondLst>
                                            <p:cond delay="1808"/>
                                          </p:stCondLst>
                                        </p:cTn>
                                        <p:tgtEl>
                                          <p:spTgt spid="2"/>
                                        </p:tgtEl>
                                      </p:cBhvr>
                                      <p:to x="100000" y="95000"/>
                                    </p:animScale>
                                    <p:animScale>
                                      <p:cBhvr>
                                        <p:cTn id="38" dur="166" decel="50000">
                                          <p:stCondLst>
                                            <p:cond delay="1834"/>
                                          </p:stCondLst>
                                        </p:cTn>
                                        <p:tgtEl>
                                          <p:spTgt spid="2"/>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circle(in)">
                                      <p:cBhvr>
                                        <p:cTn id="4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What is List?</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0198467" cy="3046988"/>
          </a:xfrm>
          <a:prstGeom prst="rect">
            <a:avLst/>
          </a:prstGeom>
          <a:noFill/>
        </p:spPr>
        <p:txBody>
          <a:bodyPr wrap="square" rtlCol="0">
            <a:spAutoFit/>
          </a:bodyPr>
          <a:lstStyle/>
          <a:p>
            <a:pPr marL="457200" indent="-457200">
              <a:lnSpc>
                <a:spcPct val="150000"/>
              </a:lnSpc>
              <a:buFont typeface="+mj-lt"/>
              <a:buAutoNum type="arabicPeriod"/>
            </a:pPr>
            <a:r>
              <a:rPr lang="en-US" sz="2800" dirty="0" smtClean="0">
                <a:latin typeface="Arial" panose="020B0604020202020204" pitchFamily="34" charset="0"/>
                <a:cs typeface="Arial" panose="020B0604020202020204" pitchFamily="34" charset="0"/>
              </a:rPr>
              <a:t>A list is any information displayed or organized in a logical or linear formation.</a:t>
            </a:r>
          </a:p>
          <a:p>
            <a:pPr marL="457200" indent="-457200">
              <a:lnSpc>
                <a:spcPct val="150000"/>
              </a:lnSpc>
              <a:buFont typeface="+mj-lt"/>
              <a:buAutoNum type="arabicPeriod"/>
            </a:pPr>
            <a:r>
              <a:rPr lang="en-US" sz="2800" dirty="0" smtClean="0">
                <a:latin typeface="Arial" panose="020B0604020202020204" pitchFamily="34" charset="0"/>
                <a:cs typeface="Arial" panose="020B0604020202020204" pitchFamily="34" charset="0"/>
              </a:rPr>
              <a:t>It is a view which groups several items and display them in vertical scrollable list.</a:t>
            </a:r>
          </a:p>
          <a:p>
            <a:pPr marL="457200" indent="-457200">
              <a:buFont typeface="+mj-lt"/>
              <a:buAutoNum type="arabicPeriod"/>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8553323"/>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What is List?</a:t>
            </a:r>
            <a:endParaRPr lang="en-US" sz="3600" dirty="0">
              <a:latin typeface="Calibri" panose="020F0502020204030204" pitchFamily="34" charset="0"/>
              <a:cs typeface="Calibri" panose="020F0502020204030204" pitchFamily="34" charset="0"/>
            </a:endParaRPr>
          </a:p>
        </p:txBody>
      </p:sp>
      <p:sp>
        <p:nvSpPr>
          <p:cNvPr id="2" name="Rectangle 1"/>
          <p:cNvSpPr/>
          <p:nvPr/>
        </p:nvSpPr>
        <p:spPr>
          <a:xfrm>
            <a:off x="321972" y="1146220"/>
            <a:ext cx="3709115" cy="5589431"/>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183487" y="1146219"/>
            <a:ext cx="3709115" cy="5589431"/>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045002" y="1146220"/>
            <a:ext cx="3709115" cy="5589431"/>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790497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2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80">
                                          <p:stCondLst>
                                            <p:cond delay="0"/>
                                          </p:stCondLst>
                                        </p:cTn>
                                        <p:tgtEl>
                                          <p:spTgt spid="8"/>
                                        </p:tgtEl>
                                      </p:cBhvr>
                                    </p:animEffect>
                                    <p:anim calcmode="lin" valueType="num">
                                      <p:cBhvr>
                                        <p:cTn id="1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3" dur="26">
                                          <p:stCondLst>
                                            <p:cond delay="650"/>
                                          </p:stCondLst>
                                        </p:cTn>
                                        <p:tgtEl>
                                          <p:spTgt spid="8"/>
                                        </p:tgtEl>
                                      </p:cBhvr>
                                      <p:to x="100000" y="60000"/>
                                    </p:animScale>
                                    <p:animScale>
                                      <p:cBhvr>
                                        <p:cTn id="24" dur="166" decel="50000">
                                          <p:stCondLst>
                                            <p:cond delay="676"/>
                                          </p:stCondLst>
                                        </p:cTn>
                                        <p:tgtEl>
                                          <p:spTgt spid="8"/>
                                        </p:tgtEl>
                                      </p:cBhvr>
                                      <p:to x="100000" y="100000"/>
                                    </p:animScale>
                                    <p:animScale>
                                      <p:cBhvr>
                                        <p:cTn id="25" dur="26">
                                          <p:stCondLst>
                                            <p:cond delay="1312"/>
                                          </p:stCondLst>
                                        </p:cTn>
                                        <p:tgtEl>
                                          <p:spTgt spid="8"/>
                                        </p:tgtEl>
                                      </p:cBhvr>
                                      <p:to x="100000" y="80000"/>
                                    </p:animScale>
                                    <p:animScale>
                                      <p:cBhvr>
                                        <p:cTn id="26" dur="166" decel="50000">
                                          <p:stCondLst>
                                            <p:cond delay="1338"/>
                                          </p:stCondLst>
                                        </p:cTn>
                                        <p:tgtEl>
                                          <p:spTgt spid="8"/>
                                        </p:tgtEl>
                                      </p:cBhvr>
                                      <p:to x="100000" y="100000"/>
                                    </p:animScale>
                                    <p:animScale>
                                      <p:cBhvr>
                                        <p:cTn id="27" dur="26">
                                          <p:stCondLst>
                                            <p:cond delay="1642"/>
                                          </p:stCondLst>
                                        </p:cTn>
                                        <p:tgtEl>
                                          <p:spTgt spid="8"/>
                                        </p:tgtEl>
                                      </p:cBhvr>
                                      <p:to x="100000" y="90000"/>
                                    </p:animScale>
                                    <p:animScale>
                                      <p:cBhvr>
                                        <p:cTn id="28" dur="166" decel="50000">
                                          <p:stCondLst>
                                            <p:cond delay="1668"/>
                                          </p:stCondLst>
                                        </p:cTn>
                                        <p:tgtEl>
                                          <p:spTgt spid="8"/>
                                        </p:tgtEl>
                                      </p:cBhvr>
                                      <p:to x="100000" y="100000"/>
                                    </p:animScale>
                                    <p:animScale>
                                      <p:cBhvr>
                                        <p:cTn id="29" dur="26">
                                          <p:stCondLst>
                                            <p:cond delay="1808"/>
                                          </p:stCondLst>
                                        </p:cTn>
                                        <p:tgtEl>
                                          <p:spTgt spid="8"/>
                                        </p:tgtEl>
                                      </p:cBhvr>
                                      <p:to x="100000" y="95000"/>
                                    </p:animScale>
                                    <p:animScale>
                                      <p:cBhvr>
                                        <p:cTn id="30"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How to create </a:t>
            </a:r>
            <a:r>
              <a:rPr lang="en-US" sz="3600" dirty="0" err="1" smtClean="0">
                <a:latin typeface="Calibri" panose="020F0502020204030204" pitchFamily="34" charset="0"/>
                <a:cs typeface="Calibri" panose="020F0502020204030204" pitchFamily="34" charset="0"/>
              </a:rPr>
              <a:t>ListView</a:t>
            </a:r>
            <a:r>
              <a:rPr lang="en-US" sz="3600" dirty="0" smtClean="0">
                <a:latin typeface="Calibri" panose="020F0502020204030204" pitchFamily="34" charset="0"/>
                <a:cs typeface="Calibri" panose="020F0502020204030204" pitchFamily="34" charset="0"/>
              </a:rPr>
              <a:t>?</a:t>
            </a:r>
            <a:endParaRPr lang="en-US" sz="3600" dirty="0">
              <a:latin typeface="Calibri" panose="020F0502020204030204" pitchFamily="34" charset="0"/>
              <a:cs typeface="Calibri" panose="020F050202020403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193157630"/>
              </p:ext>
            </p:extLst>
          </p:nvPr>
        </p:nvGraphicFramePr>
        <p:xfrm>
          <a:off x="344868" y="1138121"/>
          <a:ext cx="11722636" cy="5468967"/>
        </p:xfrm>
        <a:graphic>
          <a:graphicData uri="http://schemas.openxmlformats.org/drawingml/2006/table">
            <a:tbl>
              <a:tblPr firstRow="1" bandRow="1">
                <a:tableStyleId>{8EC20E35-A176-4012-BC5E-935CFFF8708E}</a:tableStyleId>
              </a:tblPr>
              <a:tblGrid>
                <a:gridCol w="2269543"/>
                <a:gridCol w="9453093"/>
              </a:tblGrid>
              <a:tr h="1140807">
                <a:tc>
                  <a:txBody>
                    <a:bodyPr/>
                    <a:lstStyle/>
                    <a:p>
                      <a:pPr algn="ctr"/>
                      <a:r>
                        <a:rPr lang="en-US" sz="2800" dirty="0" smtClean="0"/>
                        <a:t>XML</a:t>
                      </a:r>
                      <a:r>
                        <a:rPr lang="en-US" sz="2800" baseline="0" dirty="0" smtClean="0"/>
                        <a:t> Code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smtClean="0"/>
                        <a:t>Java Code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15055">
                <a:tc>
                  <a:txBody>
                    <a:bodyPr/>
                    <a:lstStyle/>
                    <a:p>
                      <a:pPr algn="ctr"/>
                      <a:r>
                        <a:rPr lang="en-US" dirty="0" smtClean="0"/>
                        <a:t>&lt;</a:t>
                      </a:r>
                      <a:r>
                        <a:rPr lang="en-US" dirty="0" err="1" smtClean="0"/>
                        <a:t>ListView</a:t>
                      </a:r>
                      <a:endParaRPr lang="en-US" dirty="0" smtClean="0"/>
                    </a:p>
                    <a:p>
                      <a:pPr algn="ctr"/>
                      <a:r>
                        <a:rPr lang="en-US" dirty="0" err="1" smtClean="0"/>
                        <a:t>Android</a:t>
                      </a:r>
                      <a:r>
                        <a:rPr lang="en-US" baseline="0" dirty="0" err="1" smtClean="0"/>
                        <a:t>:layout_width</a:t>
                      </a:r>
                      <a:r>
                        <a:rPr lang="en-US" baseline="0" dirty="0" smtClean="0"/>
                        <a:t> = “</a:t>
                      </a:r>
                      <a:r>
                        <a:rPr lang="en-US" baseline="0" dirty="0" err="1" smtClean="0"/>
                        <a:t>match_parent</a:t>
                      </a:r>
                      <a:r>
                        <a:rPr lang="en-US" baseline="0" dirty="0" smtClean="0"/>
                        <a:t>”</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smtClean="0"/>
                        <a:t>Android</a:t>
                      </a:r>
                      <a:r>
                        <a:rPr lang="en-US" baseline="0" dirty="0" err="1" smtClean="0"/>
                        <a:t>:layout_width</a:t>
                      </a:r>
                      <a:r>
                        <a:rPr lang="en-US" baseline="0" dirty="0" smtClean="0"/>
                        <a:t> = “</a:t>
                      </a:r>
                      <a:r>
                        <a:rPr lang="en-US" baseline="0" dirty="0" err="1" smtClean="0"/>
                        <a:t>wrap_content</a:t>
                      </a:r>
                      <a:r>
                        <a:rPr lang="en-US" baseline="0" dirty="0" smtClean="0"/>
                        <a:t>”</a:t>
                      </a:r>
                    </a:p>
                    <a:p>
                      <a:pPr marL="0" marR="0" indent="0" algn="ctr" defTabSz="914400" rtl="0" eaLnBrk="1" fontAlgn="auto" latinLnBrk="0" hangingPunct="1">
                        <a:lnSpc>
                          <a:spcPct val="100000"/>
                        </a:lnSpc>
                        <a:spcBef>
                          <a:spcPts val="0"/>
                        </a:spcBef>
                        <a:spcAft>
                          <a:spcPts val="0"/>
                        </a:spcAft>
                        <a:buClrTx/>
                        <a:buSzTx/>
                        <a:buFontTx/>
                        <a:buNone/>
                        <a:tabLst/>
                        <a:defRPr/>
                      </a:pPr>
                      <a:r>
                        <a:rPr lang="en-US" baseline="0" dirty="0" err="1" smtClean="0"/>
                        <a:t>Android:id</a:t>
                      </a:r>
                      <a:r>
                        <a:rPr lang="en-US" baseline="0" dirty="0" smtClean="0"/>
                        <a:t> = “@+id/</a:t>
                      </a:r>
                      <a:r>
                        <a:rPr lang="en-US" baseline="0" dirty="0" err="1" smtClean="0"/>
                        <a:t>listview</a:t>
                      </a:r>
                      <a:r>
                        <a:rPr lang="en-US" baseline="0" dirty="0" smtClean="0"/>
                        <a:t>”/&gt;</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err="1" smtClean="0"/>
                        <a:t>ListView</a:t>
                      </a:r>
                      <a:r>
                        <a:rPr lang="en-US" sz="2000" dirty="0" smtClean="0"/>
                        <a:t> </a:t>
                      </a:r>
                      <a:r>
                        <a:rPr lang="en-US" sz="2000" baseline="0" dirty="0" err="1" smtClean="0"/>
                        <a:t>listview</a:t>
                      </a:r>
                      <a:r>
                        <a:rPr lang="en-US" sz="2000" baseline="0" dirty="0" smtClean="0"/>
                        <a:t>;</a:t>
                      </a:r>
                    </a:p>
                    <a:p>
                      <a:pPr algn="l"/>
                      <a:r>
                        <a:rPr lang="en-US" sz="2000" baseline="0" dirty="0" err="1" smtClean="0"/>
                        <a:t>ArrayList</a:t>
                      </a:r>
                      <a:r>
                        <a:rPr lang="en-US" sz="2000" baseline="0" dirty="0" smtClean="0"/>
                        <a:t>&lt;String&gt; </a:t>
                      </a:r>
                      <a:r>
                        <a:rPr lang="en-US" sz="2000" baseline="0" dirty="0" err="1" smtClean="0"/>
                        <a:t>arrName</a:t>
                      </a:r>
                      <a:r>
                        <a:rPr lang="en-US" sz="2000" baseline="0" dirty="0" smtClean="0"/>
                        <a:t> = new </a:t>
                      </a:r>
                      <a:r>
                        <a:rPr lang="en-US" sz="2000" baseline="0" dirty="0" err="1" smtClean="0"/>
                        <a:t>ArrayList</a:t>
                      </a:r>
                      <a:r>
                        <a:rPr lang="en-US" sz="2000" baseline="0" dirty="0" smtClean="0"/>
                        <a:t>();</a:t>
                      </a:r>
                    </a:p>
                    <a:p>
                      <a:pPr algn="l"/>
                      <a:r>
                        <a:rPr lang="en-US" sz="2000" baseline="0" dirty="0" err="1" smtClean="0"/>
                        <a:t>int</a:t>
                      </a:r>
                      <a:r>
                        <a:rPr lang="en-US" sz="2000" baseline="0" dirty="0" smtClean="0"/>
                        <a:t>[] </a:t>
                      </a:r>
                      <a:r>
                        <a:rPr lang="en-US" sz="2000" baseline="0" dirty="0" err="1" smtClean="0"/>
                        <a:t>arrNo</a:t>
                      </a:r>
                      <a:r>
                        <a:rPr lang="en-US" sz="2000" baseline="0" dirty="0" smtClean="0"/>
                        <a:t> = new </a:t>
                      </a:r>
                      <a:r>
                        <a:rPr lang="en-US" sz="2000" baseline="0" dirty="0" err="1" smtClean="0"/>
                        <a:t>int</a:t>
                      </a:r>
                      <a:r>
                        <a:rPr lang="en-US" sz="2000" baseline="0" dirty="0" smtClean="0"/>
                        <a:t>[] {1,2,3,4,5};</a:t>
                      </a:r>
                    </a:p>
                    <a:p>
                      <a:pPr algn="l"/>
                      <a:r>
                        <a:rPr lang="en-US" sz="2000" baseline="0" dirty="0" err="1" smtClean="0"/>
                        <a:t>listview</a:t>
                      </a:r>
                      <a:r>
                        <a:rPr lang="en-US" sz="2000" baseline="0" dirty="0" smtClean="0"/>
                        <a:t> = </a:t>
                      </a:r>
                      <a:r>
                        <a:rPr lang="en-US" sz="2000" baseline="0" dirty="0" err="1" smtClean="0"/>
                        <a:t>findViewById</a:t>
                      </a:r>
                      <a:r>
                        <a:rPr lang="en-US" sz="2000" baseline="0" dirty="0" smtClean="0"/>
                        <a:t>(</a:t>
                      </a:r>
                      <a:r>
                        <a:rPr lang="en-US" sz="2000" baseline="0" dirty="0" err="1" smtClean="0"/>
                        <a:t>R.id.listview</a:t>
                      </a:r>
                      <a:r>
                        <a:rPr lang="en-US" sz="2000" baseline="0" dirty="0" smtClean="0"/>
                        <a:t>);</a:t>
                      </a:r>
                    </a:p>
                    <a:p>
                      <a:pPr algn="l"/>
                      <a:r>
                        <a:rPr lang="en-US" dirty="0" err="1" smtClean="0"/>
                        <a:t>arrName.add</a:t>
                      </a:r>
                      <a:r>
                        <a:rPr lang="en-US" dirty="0" smtClean="0"/>
                        <a:t>(“Naeem”);</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arrName.add</a:t>
                      </a:r>
                      <a:r>
                        <a:rPr lang="en-US" dirty="0" smtClean="0"/>
                        <a:t>(“Khan”);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ArrayAdapter</a:t>
                      </a:r>
                      <a:r>
                        <a:rPr lang="en-US" dirty="0" smtClean="0"/>
                        <a:t>&lt;String&gt; adapter = new </a:t>
                      </a:r>
                      <a:r>
                        <a:rPr lang="en-US" dirty="0" err="1" smtClean="0"/>
                        <a:t>ArrayAdapter</a:t>
                      </a:r>
                      <a:r>
                        <a:rPr lang="en-US" dirty="0" smtClean="0"/>
                        <a:t>&lt;&gt;(</a:t>
                      </a:r>
                      <a:r>
                        <a:rPr lang="en-US" dirty="0" err="1" smtClean="0"/>
                        <a:t>getApplicationContext</a:t>
                      </a:r>
                      <a:r>
                        <a:rPr lang="en-US" dirty="0" smtClean="0"/>
                        <a:t>(),android.R.layout.simple_list_item_1,arrName);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listView.setAdapter</a:t>
                      </a:r>
                      <a:r>
                        <a:rPr lang="en-US" dirty="0" smtClean="0"/>
                        <a:t>(adapter);</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Listview.setOnItemClickListener</a:t>
                      </a:r>
                      <a:r>
                        <a:rPr lang="en-US" dirty="0" smtClean="0"/>
                        <a:t>(new </a:t>
                      </a:r>
                      <a:r>
                        <a:rPr lang="en-US" dirty="0" err="1" smtClean="0"/>
                        <a:t>AdapterView</a:t>
                      </a:r>
                      <a:r>
                        <a:rPr lang="en-US" dirty="0" smtClean="0"/>
                        <a:t>. </a:t>
                      </a:r>
                      <a:r>
                        <a:rPr lang="en-US" dirty="0" err="1" smtClean="0"/>
                        <a:t>OnItemClickListener</a:t>
                      </a: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if(position = = 0)</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Toast.makeText</a:t>
                      </a:r>
                      <a:r>
                        <a:rPr lang="en-US" dirty="0" smtClean="0"/>
                        <a:t>(“Clicked First Item”);</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pPr algn="l"/>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88714075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How to create Spinner?</a:t>
            </a:r>
            <a:endParaRPr lang="en-US" sz="3600" dirty="0">
              <a:latin typeface="Calibri" panose="020F0502020204030204" pitchFamily="34" charset="0"/>
              <a:cs typeface="Calibri" panose="020F050202020403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40248867"/>
              </p:ext>
            </p:extLst>
          </p:nvPr>
        </p:nvGraphicFramePr>
        <p:xfrm>
          <a:off x="344868" y="1138121"/>
          <a:ext cx="11722636" cy="5455862"/>
        </p:xfrm>
        <a:graphic>
          <a:graphicData uri="http://schemas.openxmlformats.org/drawingml/2006/table">
            <a:tbl>
              <a:tblPr firstRow="1" bandRow="1">
                <a:tableStyleId>{8EC20E35-A176-4012-BC5E-935CFFF8708E}</a:tableStyleId>
              </a:tblPr>
              <a:tblGrid>
                <a:gridCol w="2269543"/>
                <a:gridCol w="9453093"/>
              </a:tblGrid>
              <a:tr h="1140807">
                <a:tc>
                  <a:txBody>
                    <a:bodyPr/>
                    <a:lstStyle/>
                    <a:p>
                      <a:pPr algn="ctr"/>
                      <a:r>
                        <a:rPr lang="en-US" sz="2800" dirty="0" smtClean="0"/>
                        <a:t>XML</a:t>
                      </a:r>
                      <a:r>
                        <a:rPr lang="en-US" sz="2800" baseline="0" dirty="0" smtClean="0"/>
                        <a:t> Code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smtClean="0"/>
                        <a:t>Java Code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15055">
                <a:tc>
                  <a:txBody>
                    <a:bodyPr/>
                    <a:lstStyle/>
                    <a:p>
                      <a:pPr algn="ctr"/>
                      <a:r>
                        <a:rPr lang="en-US" dirty="0" smtClean="0"/>
                        <a:t>&lt;</a:t>
                      </a:r>
                      <a:r>
                        <a:rPr lang="en-US" dirty="0" err="1" smtClean="0"/>
                        <a:t>ListView</a:t>
                      </a:r>
                      <a:endParaRPr lang="en-US" dirty="0" smtClean="0"/>
                    </a:p>
                    <a:p>
                      <a:pPr algn="ctr"/>
                      <a:r>
                        <a:rPr lang="en-US" dirty="0" err="1" smtClean="0"/>
                        <a:t>Android</a:t>
                      </a:r>
                      <a:r>
                        <a:rPr lang="en-US" baseline="0" dirty="0" err="1" smtClean="0"/>
                        <a:t>:layout_width</a:t>
                      </a:r>
                      <a:r>
                        <a:rPr lang="en-US" baseline="0" dirty="0" smtClean="0"/>
                        <a:t> = “</a:t>
                      </a:r>
                      <a:r>
                        <a:rPr lang="en-US" baseline="0" dirty="0" err="1" smtClean="0"/>
                        <a:t>match_parent</a:t>
                      </a:r>
                      <a:r>
                        <a:rPr lang="en-US" baseline="0" dirty="0" smtClean="0"/>
                        <a:t>”</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smtClean="0"/>
                        <a:t>Android</a:t>
                      </a:r>
                      <a:r>
                        <a:rPr lang="en-US" baseline="0" dirty="0" err="1" smtClean="0"/>
                        <a:t>:layout_width</a:t>
                      </a:r>
                      <a:r>
                        <a:rPr lang="en-US" baseline="0" dirty="0" smtClean="0"/>
                        <a:t> = “</a:t>
                      </a:r>
                      <a:r>
                        <a:rPr lang="en-US" baseline="0" dirty="0" err="1" smtClean="0"/>
                        <a:t>wrap_content</a:t>
                      </a:r>
                      <a:r>
                        <a:rPr lang="en-US" baseline="0" dirty="0" smtClean="0"/>
                        <a:t>”</a:t>
                      </a:r>
                    </a:p>
                    <a:p>
                      <a:pPr marL="0" marR="0" indent="0" algn="ctr" defTabSz="914400" rtl="0" eaLnBrk="1" fontAlgn="auto" latinLnBrk="0" hangingPunct="1">
                        <a:lnSpc>
                          <a:spcPct val="100000"/>
                        </a:lnSpc>
                        <a:spcBef>
                          <a:spcPts val="0"/>
                        </a:spcBef>
                        <a:spcAft>
                          <a:spcPts val="0"/>
                        </a:spcAft>
                        <a:buClrTx/>
                        <a:buSzTx/>
                        <a:buFontTx/>
                        <a:buNone/>
                        <a:tabLst/>
                        <a:defRPr/>
                      </a:pPr>
                      <a:r>
                        <a:rPr lang="en-US" baseline="0" dirty="0" err="1" smtClean="0"/>
                        <a:t>Android:id</a:t>
                      </a:r>
                      <a:r>
                        <a:rPr lang="en-US" baseline="0" dirty="0" smtClean="0"/>
                        <a:t> = “@+id/</a:t>
                      </a:r>
                      <a:r>
                        <a:rPr lang="en-US" baseline="0" dirty="0" err="1" smtClean="0"/>
                        <a:t>listview</a:t>
                      </a:r>
                      <a:r>
                        <a:rPr lang="en-US" baseline="0" dirty="0" smtClean="0"/>
                        <a:t>”/&gt;</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dirty="0" smtClean="0"/>
                        <a:t>Spinner </a:t>
                      </a:r>
                      <a:r>
                        <a:rPr lang="en-US" sz="2000" baseline="0" dirty="0" err="1" smtClean="0"/>
                        <a:t>spinner</a:t>
                      </a:r>
                      <a:r>
                        <a:rPr lang="en-US" sz="2000" baseline="0" dirty="0" smtClean="0"/>
                        <a:t>;</a:t>
                      </a:r>
                    </a:p>
                    <a:p>
                      <a:pPr algn="l"/>
                      <a:r>
                        <a:rPr lang="en-US" sz="2000" baseline="0" dirty="0" err="1" smtClean="0"/>
                        <a:t>ArrayList</a:t>
                      </a:r>
                      <a:r>
                        <a:rPr lang="en-US" sz="2000" baseline="0" dirty="0" smtClean="0"/>
                        <a:t>&lt;String&gt; Country = new </a:t>
                      </a:r>
                      <a:r>
                        <a:rPr lang="en-US" sz="2000" baseline="0" dirty="0" err="1" smtClean="0"/>
                        <a:t>ArrayList</a:t>
                      </a:r>
                      <a:r>
                        <a:rPr lang="en-US" sz="2000" baseline="0" dirty="0" smtClean="0"/>
                        <a:t>();</a:t>
                      </a:r>
                    </a:p>
                    <a:p>
                      <a:pPr algn="l"/>
                      <a:endParaRPr lang="en-US" sz="2000" baseline="0" dirty="0" smtClean="0"/>
                    </a:p>
                    <a:p>
                      <a:pPr algn="l"/>
                      <a:r>
                        <a:rPr lang="en-US" sz="2000" baseline="0" dirty="0" err="1" smtClean="0"/>
                        <a:t>listview</a:t>
                      </a:r>
                      <a:r>
                        <a:rPr lang="en-US" sz="2000" baseline="0" dirty="0" smtClean="0"/>
                        <a:t> = </a:t>
                      </a:r>
                      <a:r>
                        <a:rPr lang="en-US" sz="2000" baseline="0" dirty="0" err="1" smtClean="0"/>
                        <a:t>findViewById</a:t>
                      </a:r>
                      <a:r>
                        <a:rPr lang="en-US" sz="2000" baseline="0" dirty="0" smtClean="0"/>
                        <a:t>(</a:t>
                      </a:r>
                      <a:r>
                        <a:rPr lang="en-US" sz="2000" baseline="0" dirty="0" err="1" smtClean="0"/>
                        <a:t>R.id.spinner</a:t>
                      </a:r>
                      <a:r>
                        <a:rPr lang="en-US" sz="2000" baseline="0" dirty="0" smtClean="0"/>
                        <a:t>);</a:t>
                      </a:r>
                    </a:p>
                    <a:p>
                      <a:pPr algn="l"/>
                      <a:r>
                        <a:rPr lang="en-US" sz="1800" baseline="0" dirty="0" err="1" smtClean="0"/>
                        <a:t>spinner</a:t>
                      </a:r>
                      <a:r>
                        <a:rPr lang="en-US" dirty="0" err="1" smtClean="0"/>
                        <a:t>.add</a:t>
                      </a:r>
                      <a:r>
                        <a:rPr lang="en-US" dirty="0" smtClean="0"/>
                        <a:t>(“Naeem”);</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aseline="0" dirty="0" err="1" smtClean="0"/>
                        <a:t>spinner</a:t>
                      </a:r>
                      <a:r>
                        <a:rPr lang="en-US" dirty="0" err="1" smtClean="0"/>
                        <a:t>.add</a:t>
                      </a:r>
                      <a:r>
                        <a:rPr lang="en-US" dirty="0" smtClean="0"/>
                        <a:t>(“Khan”);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ArrayAdapter</a:t>
                      </a:r>
                      <a:r>
                        <a:rPr lang="en-US" dirty="0" smtClean="0"/>
                        <a:t>&lt;String&gt; </a:t>
                      </a:r>
                      <a:r>
                        <a:rPr lang="en-US" dirty="0" err="1" smtClean="0"/>
                        <a:t>spinnerAdapter</a:t>
                      </a:r>
                      <a:r>
                        <a:rPr lang="en-US" dirty="0" smtClean="0"/>
                        <a:t> = new </a:t>
                      </a:r>
                      <a:r>
                        <a:rPr lang="en-US" dirty="0" err="1" smtClean="0"/>
                        <a:t>ArrayAdapter</a:t>
                      </a:r>
                      <a:r>
                        <a:rPr lang="en-US" dirty="0" smtClean="0"/>
                        <a:t>&lt;&gt;(this,android.R.layout.simple_list_item_1,Country);</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aseline="0" dirty="0" err="1" smtClean="0"/>
                        <a:t>spinner</a:t>
                      </a:r>
                      <a:r>
                        <a:rPr lang="en-US" dirty="0" err="1" smtClean="0"/>
                        <a:t>.setAdapter</a:t>
                      </a:r>
                      <a:r>
                        <a:rPr lang="en-US" dirty="0" smtClean="0"/>
                        <a:t>(</a:t>
                      </a:r>
                      <a:r>
                        <a:rPr lang="en-US" dirty="0" err="1" smtClean="0"/>
                        <a:t>spinnerAdapter</a:t>
                      </a:r>
                      <a:r>
                        <a:rPr lang="en-US" dirty="0" smtClean="0"/>
                        <a:t>);</a:t>
                      </a:r>
                    </a:p>
                    <a:p>
                      <a:pPr algn="l"/>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953365242"/>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How to create AutoComplete</a:t>
            </a:r>
            <a:endParaRPr lang="en-US" sz="3600" dirty="0">
              <a:latin typeface="Calibri" panose="020F0502020204030204" pitchFamily="34" charset="0"/>
              <a:cs typeface="Calibri" panose="020F050202020403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650017942"/>
              </p:ext>
            </p:extLst>
          </p:nvPr>
        </p:nvGraphicFramePr>
        <p:xfrm>
          <a:off x="344868" y="1138121"/>
          <a:ext cx="11722636" cy="5455862"/>
        </p:xfrm>
        <a:graphic>
          <a:graphicData uri="http://schemas.openxmlformats.org/drawingml/2006/table">
            <a:tbl>
              <a:tblPr firstRow="1" bandRow="1">
                <a:tableStyleId>{8EC20E35-A176-4012-BC5E-935CFFF8708E}</a:tableStyleId>
              </a:tblPr>
              <a:tblGrid>
                <a:gridCol w="2269543"/>
                <a:gridCol w="9453093"/>
              </a:tblGrid>
              <a:tr h="1140807">
                <a:tc>
                  <a:txBody>
                    <a:bodyPr/>
                    <a:lstStyle/>
                    <a:p>
                      <a:pPr algn="ctr"/>
                      <a:r>
                        <a:rPr lang="en-US" sz="2800" dirty="0" smtClean="0"/>
                        <a:t>XML</a:t>
                      </a:r>
                      <a:r>
                        <a:rPr lang="en-US" sz="2800" baseline="0" dirty="0" smtClean="0"/>
                        <a:t> Code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smtClean="0"/>
                        <a:t>Java Code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15055">
                <a:tc>
                  <a:txBody>
                    <a:bodyPr/>
                    <a:lstStyle/>
                    <a:p>
                      <a:pPr algn="ctr"/>
                      <a:r>
                        <a:rPr lang="en-US" dirty="0" smtClean="0"/>
                        <a:t>&lt;</a:t>
                      </a:r>
                      <a:r>
                        <a:rPr lang="en-US" dirty="0" err="1" smtClean="0"/>
                        <a:t>AutoCompleteTextView</a:t>
                      </a:r>
                      <a:endParaRPr lang="en-US" dirty="0" smtClean="0"/>
                    </a:p>
                    <a:p>
                      <a:pPr algn="ctr"/>
                      <a:r>
                        <a:rPr lang="en-US" dirty="0" err="1" smtClean="0"/>
                        <a:t>Android</a:t>
                      </a:r>
                      <a:r>
                        <a:rPr lang="en-US" baseline="0" dirty="0" err="1" smtClean="0"/>
                        <a:t>:layout_width</a:t>
                      </a:r>
                      <a:r>
                        <a:rPr lang="en-US" baseline="0" dirty="0" smtClean="0"/>
                        <a:t> = “</a:t>
                      </a:r>
                      <a:r>
                        <a:rPr lang="en-US" baseline="0" dirty="0" err="1" smtClean="0"/>
                        <a:t>match_parent</a:t>
                      </a:r>
                      <a:r>
                        <a:rPr lang="en-US" baseline="0" dirty="0" smtClean="0"/>
                        <a:t>”</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smtClean="0"/>
                        <a:t>Android</a:t>
                      </a:r>
                      <a:r>
                        <a:rPr lang="en-US" baseline="0" dirty="0" err="1" smtClean="0"/>
                        <a:t>:layout_width</a:t>
                      </a:r>
                      <a:r>
                        <a:rPr lang="en-US" baseline="0" dirty="0" smtClean="0"/>
                        <a:t> = “</a:t>
                      </a:r>
                      <a:r>
                        <a:rPr lang="en-US" baseline="0" dirty="0" err="1" smtClean="0"/>
                        <a:t>wrap_content</a:t>
                      </a:r>
                      <a:r>
                        <a:rPr lang="en-US" baseline="0" dirty="0" smtClean="0"/>
                        <a:t>”</a:t>
                      </a:r>
                    </a:p>
                    <a:p>
                      <a:pPr marL="0" marR="0" indent="0" algn="ctr" defTabSz="914400" rtl="0" eaLnBrk="1" fontAlgn="auto" latinLnBrk="0" hangingPunct="1">
                        <a:lnSpc>
                          <a:spcPct val="100000"/>
                        </a:lnSpc>
                        <a:spcBef>
                          <a:spcPts val="0"/>
                        </a:spcBef>
                        <a:spcAft>
                          <a:spcPts val="0"/>
                        </a:spcAft>
                        <a:buClrTx/>
                        <a:buSzTx/>
                        <a:buFontTx/>
                        <a:buNone/>
                        <a:tabLst/>
                        <a:defRPr/>
                      </a:pPr>
                      <a:r>
                        <a:rPr lang="en-US" baseline="0" dirty="0" err="1" smtClean="0"/>
                        <a:t>Android:id</a:t>
                      </a:r>
                      <a:r>
                        <a:rPr lang="en-US" baseline="0" dirty="0" smtClean="0"/>
                        <a:t> = “@+id/</a:t>
                      </a:r>
                      <a:r>
                        <a:rPr lang="en-US" baseline="0" dirty="0" err="1" smtClean="0"/>
                        <a:t>actxtview</a:t>
                      </a:r>
                      <a:r>
                        <a:rPr lang="en-US" baseline="0" dirty="0" smtClean="0"/>
                        <a:t>”</a:t>
                      </a:r>
                    </a:p>
                    <a:p>
                      <a:pPr marL="0" marR="0" indent="0" algn="ctr" defTabSz="914400" rtl="0" eaLnBrk="1" fontAlgn="auto" latinLnBrk="0" hangingPunct="1">
                        <a:lnSpc>
                          <a:spcPct val="100000"/>
                        </a:lnSpc>
                        <a:spcBef>
                          <a:spcPts val="0"/>
                        </a:spcBef>
                        <a:spcAft>
                          <a:spcPts val="0"/>
                        </a:spcAft>
                        <a:buClrTx/>
                        <a:buSzTx/>
                        <a:buFontTx/>
                        <a:buNone/>
                        <a:tabLst/>
                        <a:defRPr/>
                      </a:pPr>
                      <a:r>
                        <a:rPr lang="en-US" baseline="0" dirty="0" err="1" smtClean="0"/>
                        <a:t>Android:hint</a:t>
                      </a:r>
                      <a:r>
                        <a:rPr lang="en-US" baseline="0" dirty="0" smtClean="0"/>
                        <a:t> = “Search here..”/&gt;</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smtClean="0"/>
                        <a:t>AutoCompleteTextView</a:t>
                      </a:r>
                      <a:r>
                        <a:rPr lang="en-US" sz="2000" baseline="0" dirty="0" smtClean="0"/>
                        <a:t> </a:t>
                      </a:r>
                      <a:r>
                        <a:rPr lang="en-US" sz="2000" baseline="0" dirty="0" err="1" smtClean="0"/>
                        <a:t>actxtview</a:t>
                      </a:r>
                      <a:r>
                        <a:rPr lang="en-US" sz="2000" baseline="0" dirty="0" smtClean="0"/>
                        <a:t>;</a:t>
                      </a:r>
                    </a:p>
                    <a:p>
                      <a:pPr algn="l"/>
                      <a:r>
                        <a:rPr lang="en-US" sz="2000" baseline="0" dirty="0" err="1" smtClean="0"/>
                        <a:t>ArrayList</a:t>
                      </a:r>
                      <a:r>
                        <a:rPr lang="en-US" sz="2000" baseline="0" dirty="0" smtClean="0"/>
                        <a:t>&lt;String&gt; </a:t>
                      </a:r>
                      <a:r>
                        <a:rPr lang="en-US" sz="2000" baseline="0" dirty="0" err="1" smtClean="0"/>
                        <a:t>arrLanguage</a:t>
                      </a:r>
                      <a:r>
                        <a:rPr lang="en-US" sz="2000" baseline="0" dirty="0" smtClean="0"/>
                        <a:t>= new </a:t>
                      </a:r>
                      <a:r>
                        <a:rPr lang="en-US" sz="2000" baseline="0" dirty="0" err="1" smtClean="0"/>
                        <a:t>ArrayList</a:t>
                      </a:r>
                      <a:r>
                        <a:rPr lang="en-US" sz="2000" baseline="0" dirty="0" smtClean="0"/>
                        <a:t>();</a:t>
                      </a:r>
                    </a:p>
                    <a:p>
                      <a:pPr algn="l"/>
                      <a:endParaRPr lang="en-US" sz="2000" baseline="0" dirty="0" smtClean="0"/>
                    </a:p>
                    <a:p>
                      <a:pPr algn="l"/>
                      <a:r>
                        <a:rPr lang="en-US" sz="2000" baseline="0" dirty="0" err="1" smtClean="0"/>
                        <a:t>actxtview</a:t>
                      </a:r>
                      <a:r>
                        <a:rPr lang="en-US" sz="2000" baseline="0" dirty="0" smtClean="0"/>
                        <a:t>= </a:t>
                      </a:r>
                      <a:r>
                        <a:rPr lang="en-US" sz="2000" baseline="0" dirty="0" err="1" smtClean="0"/>
                        <a:t>findViewById</a:t>
                      </a:r>
                      <a:r>
                        <a:rPr lang="en-US" sz="2000" baseline="0" dirty="0" smtClean="0"/>
                        <a:t>(R.id. </a:t>
                      </a:r>
                      <a:r>
                        <a:rPr lang="en-US" sz="2000" baseline="0" dirty="0" err="1" smtClean="0"/>
                        <a:t>actxtview</a:t>
                      </a:r>
                      <a:r>
                        <a:rPr lang="en-US" sz="2000" baseline="0" dirty="0" smtClean="0"/>
                        <a:t>);</a:t>
                      </a:r>
                    </a:p>
                    <a:p>
                      <a:pPr algn="l"/>
                      <a:r>
                        <a:rPr lang="en-US" sz="1800" baseline="0" dirty="0" err="1" smtClean="0"/>
                        <a:t>arrLanguager</a:t>
                      </a:r>
                      <a:r>
                        <a:rPr lang="en-US" dirty="0" err="1" smtClean="0"/>
                        <a:t>.add</a:t>
                      </a:r>
                      <a:r>
                        <a:rPr lang="en-US" dirty="0" smtClean="0"/>
                        <a:t>(“Naeem”);</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aseline="0" dirty="0" err="1" smtClean="0"/>
                        <a:t>arrLanguage</a:t>
                      </a:r>
                      <a:r>
                        <a:rPr lang="en-US" dirty="0" err="1" smtClean="0"/>
                        <a:t>.add</a:t>
                      </a:r>
                      <a:r>
                        <a:rPr lang="en-US" dirty="0" smtClean="0"/>
                        <a:t>(“Khan”);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ArrayAdapter</a:t>
                      </a:r>
                      <a:r>
                        <a:rPr lang="en-US" dirty="0" smtClean="0"/>
                        <a:t>&lt;String&gt; </a:t>
                      </a:r>
                      <a:r>
                        <a:rPr lang="en-US" dirty="0" err="1" smtClean="0"/>
                        <a:t>actAdapter</a:t>
                      </a:r>
                      <a:r>
                        <a:rPr lang="en-US" dirty="0" smtClean="0"/>
                        <a:t> = new </a:t>
                      </a:r>
                      <a:r>
                        <a:rPr lang="en-US" dirty="0" err="1" smtClean="0"/>
                        <a:t>ArrayAdapter</a:t>
                      </a:r>
                      <a:r>
                        <a:rPr lang="en-US" dirty="0" smtClean="0"/>
                        <a:t>&lt;&gt;(this,android.R.layout.simple_list_item_1,arrLanguage);</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aseline="0" dirty="0" err="1" smtClean="0"/>
                        <a:t>actxtview</a:t>
                      </a:r>
                      <a:r>
                        <a:rPr lang="en-US" dirty="0" err="1" smtClean="0"/>
                        <a:t>.setAdapter</a:t>
                      </a:r>
                      <a:r>
                        <a:rPr lang="en-US" dirty="0" smtClean="0"/>
                        <a:t>(</a:t>
                      </a:r>
                      <a:r>
                        <a:rPr lang="en-US" dirty="0" err="1" smtClean="0"/>
                        <a:t>actAdapter</a:t>
                      </a: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Actxtview.setThreshold</a:t>
                      </a:r>
                      <a:r>
                        <a:rPr lang="en-US" smtClean="0"/>
                        <a:t>(1);</a:t>
                      </a:r>
                      <a:endParaRPr lang="en-US" dirty="0" smtClean="0"/>
                    </a:p>
                    <a:p>
                      <a:pPr algn="l"/>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561724536"/>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What is </a:t>
            </a:r>
            <a:r>
              <a:rPr lang="en-US" sz="3600" b="1" dirty="0" err="1"/>
              <a:t>TableLayout</a:t>
            </a:r>
            <a:r>
              <a:rPr lang="en-US" sz="3600" dirty="0" smtClean="0">
                <a:latin typeface="Calibri" panose="020F0502020204030204" pitchFamily="34" charset="0"/>
                <a:cs typeface="Calibri" panose="020F0502020204030204" pitchFamily="34" charset="0"/>
              </a:rPr>
              <a:t>?</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2029765" cy="4616648"/>
          </a:xfrm>
          <a:prstGeom prst="rect">
            <a:avLst/>
          </a:prstGeom>
          <a:noFill/>
        </p:spPr>
        <p:txBody>
          <a:bodyPr wrap="square" rtlCol="0">
            <a:spAutoFit/>
          </a:bodyPr>
          <a:lstStyle/>
          <a:p>
            <a:pPr marL="457200" indent="-457200">
              <a:lnSpc>
                <a:spcPct val="150000"/>
              </a:lnSpc>
              <a:buFont typeface="+mj-lt"/>
              <a:buAutoNum type="arabicPeriod"/>
            </a:pPr>
            <a:r>
              <a:rPr lang="en-US" sz="2800" dirty="0"/>
              <a:t>Android </a:t>
            </a:r>
            <a:r>
              <a:rPr lang="en-US" sz="2800" b="1" dirty="0" err="1"/>
              <a:t>TableLayout</a:t>
            </a:r>
            <a:r>
              <a:rPr lang="en-US" sz="2800" dirty="0"/>
              <a:t> is a </a:t>
            </a:r>
            <a:r>
              <a:rPr lang="en-US" sz="2800" dirty="0" err="1"/>
              <a:t>ViewGroup</a:t>
            </a:r>
            <a:r>
              <a:rPr lang="en-US" sz="2800" dirty="0"/>
              <a:t> subclass that is used to </a:t>
            </a:r>
            <a:r>
              <a:rPr lang="en-US" sz="2800" dirty="0" smtClean="0"/>
              <a:t>display the </a:t>
            </a:r>
            <a:r>
              <a:rPr lang="en-US" sz="2800" dirty="0"/>
              <a:t>child View elements in rows and columns. It will arrange all the children’s elements into rows and columns and does not display any border lines between rows, columns or cells. The working of Android Table Layout is almost similar to an HTML table and it contains as many columns as a row with the most cells. So, in this article, you will learn about Table Layout in Android.</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2546071"/>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fontAlgn="base"/>
            <a:r>
              <a:rPr lang="en-US" sz="3600" b="1" dirty="0"/>
              <a:t>How to declare </a:t>
            </a:r>
            <a:r>
              <a:rPr lang="en-US" sz="3600" b="1" dirty="0" err="1"/>
              <a:t>TableLayout</a:t>
            </a:r>
            <a:r>
              <a:rPr lang="en-US" sz="3600" b="1" dirty="0"/>
              <a:t> and </a:t>
            </a:r>
            <a:r>
              <a:rPr lang="en-US" sz="3600" b="1" dirty="0" err="1"/>
              <a:t>TableRow</a:t>
            </a:r>
            <a:r>
              <a:rPr lang="en-US" sz="3600" b="1" dirty="0" smtClean="0"/>
              <a:t>?</a:t>
            </a:r>
            <a:endParaRPr lang="en-US" sz="3600" b="1" dirty="0"/>
          </a:p>
        </p:txBody>
      </p:sp>
      <p:sp>
        <p:nvSpPr>
          <p:cNvPr id="3" name="TextBox 2"/>
          <p:cNvSpPr txBox="1"/>
          <p:nvPr/>
        </p:nvSpPr>
        <p:spPr>
          <a:xfrm>
            <a:off x="130388" y="1184856"/>
            <a:ext cx="12029765" cy="5632311"/>
          </a:xfrm>
          <a:prstGeom prst="rect">
            <a:avLst/>
          </a:prstGeom>
          <a:noFill/>
        </p:spPr>
        <p:txBody>
          <a:bodyPr wrap="square" rtlCol="0">
            <a:spAutoFit/>
          </a:bodyPr>
          <a:lstStyle/>
          <a:p>
            <a:pPr fontAlgn="base"/>
            <a:r>
              <a:rPr lang="en-US" sz="2800" dirty="0"/>
              <a:t>The </a:t>
            </a:r>
            <a:r>
              <a:rPr lang="en-US" sz="2800" b="1" dirty="0" err="1"/>
              <a:t>TableLayout</a:t>
            </a:r>
            <a:r>
              <a:rPr lang="en-US" sz="2800" dirty="0"/>
              <a:t> can be defined using &lt;</a:t>
            </a:r>
            <a:r>
              <a:rPr lang="en-US" sz="2800" dirty="0" err="1"/>
              <a:t>TableLayout</a:t>
            </a:r>
            <a:r>
              <a:rPr lang="en-US" sz="2800" dirty="0"/>
              <a:t>&gt; like below:</a:t>
            </a:r>
          </a:p>
          <a:p>
            <a:r>
              <a:rPr lang="en-US" sz="2800" dirty="0"/>
              <a:t/>
            </a:r>
            <a:br>
              <a:rPr lang="en-US" sz="2800" dirty="0"/>
            </a:br>
            <a:r>
              <a:rPr lang="en-US" sz="2800" dirty="0"/>
              <a:t>&lt;</a:t>
            </a:r>
            <a:r>
              <a:rPr lang="en-US" sz="2800" dirty="0" err="1"/>
              <a:t>TableLayout</a:t>
            </a:r>
            <a:r>
              <a:rPr lang="en-US" sz="2800" dirty="0"/>
              <a:t> </a:t>
            </a:r>
            <a:r>
              <a:rPr lang="en-US" sz="2800" dirty="0" err="1"/>
              <a:t>xmlns:android</a:t>
            </a:r>
            <a:r>
              <a:rPr lang="en-US" sz="2800" dirty="0"/>
              <a:t>="http://schemas.android.com/</a:t>
            </a:r>
            <a:r>
              <a:rPr lang="en-US" sz="2800" dirty="0" err="1"/>
              <a:t>apk</a:t>
            </a:r>
            <a:r>
              <a:rPr lang="en-US" sz="2800" dirty="0"/>
              <a:t>/res/android"</a:t>
            </a:r>
          </a:p>
          <a:p>
            <a:r>
              <a:rPr lang="en-US" sz="2800" dirty="0"/>
              <a:t>    </a:t>
            </a:r>
            <a:r>
              <a:rPr lang="en-US" sz="2800" dirty="0" err="1"/>
              <a:t>android:layout_width</a:t>
            </a:r>
            <a:r>
              <a:rPr lang="en-US" sz="2800" dirty="0"/>
              <a:t>="</a:t>
            </a:r>
            <a:r>
              <a:rPr lang="en-US" sz="2800" dirty="0" err="1"/>
              <a:t>match_parent</a:t>
            </a:r>
            <a:r>
              <a:rPr lang="en-US" sz="2800" dirty="0"/>
              <a:t>"</a:t>
            </a:r>
          </a:p>
          <a:p>
            <a:r>
              <a:rPr lang="en-US" sz="2800" dirty="0"/>
              <a:t>    </a:t>
            </a:r>
            <a:r>
              <a:rPr lang="en-US" sz="2800" dirty="0" err="1"/>
              <a:t>android:layout_height</a:t>
            </a:r>
            <a:r>
              <a:rPr lang="en-US" sz="2800" dirty="0"/>
              <a:t>="</a:t>
            </a:r>
            <a:r>
              <a:rPr lang="en-US" sz="2800" dirty="0" err="1"/>
              <a:t>match_parent</a:t>
            </a:r>
            <a:r>
              <a:rPr lang="en-US" sz="2800" dirty="0"/>
              <a:t>"</a:t>
            </a:r>
          </a:p>
          <a:p>
            <a:r>
              <a:rPr lang="en-US" sz="2800" dirty="0"/>
              <a:t>    </a:t>
            </a:r>
            <a:r>
              <a:rPr lang="en-US" sz="2800" dirty="0" err="1"/>
              <a:t>android:layout_marginTop</a:t>
            </a:r>
            <a:r>
              <a:rPr lang="en-US" sz="2800" dirty="0"/>
              <a:t>="10dp"</a:t>
            </a:r>
          </a:p>
          <a:p>
            <a:r>
              <a:rPr lang="en-US" sz="2800" dirty="0"/>
              <a:t>    </a:t>
            </a:r>
            <a:r>
              <a:rPr lang="en-US" sz="2800" dirty="0" err="1"/>
              <a:t>android:paddingLeft</a:t>
            </a:r>
            <a:r>
              <a:rPr lang="en-US" sz="2800" dirty="0"/>
              <a:t>="5dp"</a:t>
            </a:r>
          </a:p>
          <a:p>
            <a:r>
              <a:rPr lang="en-US" sz="2800" dirty="0"/>
              <a:t>    </a:t>
            </a:r>
            <a:r>
              <a:rPr lang="en-US" sz="2800" dirty="0" err="1"/>
              <a:t>android:paddingRight</a:t>
            </a:r>
            <a:r>
              <a:rPr lang="en-US" sz="2800" dirty="0"/>
              <a:t>="5dp"&gt;</a:t>
            </a:r>
          </a:p>
          <a:p>
            <a:r>
              <a:rPr lang="en-US" sz="2800" dirty="0"/>
              <a:t> </a:t>
            </a:r>
          </a:p>
          <a:p>
            <a:r>
              <a:rPr lang="en-US" sz="2800" dirty="0"/>
              <a:t>    // Add Table rows here</a:t>
            </a:r>
          </a:p>
          <a:p>
            <a:r>
              <a:rPr lang="en-US" sz="2800" dirty="0"/>
              <a:t>&lt;/</a:t>
            </a:r>
            <a:r>
              <a:rPr lang="en-US" sz="2800" dirty="0" err="1"/>
              <a:t>TableLayout</a:t>
            </a:r>
            <a:r>
              <a:rPr lang="en-US" sz="2800" dirty="0"/>
              <a:t>&gt;</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6418886"/>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What is </a:t>
            </a:r>
            <a:r>
              <a:rPr lang="en-US" sz="3600" b="1" dirty="0" err="1"/>
              <a:t>TableLayout</a:t>
            </a:r>
            <a:r>
              <a:rPr lang="en-US" sz="3600" dirty="0" smtClean="0">
                <a:latin typeface="Calibri" panose="020F0502020204030204" pitchFamily="34" charset="0"/>
                <a:cs typeface="Calibri" panose="020F0502020204030204" pitchFamily="34" charset="0"/>
              </a:rPr>
              <a:t>?</a:t>
            </a:r>
            <a:endParaRPr lang="en-US" sz="3600" dirty="0">
              <a:latin typeface="Calibri" panose="020F0502020204030204" pitchFamily="34" charset="0"/>
              <a:cs typeface="Calibri" panose="020F0502020204030204" pitchFamily="34" charset="0"/>
            </a:endParaRPr>
          </a:p>
        </p:txBody>
      </p:sp>
      <p:sp>
        <p:nvSpPr>
          <p:cNvPr id="7" name="Rectangle 6"/>
          <p:cNvSpPr/>
          <p:nvPr/>
        </p:nvSpPr>
        <p:spPr>
          <a:xfrm>
            <a:off x="1064020" y="4269261"/>
            <a:ext cx="8045396" cy="7775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Row 1</a:t>
            </a:r>
            <a:endParaRPr lang="en-US" sz="3200" dirty="0"/>
          </a:p>
        </p:txBody>
      </p:sp>
      <p:sp>
        <p:nvSpPr>
          <p:cNvPr id="8" name="Rectangle 7"/>
          <p:cNvSpPr/>
          <p:nvPr/>
        </p:nvSpPr>
        <p:spPr>
          <a:xfrm>
            <a:off x="3614057" y="2298402"/>
            <a:ext cx="5495359" cy="7775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Row 1</a:t>
            </a:r>
          </a:p>
          <a:p>
            <a:pPr algn="ctr"/>
            <a:r>
              <a:rPr lang="en-US" sz="2400" dirty="0" smtClean="0"/>
              <a:t>Col 2</a:t>
            </a:r>
            <a:endParaRPr lang="en-US" sz="2400" dirty="0"/>
          </a:p>
        </p:txBody>
      </p:sp>
      <p:sp>
        <p:nvSpPr>
          <p:cNvPr id="9" name="Rectangle 8"/>
          <p:cNvSpPr/>
          <p:nvPr/>
        </p:nvSpPr>
        <p:spPr>
          <a:xfrm>
            <a:off x="1064022" y="2306716"/>
            <a:ext cx="2419408" cy="7775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Row 1</a:t>
            </a:r>
          </a:p>
          <a:p>
            <a:pPr algn="ctr"/>
            <a:r>
              <a:rPr lang="en-US" sz="2400" dirty="0" smtClean="0"/>
              <a:t>Col 1</a:t>
            </a:r>
            <a:endParaRPr lang="en-US" sz="2400" dirty="0"/>
          </a:p>
        </p:txBody>
      </p:sp>
      <p:sp>
        <p:nvSpPr>
          <p:cNvPr id="10" name="Rectangle 9"/>
          <p:cNvSpPr/>
          <p:nvPr/>
        </p:nvSpPr>
        <p:spPr>
          <a:xfrm>
            <a:off x="1064022" y="3236673"/>
            <a:ext cx="2419408" cy="7775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Row 1</a:t>
            </a:r>
            <a:endParaRPr lang="en-US" sz="2400" dirty="0"/>
          </a:p>
          <a:p>
            <a:pPr algn="ctr"/>
            <a:r>
              <a:rPr lang="en-US" sz="2400" dirty="0" smtClean="0"/>
              <a:t>Col 1</a:t>
            </a:r>
          </a:p>
        </p:txBody>
      </p:sp>
      <p:sp>
        <p:nvSpPr>
          <p:cNvPr id="12" name="Rectangle 11"/>
          <p:cNvSpPr/>
          <p:nvPr/>
        </p:nvSpPr>
        <p:spPr>
          <a:xfrm>
            <a:off x="3614057" y="3236673"/>
            <a:ext cx="2747679" cy="7775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Row 1</a:t>
            </a:r>
          </a:p>
          <a:p>
            <a:pPr algn="ctr"/>
            <a:r>
              <a:rPr lang="en-US" sz="2400" dirty="0" smtClean="0"/>
              <a:t>Col 2</a:t>
            </a:r>
            <a:endParaRPr lang="en-US" sz="2400" dirty="0"/>
          </a:p>
        </p:txBody>
      </p:sp>
      <p:sp>
        <p:nvSpPr>
          <p:cNvPr id="13" name="Rectangle 12"/>
          <p:cNvSpPr/>
          <p:nvPr/>
        </p:nvSpPr>
        <p:spPr>
          <a:xfrm>
            <a:off x="6574971" y="3236673"/>
            <a:ext cx="2534445" cy="7775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Row 1</a:t>
            </a:r>
          </a:p>
          <a:p>
            <a:pPr algn="ctr"/>
            <a:r>
              <a:rPr lang="en-US" sz="2400" dirty="0" smtClean="0"/>
              <a:t>Col 3</a:t>
            </a:r>
            <a:endParaRPr lang="en-US" sz="2400" dirty="0"/>
          </a:p>
        </p:txBody>
      </p:sp>
      <p:sp>
        <p:nvSpPr>
          <p:cNvPr id="14" name="Rectangle 13"/>
          <p:cNvSpPr/>
          <p:nvPr/>
        </p:nvSpPr>
        <p:spPr>
          <a:xfrm>
            <a:off x="1064023" y="1402690"/>
            <a:ext cx="8079978" cy="7775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Row 1</a:t>
            </a:r>
            <a:endParaRPr lang="en-US" sz="3200" dirty="0"/>
          </a:p>
        </p:txBody>
      </p:sp>
    </p:spTree>
    <p:extLst>
      <p:ext uri="{BB962C8B-B14F-4D97-AF65-F5344CB8AC3E}">
        <p14:creationId xmlns:p14="http://schemas.microsoft.com/office/powerpoint/2010/main" val="95213479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What is </a:t>
            </a:r>
            <a:r>
              <a:rPr lang="en-US" sz="3600" b="1" dirty="0" err="1"/>
              <a:t>TableLayout</a:t>
            </a:r>
            <a:r>
              <a:rPr lang="en-US" sz="3600" dirty="0" smtClean="0">
                <a:latin typeface="Calibri" panose="020F0502020204030204" pitchFamily="34" charset="0"/>
                <a:cs typeface="Calibri" panose="020F0502020204030204" pitchFamily="34" charset="0"/>
              </a:rPr>
              <a:t>?</a:t>
            </a:r>
            <a:endParaRPr lang="en-US" sz="3600" dirty="0">
              <a:latin typeface="Calibri" panose="020F0502020204030204" pitchFamily="34" charset="0"/>
              <a:cs typeface="Calibri" panose="020F0502020204030204" pitchFamily="34" charset="0"/>
            </a:endParaRPr>
          </a:p>
        </p:txBody>
      </p:sp>
      <p:sp>
        <p:nvSpPr>
          <p:cNvPr id="7" name="Rectangle 6"/>
          <p:cNvSpPr/>
          <p:nvPr/>
        </p:nvSpPr>
        <p:spPr>
          <a:xfrm>
            <a:off x="236706" y="1022213"/>
            <a:ext cx="4059523" cy="5625329"/>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sp>
        <p:nvSpPr>
          <p:cNvPr id="11" name="Rectangle 10"/>
          <p:cNvSpPr/>
          <p:nvPr/>
        </p:nvSpPr>
        <p:spPr>
          <a:xfrm>
            <a:off x="4555320" y="1054347"/>
            <a:ext cx="4675766" cy="5625329"/>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spTree>
    <p:extLst>
      <p:ext uri="{BB962C8B-B14F-4D97-AF65-F5344CB8AC3E}">
        <p14:creationId xmlns:p14="http://schemas.microsoft.com/office/powerpoint/2010/main" val="2351240014"/>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What is </a:t>
            </a:r>
            <a:r>
              <a:rPr lang="en-US" sz="3600" b="1" dirty="0" err="1" smtClean="0"/>
              <a:t>FrameLayout</a:t>
            </a:r>
            <a:r>
              <a:rPr lang="en-US" sz="3600" dirty="0" smtClean="0">
                <a:latin typeface="Calibri" panose="020F0502020204030204" pitchFamily="34" charset="0"/>
                <a:cs typeface="Calibri" panose="020F0502020204030204" pitchFamily="34" charset="0"/>
              </a:rPr>
              <a:t>?</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2029765" cy="5194051"/>
          </a:xfrm>
          <a:prstGeom prst="rect">
            <a:avLst/>
          </a:prstGeom>
          <a:noFill/>
        </p:spPr>
        <p:txBody>
          <a:bodyPr wrap="square" rtlCol="0">
            <a:spAutoFit/>
          </a:bodyPr>
          <a:lstStyle/>
          <a:p>
            <a:pPr marL="457200" indent="-457200">
              <a:lnSpc>
                <a:spcPct val="150000"/>
              </a:lnSpc>
              <a:buFont typeface="+mj-lt"/>
              <a:buAutoNum type="arabicPeriod"/>
            </a:pPr>
            <a:r>
              <a:rPr lang="en-US" sz="2800" dirty="0"/>
              <a:t>Android </a:t>
            </a:r>
            <a:r>
              <a:rPr lang="en-US" sz="2800" b="1" dirty="0" err="1"/>
              <a:t>Framelayout</a:t>
            </a:r>
            <a:r>
              <a:rPr lang="en-US" sz="2800" dirty="0"/>
              <a:t> is a </a:t>
            </a:r>
            <a:r>
              <a:rPr lang="en-US" sz="2800" dirty="0" err="1"/>
              <a:t>ViewGroup</a:t>
            </a:r>
            <a:r>
              <a:rPr lang="en-US" sz="2800" dirty="0"/>
              <a:t> subclass that is used to specify the position of multiple views placed on top of each other to represent a single view screen. Generally, we can say </a:t>
            </a:r>
            <a:r>
              <a:rPr lang="en-US" sz="2800" dirty="0" err="1"/>
              <a:t>FrameLayout</a:t>
            </a:r>
            <a:r>
              <a:rPr lang="en-US" sz="2800" dirty="0"/>
              <a:t> simply blocks a particular area on the screen to display a single view. Here, all the child views or elements are added in stack format means the most recently added child will be shown on the top of the screen. But, we can add multiple children’s views and control their positions only by using gravity attributes in </a:t>
            </a:r>
            <a:r>
              <a:rPr lang="en-US" sz="2800" dirty="0" err="1"/>
              <a:t>FrameLayout</a:t>
            </a:r>
            <a:r>
              <a:rPr lang="en-US" sz="2800" dirty="0"/>
              <a: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3375020"/>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What is </a:t>
            </a:r>
            <a:r>
              <a:rPr lang="en-US" sz="3600" b="1" dirty="0" err="1" smtClean="0"/>
              <a:t>FrameLayout</a:t>
            </a:r>
            <a:r>
              <a:rPr lang="en-US" sz="3600" dirty="0" smtClean="0">
                <a:latin typeface="Calibri" panose="020F0502020204030204" pitchFamily="34" charset="0"/>
                <a:cs typeface="Calibri" panose="020F0502020204030204" pitchFamily="34" charset="0"/>
              </a:rPr>
              <a:t>?</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2029765" cy="3170099"/>
          </a:xfrm>
          <a:prstGeom prst="rect">
            <a:avLst/>
          </a:prstGeom>
          <a:noFill/>
        </p:spPr>
        <p:txBody>
          <a:bodyPr wrap="square" rtlCol="0">
            <a:spAutoFit/>
          </a:bodyPr>
          <a:lstStyle/>
          <a:p>
            <a:pPr fontAlgn="base"/>
            <a:r>
              <a:rPr lang="en-US" sz="2800" b="1" dirty="0"/>
              <a:t>The </a:t>
            </a:r>
            <a:r>
              <a:rPr lang="en-US" sz="2800" b="1" dirty="0" err="1"/>
              <a:t>FrameLayout</a:t>
            </a:r>
            <a:r>
              <a:rPr lang="en-US" sz="2800" b="1" dirty="0"/>
              <a:t> can be defined using the code below:</a:t>
            </a:r>
          </a:p>
          <a:p>
            <a:r>
              <a:rPr lang="en-US" sz="2800" dirty="0"/>
              <a:t/>
            </a:r>
            <a:br>
              <a:rPr lang="en-US" sz="2800" dirty="0"/>
            </a:br>
            <a:r>
              <a:rPr lang="en-US" sz="2400" dirty="0"/>
              <a:t>&lt;</a:t>
            </a:r>
            <a:r>
              <a:rPr lang="en-US" sz="2400" dirty="0" err="1"/>
              <a:t>FrameLayout</a:t>
            </a:r>
            <a:r>
              <a:rPr lang="en-US" sz="2400" dirty="0"/>
              <a:t> </a:t>
            </a:r>
            <a:r>
              <a:rPr lang="en-US" sz="2400" dirty="0" err="1"/>
              <a:t>xmlns:android</a:t>
            </a:r>
            <a:r>
              <a:rPr lang="en-US" sz="2400" dirty="0"/>
              <a:t>="http://schemas.android.com/</a:t>
            </a:r>
            <a:r>
              <a:rPr lang="en-US" sz="2400" dirty="0" err="1"/>
              <a:t>apk</a:t>
            </a:r>
            <a:r>
              <a:rPr lang="en-US" sz="2400" dirty="0"/>
              <a:t>/res/android"</a:t>
            </a:r>
            <a:br>
              <a:rPr lang="en-US" sz="2400" dirty="0"/>
            </a:br>
            <a:r>
              <a:rPr lang="en-US" sz="2400" dirty="0" err="1"/>
              <a:t>android:layout_width</a:t>
            </a:r>
            <a:r>
              <a:rPr lang="en-US" sz="2400" dirty="0"/>
              <a:t>="</a:t>
            </a:r>
            <a:r>
              <a:rPr lang="en-US" sz="2400" dirty="0" err="1"/>
              <a:t>match_parent</a:t>
            </a:r>
            <a:r>
              <a:rPr lang="en-US" sz="2400" dirty="0"/>
              <a:t>"</a:t>
            </a:r>
            <a:br>
              <a:rPr lang="en-US" sz="2400" dirty="0"/>
            </a:br>
            <a:r>
              <a:rPr lang="en-US" sz="2400" dirty="0" err="1"/>
              <a:t>android:layout_height</a:t>
            </a:r>
            <a:r>
              <a:rPr lang="en-US" sz="2400" dirty="0"/>
              <a:t>="</a:t>
            </a:r>
            <a:r>
              <a:rPr lang="en-US" sz="2400" dirty="0" err="1"/>
              <a:t>match_parent</a:t>
            </a:r>
            <a:r>
              <a:rPr lang="en-US" sz="2400" dirty="0"/>
              <a:t>"</a:t>
            </a:r>
            <a:br>
              <a:rPr lang="en-US" sz="2400" dirty="0"/>
            </a:br>
            <a:r>
              <a:rPr lang="en-US" sz="2400" dirty="0" err="1"/>
              <a:t>android:orientation</a:t>
            </a:r>
            <a:r>
              <a:rPr lang="en-US" sz="2400" dirty="0"/>
              <a:t>="vertical"&gt;</a:t>
            </a:r>
            <a:br>
              <a:rPr lang="en-US" sz="2400" dirty="0"/>
            </a:br>
            <a:r>
              <a:rPr lang="en-US" sz="2400" dirty="0"/>
              <a:t>// Add items or widgets here</a:t>
            </a:r>
            <a:br>
              <a:rPr lang="en-US" sz="2400" dirty="0"/>
            </a:br>
            <a:r>
              <a:rPr lang="en-US" sz="2400" dirty="0"/>
              <a:t>&lt;/</a:t>
            </a:r>
            <a:r>
              <a:rPr lang="en-US" sz="2400" dirty="0" err="1"/>
              <a:t>FrameLayout</a:t>
            </a:r>
            <a:r>
              <a:rPr lang="en-US" sz="2400" dirty="0"/>
              <a:t>&gt;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6238852"/>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7230" y="313899"/>
            <a:ext cx="10795379" cy="4339650"/>
          </a:xfrm>
          <a:prstGeom prst="rect">
            <a:avLst/>
          </a:prstGeom>
          <a:noFill/>
        </p:spPr>
        <p:txBody>
          <a:bodyPr wrap="square" rtlCol="0">
            <a:spAutoFit/>
          </a:bodyPr>
          <a:lstStyle/>
          <a:p>
            <a:pPr algn="ctr"/>
            <a:endParaRPr lang="en-US" sz="13800" dirty="0">
              <a:latin typeface="Calibri" panose="020F0502020204030204" pitchFamily="34" charset="0"/>
              <a:cs typeface="Calibri" panose="020F0502020204030204" pitchFamily="34" charset="0"/>
            </a:endParaRPr>
          </a:p>
          <a:p>
            <a:pPr algn="ctr"/>
            <a:r>
              <a:rPr lang="en-US" sz="13800" dirty="0">
                <a:effectLst>
                  <a:outerShdw blurRad="50800" dist="38100" dir="2700000" algn="tl" rotWithShape="0">
                    <a:prstClr val="black">
                      <a:alpha val="40000"/>
                    </a:prstClr>
                  </a:outerShdw>
                </a:effectLst>
                <a:latin typeface="Algerian" panose="04020705040A02060702" pitchFamily="82" charset="0"/>
                <a:cs typeface="Calibri" panose="020F0502020204030204" pitchFamily="34" charset="0"/>
              </a:rPr>
              <a:t>Thank You</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lemental">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Elemental</Template>
  <TotalTime>907</TotalTime>
  <Words>327</Words>
  <Application>Microsoft Office PowerPoint</Application>
  <PresentationFormat>Custom</PresentationFormat>
  <Paragraphs>96</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Elemental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Naeem Khan</dc:creator>
  <cp:lastModifiedBy>amc</cp:lastModifiedBy>
  <cp:revision>95</cp:revision>
  <dcterms:created xsi:type="dcterms:W3CDTF">2024-11-04T05:04:00Z</dcterms:created>
  <dcterms:modified xsi:type="dcterms:W3CDTF">2025-01-22T07:15:34Z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92ED70D60F184857A85F9A485E7AD0CC_12</vt:lpwstr>
  </property>
  <property fmtid="{D5CDD505-2E9C-101B-9397-08002B2CF9AE}" pid="3" name="KSOProductBuildVer">
    <vt:lpwstr>1033-12.2.0.18911</vt:lpwstr>
  </property>
</Properties>
</file>