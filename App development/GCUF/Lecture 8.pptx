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4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8" r:id="rId3"/>
    <p:sldId id="321" r:id="rId4"/>
    <p:sldId id="326" r:id="rId5"/>
    <p:sldId id="327" r:id="rId6"/>
    <p:sldId id="328" r:id="rId7"/>
    <p:sldId id="329" r:id="rId8"/>
    <p:sldId id="330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23418-877D-4E15-98EB-B18A416688F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B3ED0-4E7F-4552-8A34-7C1339267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95D31-9972-44D7-A973-436B8E0F36E9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085B6-4FD1-4360-BB53-F417E13A6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4128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38400" y="3159761"/>
            <a:ext cx="6096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6320" y="1219200"/>
            <a:ext cx="100584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44800" y="3375491"/>
            <a:ext cx="82296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689600" y="4074498"/>
            <a:ext cx="6096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0" y="4267368"/>
            <a:ext cx="49784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0" y="1905000"/>
            <a:ext cx="804672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792224" y="658368"/>
            <a:ext cx="4364736" cy="3429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6705600" y="658369"/>
            <a:ext cx="4364736" cy="34321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8160" y="661976"/>
            <a:ext cx="4364736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92224" y="1371600"/>
            <a:ext cx="43688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05600" y="661976"/>
            <a:ext cx="4364736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05600" y="1371600"/>
            <a:ext cx="4364736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408853" y="520192"/>
            <a:ext cx="6096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73707" y="520192"/>
            <a:ext cx="6096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105227" y="1774588"/>
            <a:ext cx="6096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685801"/>
            <a:ext cx="57912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00" y="685801"/>
            <a:ext cx="34544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25600" y="612776"/>
            <a:ext cx="89408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600" y="3453047"/>
            <a:ext cx="67056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7136" y="3331464"/>
            <a:ext cx="6096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4800" y="685802"/>
            <a:ext cx="7721600" cy="3505199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2800" y="609601"/>
            <a:ext cx="2844800" cy="5181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0800" y="685801"/>
            <a:ext cx="6705600" cy="45720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830961" y="1038441"/>
            <a:ext cx="965416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557464" y="419133"/>
            <a:ext cx="5538472" cy="597394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4370607" y="116855"/>
            <a:ext cx="8639149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6320" y="4876800"/>
            <a:ext cx="100584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4800" y="685802"/>
            <a:ext cx="8128000" cy="3657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00" y="615473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92A59E04-BC48-4C3C-B2CF-95287A202A1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80" y="6154739"/>
            <a:ext cx="6096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7280" y="5842000"/>
            <a:ext cx="28448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" y="10"/>
            <a:ext cx="12191984" cy="68579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  <a:alpha val="54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254895">
            <a:off x="1244259" y="1587490"/>
            <a:ext cx="1378634" cy="3101380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254895" flipV="1">
            <a:off x="1414026" y="953161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254895" flipV="1">
            <a:off x="2528004" y="4145838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254895">
            <a:off x="2781579" y="1021138"/>
            <a:ext cx="434003" cy="871580"/>
          </a:xfrm>
          <a:prstGeom prst="line">
            <a:avLst/>
          </a:prstGeom>
          <a:ln w="76200" cap="rnd">
            <a:solidFill>
              <a:schemeClr val="bg1"/>
            </a:solidFill>
            <a:round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254895">
            <a:off x="3531651" y="3347833"/>
            <a:ext cx="428346" cy="836383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45302" y="1610122"/>
            <a:ext cx="847402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spc="6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WELCOME</a:t>
            </a:r>
          </a:p>
        </p:txBody>
      </p:sp>
      <p:sp>
        <p:nvSpPr>
          <p:cNvPr id="25" name="Arrow: Right 24">
            <a:hlinkClick r:id="" action="ppaction://hlinkshowjump?jump=nextslide"/>
          </p:cNvPr>
          <p:cNvSpPr/>
          <p:nvPr/>
        </p:nvSpPr>
        <p:spPr>
          <a:xfrm>
            <a:off x="10743027" y="2321170"/>
            <a:ext cx="1172308" cy="438026"/>
          </a:xfrm>
          <a:prstGeom prst="rightArrow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131280" y="5895929"/>
            <a:ext cx="9636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600" dirty="0" smtClean="0">
                <a:solidFill>
                  <a:schemeClr val="bg1"/>
                </a:solidFill>
              </a:rPr>
              <a:t>Mobile Application Development</a:t>
            </a:r>
            <a:endParaRPr lang="en-US" sz="3200" b="1" spc="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5" grpId="0" animBg="1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6753" y="1757038"/>
            <a:ext cx="11887200" cy="92202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latin typeface="Calibri" panose="020F0502020204030204" pitchFamily="34" charset="0"/>
                <a:cs typeface="Calibri" panose="020F0502020204030204" pitchFamily="34" charset="0"/>
              </a:rPr>
              <a:t>Java Programming</a:t>
            </a:r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6753" y="2707969"/>
            <a:ext cx="11887200" cy="23083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Mobile Application Development</a:t>
            </a: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Lecture # </a:t>
            </a: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  <a:endParaRPr lang="en-US" sz="32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71667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Flowchart: Alternate Process 5"/>
          <p:cNvSpPr/>
          <p:nvPr/>
        </p:nvSpPr>
        <p:spPr>
          <a:xfrm>
            <a:off x="1674254" y="5151549"/>
            <a:ext cx="8474298" cy="1197736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3200" b="1" i="1" cap="all" dirty="0" smtClean="0">
                <a:ln/>
                <a:solidFill>
                  <a:srgbClr val="FF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Instructor: Muhammad Naeem Khan</a:t>
            </a:r>
            <a:endParaRPr lang="en-US" sz="3200" b="1" i="1" cap="all" dirty="0">
              <a:ln/>
              <a:solidFill>
                <a:srgbClr val="FF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0388" y="1022214"/>
            <a:ext cx="1146379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It was developed by Sun Microsystems </a:t>
            </a:r>
            <a:r>
              <a:rPr lang="en-US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Inc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in the year 1991, later acquired by Oracle Corporation.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It was developed by Ja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mes Gosling and Patrick Naughton.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It is a simple programming language.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Java makes writing, compiling and debugging programming easy.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It helps to create reusable code and modular programs.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Java is a class-based object oriented programming language.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Java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55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0388" y="1022214"/>
            <a:ext cx="1146379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 general purpose programming language made for developers to write once run anywhere that is compiled Java code can run on all platforms that supports Java.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Java applications are compiled to byte code that run on any Java Virtual Machine. The syntax of java is similar  to c/ c++.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Java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09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0388" y="1022214"/>
            <a:ext cx="1146379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It is used for:</a:t>
            </a:r>
            <a:endParaRPr lang="en-US" sz="2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Mobile applications (specially Android apps).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Desktop applications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Web applications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Web server and application server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Games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Database connection and much more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Java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905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0388" y="1022214"/>
            <a:ext cx="11463798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Java Virtual Machine (JVM):</a:t>
            </a:r>
            <a:endParaRPr lang="en-US" sz="2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writing a program is done by java programmer like you and me.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 compilation is done by JAVAC compiler which is a primary java compiler included in the Java development kit (JDK). It takes Java program as input and generates byte-code as output. 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It is saved as .class file by the compiler.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In running phase of a program, JVM executes the byte-code generated by the compiler.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Java Terminology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660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0388" y="1022214"/>
            <a:ext cx="11463798" cy="3805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Java Development Kit (JDK):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is a complete java development kit that includes everything including compiler, Java Runtime Environment (JRE), java debuggers and Java docs etc. 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For the program to execute in java, we need to install JDK in our computer in order to create, compile and run the java program.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Java Terminology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632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0388" y="1022214"/>
            <a:ext cx="1146379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Java </a:t>
            </a:r>
            <a:r>
              <a:rPr lang="en-US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Runtime Environment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JVM):</a:t>
            </a: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JDK includes JRE.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JRE installation on out computers allows the java program to run.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For running the java program, a computer need JRE.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Java Terminology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350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7230" y="313899"/>
            <a:ext cx="1079537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3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  <a:cs typeface="Calibri" panose="020F0502020204030204" pitchFamily="34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lementa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554</TotalTime>
  <Words>345</Words>
  <Application>Microsoft Office PowerPoint</Application>
  <PresentationFormat>Custom</PresentationFormat>
  <Paragraphs>41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Elemental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Naeem Khan</dc:creator>
  <cp:lastModifiedBy>Muhammad Naeem Khan</cp:lastModifiedBy>
  <cp:revision>58</cp:revision>
  <dcterms:created xsi:type="dcterms:W3CDTF">2024-11-04T05:04:00Z</dcterms:created>
  <dcterms:modified xsi:type="dcterms:W3CDTF">2024-12-11T05:08:38Z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92ED70D60F184857A85F9A485E7AD0CC_12</vt:lpwstr>
  </property>
  <property fmtid="{D5CDD505-2E9C-101B-9397-08002B2CF9AE}" pid="3" name="KSOProductBuildVer">
    <vt:lpwstr>1033-12.2.0.18911</vt:lpwstr>
  </property>
</Properties>
</file>