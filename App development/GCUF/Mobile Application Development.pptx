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74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8" r:id="rId3"/>
    <p:sldId id="321" r:id="rId4"/>
    <p:sldId id="324" r:id="rId5"/>
    <p:sldId id="325" r:id="rId6"/>
    <p:sldId id="326" r:id="rId7"/>
    <p:sldId id="32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-582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Superior College Mian Channu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F23418-877D-4E15-98EB-B18A416688F8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1B3ED0-4E7F-4552-8A34-7C1339267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Superior College Mian Channu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095D31-9972-44D7-A973-436B8E0F36E9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F085B6-4FD1-4360-BB53-F417E13A6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841288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438400" y="3159761"/>
            <a:ext cx="609600" cy="1034129"/>
          </a:xfrm>
          <a:prstGeom prst="rect">
            <a:avLst/>
          </a:prstGeom>
          <a:noFill/>
        </p:spPr>
        <p:txBody>
          <a:bodyPr wrap="square" lIns="0" tIns="9144" rIns="0" bIns="9144" rtlCol="0" anchor="ctr" anchorCtr="0">
            <a:spAutoFit/>
          </a:bodyPr>
          <a:lstStyle/>
          <a:p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6320" y="1219200"/>
            <a:ext cx="10058400" cy="21526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44800" y="3375491"/>
            <a:ext cx="8229600" cy="685800"/>
          </a:xfrm>
        </p:spPr>
        <p:txBody>
          <a:bodyPr anchor="ctr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5689600" y="4074498"/>
            <a:ext cx="609600" cy="101566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0" y="4267368"/>
            <a:ext cx="4978400" cy="731520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48000" y="1905000"/>
            <a:ext cx="8046720" cy="2350008"/>
          </a:xfrm>
        </p:spPr>
        <p:txBody>
          <a:bodyPr/>
          <a:lstStyle>
            <a:lvl1pPr marL="0" algn="l" defTabSz="914400" rtl="0" eaLnBrk="1" latinLnBrk="0" hangingPunct="1">
              <a:spcBef>
                <a:spcPct val="0"/>
              </a:spcBef>
              <a:buNone/>
              <a:defRPr lang="en-US" sz="5400" b="0" kern="1200" cap="none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1792224" y="658368"/>
            <a:ext cx="4364736" cy="3429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6705600" y="658369"/>
            <a:ext cx="4364736" cy="34321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8160" y="661976"/>
            <a:ext cx="4364736" cy="639762"/>
          </a:xfrm>
        </p:spPr>
        <p:txBody>
          <a:bodyPr anchor="ctr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92224" y="1371600"/>
            <a:ext cx="4368800" cy="27432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05600" y="661976"/>
            <a:ext cx="4364736" cy="639762"/>
          </a:xfrm>
        </p:spPr>
        <p:txBody>
          <a:bodyPr anchor="ctr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05600" y="1371600"/>
            <a:ext cx="4364736" cy="27432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408853" y="520192"/>
            <a:ext cx="6096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73707" y="520192"/>
            <a:ext cx="6096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105227" y="1774588"/>
            <a:ext cx="609600" cy="123110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8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685801"/>
            <a:ext cx="5791200" cy="3429000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00" y="685801"/>
            <a:ext cx="3454400" cy="3429000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25600" y="612776"/>
            <a:ext cx="8940800" cy="2546985"/>
          </a:xfrm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57600" y="3453047"/>
            <a:ext cx="6705600" cy="72080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7136" y="3331464"/>
            <a:ext cx="6096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4800" y="685802"/>
            <a:ext cx="7721600" cy="3505199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2800" y="609601"/>
            <a:ext cx="2844800" cy="5181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0800" y="685801"/>
            <a:ext cx="6705600" cy="45720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6">
                  <a:lumMod val="50000"/>
                  <a:alpha val="36000"/>
                </a:schemeClr>
              </a:gs>
              <a:gs pos="100000">
                <a:schemeClr val="bg2">
                  <a:alpha val="1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 rot="19724275">
            <a:off x="1830961" y="1038441"/>
            <a:ext cx="9654160" cy="5706987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7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 rot="17656910">
            <a:off x="557464" y="419133"/>
            <a:ext cx="5538472" cy="5973945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8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 rot="19724275">
            <a:off x="4370607" y="116855"/>
            <a:ext cx="8639149" cy="4754757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8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6320" y="4876800"/>
            <a:ext cx="10058400" cy="91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44800" y="685802"/>
            <a:ext cx="8128000" cy="3657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00" y="615473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1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fld id="{92A59E04-BC48-4C3C-B2CF-95287A202A10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80" y="6154739"/>
            <a:ext cx="60960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7280" y="5842000"/>
            <a:ext cx="2844800" cy="304800"/>
          </a:xfrm>
          <a:prstGeom prst="rect">
            <a:avLst/>
          </a:prstGeom>
        </p:spPr>
        <p:txBody>
          <a:bodyPr vert="horz" lIns="91440" tIns="45720" rIns="91440" bIns="9144" rtlCol="0" anchor="b"/>
          <a:lstStyle>
            <a:lvl1pPr algn="l">
              <a:defRPr sz="16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9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56032" algn="l" defTabSz="914400" rtl="0" eaLnBrk="1" latinLnBrk="0" hangingPunct="1">
        <a:spcBef>
          <a:spcPct val="20000"/>
        </a:spcBef>
        <a:spcAft>
          <a:spcPts val="0"/>
        </a:spcAft>
        <a:buSzPct val="60000"/>
        <a:buFont typeface="Wingdings" pitchFamily="2" charset="2"/>
        <a:buChar char=""/>
        <a:defRPr sz="21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64008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"/>
        <a:defRPr sz="19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100584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"/>
        <a:defRPr sz="17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37160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"/>
        <a:defRPr sz="16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164592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"/>
        <a:defRPr sz="15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196596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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6pPr>
      <a:lvl7pPr marL="224028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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7pPr>
      <a:lvl8pPr marL="251460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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8pPr>
      <a:lvl9pPr marL="283464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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" y="10"/>
            <a:ext cx="12191984" cy="685799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35000">
                <a:schemeClr val="accent4">
                  <a:lumMod val="0"/>
                  <a:lumOff val="100000"/>
                  <a:alpha val="54000"/>
                </a:schemeClr>
              </a:gs>
              <a:gs pos="100000">
                <a:schemeClr val="accent4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254895">
            <a:off x="1244259" y="1587490"/>
            <a:ext cx="1378634" cy="3101380"/>
          </a:xfrm>
          <a:prstGeom prst="line">
            <a:avLst/>
          </a:prstGeom>
          <a:ln w="762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254895" flipV="1">
            <a:off x="1414026" y="953161"/>
            <a:ext cx="1347430" cy="640621"/>
          </a:xfrm>
          <a:prstGeom prst="line">
            <a:avLst/>
          </a:prstGeom>
          <a:ln w="762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254895" flipV="1">
            <a:off x="2528004" y="4145838"/>
            <a:ext cx="1347430" cy="640621"/>
          </a:xfrm>
          <a:prstGeom prst="line">
            <a:avLst/>
          </a:prstGeom>
          <a:ln w="762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rot="254895">
            <a:off x="2781579" y="1021138"/>
            <a:ext cx="434003" cy="871580"/>
          </a:xfrm>
          <a:prstGeom prst="line">
            <a:avLst/>
          </a:prstGeom>
          <a:ln w="76200" cap="rnd">
            <a:solidFill>
              <a:schemeClr val="bg1"/>
            </a:solidFill>
            <a:round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254895">
            <a:off x="3531651" y="3347833"/>
            <a:ext cx="428346" cy="836383"/>
          </a:xfrm>
          <a:prstGeom prst="line">
            <a:avLst/>
          </a:prstGeom>
          <a:ln w="76200" cap="rnd">
            <a:solidFill>
              <a:schemeClr val="bg1"/>
            </a:solidFill>
            <a:round/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145302" y="1610122"/>
            <a:ext cx="847402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spc="6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ptos" panose="020B0004020202020204" pitchFamily="34" charset="0"/>
              </a:rPr>
              <a:t>WELCOME</a:t>
            </a:r>
          </a:p>
        </p:txBody>
      </p:sp>
      <p:sp>
        <p:nvSpPr>
          <p:cNvPr id="25" name="Arrow: Right 24">
            <a:hlinkClick r:id="" action="ppaction://hlinkshowjump?jump=nextslide"/>
          </p:cNvPr>
          <p:cNvSpPr/>
          <p:nvPr/>
        </p:nvSpPr>
        <p:spPr>
          <a:xfrm>
            <a:off x="10743027" y="2321170"/>
            <a:ext cx="1172308" cy="438026"/>
          </a:xfrm>
          <a:prstGeom prst="rightArrow">
            <a:avLst/>
          </a:prstGeom>
          <a:solidFill>
            <a:schemeClr val="bg1"/>
          </a:solidFill>
          <a:ln>
            <a:noFill/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131280" y="5767141"/>
            <a:ext cx="9636369" cy="920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Mobile And Application Development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6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35" dur="10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50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  <p:bldP spid="25" grpId="0" animBg="1"/>
      <p:bldP spid="2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6753" y="1757038"/>
            <a:ext cx="11887200" cy="922020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5400" dirty="0" smtClean="0">
                <a:latin typeface="Calibri" panose="020F0502020204030204" pitchFamily="34" charset="0"/>
                <a:cs typeface="Calibri" panose="020F0502020204030204" pitchFamily="34" charset="0"/>
              </a:rPr>
              <a:t>Toast</a:t>
            </a:r>
            <a:endParaRPr lang="en-US" sz="5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6753" y="2707969"/>
            <a:ext cx="11887200" cy="230832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Mobile And Application Development</a:t>
            </a:r>
            <a:endParaRPr lang="en-US" sz="32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Practical# 5</a:t>
            </a:r>
          </a:p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666484" y="55490"/>
            <a:ext cx="1493669" cy="971667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Flowchart: Alternate Process 5"/>
          <p:cNvSpPr/>
          <p:nvPr/>
        </p:nvSpPr>
        <p:spPr>
          <a:xfrm>
            <a:off x="1674254" y="5151549"/>
            <a:ext cx="8474298" cy="1197736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/>
            <a:r>
              <a:rPr lang="en-US" sz="3200" b="1" i="1" cap="all" dirty="0" smtClean="0">
                <a:ln/>
                <a:solidFill>
                  <a:srgbClr val="FF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Instructor: Muhammad Naeem Khan</a:t>
            </a:r>
            <a:endParaRPr lang="en-US" sz="3200" b="1" i="1" cap="all" dirty="0">
              <a:ln/>
              <a:solidFill>
                <a:srgbClr val="FF000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is Toast?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0388" y="1184856"/>
            <a:ext cx="101984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It is used to display information for the short period of time. A toast contains message to be displayed quickly and disappears after sometime.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553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Methods of</a:t>
            </a:r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 Toast Class?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425255"/>
              </p:ext>
            </p:extLst>
          </p:nvPr>
        </p:nvGraphicFramePr>
        <p:xfrm>
          <a:off x="396383" y="1640397"/>
          <a:ext cx="10048382" cy="3511151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024191"/>
                <a:gridCol w="5024191"/>
              </a:tblGrid>
              <a:tr h="114080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Method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Description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953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public</a:t>
                      </a:r>
                      <a:r>
                        <a:rPr lang="en-US" baseline="0" dirty="0" smtClean="0"/>
                        <a:t> static Toast</a:t>
                      </a:r>
                    </a:p>
                    <a:p>
                      <a:pPr algn="ctr"/>
                      <a:r>
                        <a:rPr lang="en-US" baseline="0" dirty="0" err="1" smtClean="0"/>
                        <a:t>makeText</a:t>
                      </a:r>
                      <a:r>
                        <a:rPr lang="en-US" baseline="0" dirty="0" smtClean="0"/>
                        <a:t>(Context </a:t>
                      </a:r>
                      <a:r>
                        <a:rPr lang="en-US" baseline="0" dirty="0" err="1" smtClean="0"/>
                        <a:t>context</a:t>
                      </a:r>
                      <a:r>
                        <a:rPr lang="en-US" baseline="0" dirty="0" smtClean="0"/>
                        <a:t>, </a:t>
                      </a:r>
                      <a:r>
                        <a:rPr lang="en-US" baseline="0" dirty="0" err="1" smtClean="0"/>
                        <a:t>CharSquence</a:t>
                      </a:r>
                      <a:r>
                        <a:rPr lang="en-US" baseline="0" dirty="0" smtClean="0"/>
                        <a:t> text, </a:t>
                      </a:r>
                      <a:r>
                        <a:rPr lang="en-US" baseline="0" dirty="0" err="1" smtClean="0"/>
                        <a:t>int</a:t>
                      </a:r>
                      <a:r>
                        <a:rPr lang="en-US" baseline="0" dirty="0" smtClean="0"/>
                        <a:t> duration)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Make the toast containing text with a constant duration.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080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public</a:t>
                      </a:r>
                      <a:r>
                        <a:rPr lang="en-US" baseline="0" dirty="0" smtClean="0"/>
                        <a:t> void show()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Display</a:t>
                      </a:r>
                      <a:r>
                        <a:rPr lang="en-US" baseline="0" dirty="0" smtClean="0"/>
                        <a:t> toast.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7140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Constant of</a:t>
            </a:r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 Toast Class?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032505"/>
              </p:ext>
            </p:extLst>
          </p:nvPr>
        </p:nvGraphicFramePr>
        <p:xfrm>
          <a:off x="396383" y="1640397"/>
          <a:ext cx="10048382" cy="3511151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024191"/>
                <a:gridCol w="5024191"/>
              </a:tblGrid>
              <a:tr h="114080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Constant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Description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953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public</a:t>
                      </a:r>
                      <a:r>
                        <a:rPr lang="en-US" baseline="0" dirty="0" smtClean="0"/>
                        <a:t> static final </a:t>
                      </a:r>
                      <a:r>
                        <a:rPr lang="en-US" baseline="0" dirty="0" err="1" smtClean="0"/>
                        <a:t>int</a:t>
                      </a:r>
                      <a:r>
                        <a:rPr lang="en-US" baseline="0" dirty="0" smtClean="0"/>
                        <a:t> LENGTH_LONG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Display the view for</a:t>
                      </a:r>
                      <a:r>
                        <a:rPr lang="en-US" baseline="0" dirty="0" smtClean="0"/>
                        <a:t> the long duration of time</a:t>
                      </a:r>
                      <a:r>
                        <a:rPr lang="en-US" dirty="0" smtClean="0"/>
                        <a:t>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080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public</a:t>
                      </a:r>
                      <a:r>
                        <a:rPr lang="en-US" baseline="0" dirty="0" smtClean="0"/>
                        <a:t> static final </a:t>
                      </a:r>
                      <a:r>
                        <a:rPr lang="en-US" baseline="0" dirty="0" err="1" smtClean="0"/>
                        <a:t>int</a:t>
                      </a:r>
                      <a:r>
                        <a:rPr lang="en-US" baseline="0" dirty="0" smtClean="0"/>
                        <a:t> LENGTH_SHORT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Display the view for</a:t>
                      </a:r>
                      <a:r>
                        <a:rPr lang="en-US" baseline="0" dirty="0" smtClean="0"/>
                        <a:t> the short duration of time</a:t>
                      </a:r>
                      <a:r>
                        <a:rPr lang="en-US" dirty="0" smtClean="0"/>
                        <a:t>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6160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Android Toast Example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4358236"/>
              </p:ext>
            </p:extLst>
          </p:nvPr>
        </p:nvGraphicFramePr>
        <p:xfrm>
          <a:off x="396383" y="1640397"/>
          <a:ext cx="10048382" cy="1140807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048382"/>
              </a:tblGrid>
              <a:tr h="1140807">
                <a:tc>
                  <a:txBody>
                    <a:bodyPr/>
                    <a:lstStyle/>
                    <a:p>
                      <a:pPr algn="l"/>
                      <a:r>
                        <a:rPr lang="en-US" sz="2800" dirty="0" err="1" smtClean="0"/>
                        <a:t>Toast.makeText</a:t>
                      </a:r>
                      <a:r>
                        <a:rPr lang="en-US" sz="2800" dirty="0" smtClean="0"/>
                        <a:t>(</a:t>
                      </a:r>
                      <a:r>
                        <a:rPr lang="en-US" sz="2800" dirty="0" err="1" smtClean="0"/>
                        <a:t>getApplicationContext</a:t>
                      </a:r>
                      <a:r>
                        <a:rPr lang="en-US" sz="2800" dirty="0" smtClean="0"/>
                        <a:t>(),text: “My First Toast”, </a:t>
                      </a:r>
                      <a:r>
                        <a:rPr lang="en-US" sz="2800" dirty="0" err="1" smtClean="0"/>
                        <a:t>Toast.LENGTH_LONG</a:t>
                      </a:r>
                      <a:r>
                        <a:rPr lang="en-US" sz="2800" dirty="0" smtClean="0"/>
                        <a:t>).show();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4513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Assignment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912224" y="1991938"/>
            <a:ext cx="5048517" cy="5666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Enter Fist Number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912224" y="2657348"/>
            <a:ext cx="5048517" cy="5666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Enter Second Number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350104" y="3545996"/>
            <a:ext cx="1814321" cy="5666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350104" y="4434645"/>
            <a:ext cx="1814321" cy="5666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36482" y="3545996"/>
            <a:ext cx="1814321" cy="5666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 smtClean="0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endParaRPr lang="en-US" sz="6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36482" y="4434644"/>
            <a:ext cx="1814321" cy="5666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19926" y="5346886"/>
            <a:ext cx="5048517" cy="5666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Result is = 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912224" y="1067295"/>
            <a:ext cx="5048517" cy="5666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4000" dirty="0" smtClean="0">
                <a:latin typeface="Calibri" panose="020F0502020204030204" pitchFamily="34" charset="0"/>
                <a:cs typeface="Calibri" panose="020F0502020204030204" pitchFamily="34" charset="0"/>
              </a:rPr>
              <a:t>Simple Calculator</a:t>
            </a:r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816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37230" y="313899"/>
            <a:ext cx="10795379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3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38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  <a:cs typeface="Calibri" panose="020F0502020204030204" pitchFamily="34" charset="0"/>
              </a:rP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lemental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19800000"/>
            </a:lightRig>
          </a:scene3d>
          <a:sp3d prstMaterial="metal">
            <a:bevelT w="38100" h="3810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</a:schemeClr>
            </a:gs>
            <a:gs pos="100000">
              <a:schemeClr val="phClr">
                <a:shade val="40000"/>
                <a:satMod val="18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4000"/>
                <a:satMod val="280000"/>
              </a:schemeClr>
              <a:schemeClr val="phClr">
                <a:tint val="60000"/>
                <a:sat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Elemental</Template>
  <TotalTime>719</TotalTime>
  <Words>155</Words>
  <Application>Microsoft Office PowerPoint</Application>
  <PresentationFormat>Custom</PresentationFormat>
  <Paragraphs>36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Elemental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Naeem Khan</dc:creator>
  <cp:lastModifiedBy>Muhammad Naeem Khan</cp:lastModifiedBy>
  <cp:revision>78</cp:revision>
  <dcterms:created xsi:type="dcterms:W3CDTF">2024-11-04T05:04:00Z</dcterms:created>
  <dcterms:modified xsi:type="dcterms:W3CDTF">2025-01-18T04:01:22Z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92ED70D60F184857A85F9A485E7AD0CC_12</vt:lpwstr>
  </property>
  <property fmtid="{D5CDD505-2E9C-101B-9397-08002B2CF9AE}" pid="3" name="KSOProductBuildVer">
    <vt:lpwstr>1033-12.2.0.18911</vt:lpwstr>
  </property>
</Properties>
</file>