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321" r:id="rId4"/>
    <p:sldId id="329" r:id="rId5"/>
    <p:sldId id="332" r:id="rId6"/>
    <p:sldId id="324" r:id="rId7"/>
    <p:sldId id="333" r:id="rId8"/>
    <p:sldId id="330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-900" y="-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4128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30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12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64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0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6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7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8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3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2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5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59E04-BC48-4C3C-B2CF-95287A202A10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4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31280" y="5767141"/>
            <a:ext cx="9636369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753" y="1757038"/>
            <a:ext cx="11887200" cy="92202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Sending SMS</a:t>
            </a:r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 Android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753" y="2707969"/>
            <a:ext cx="118872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Practical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71667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lowchart: Alternate Process 5"/>
          <p:cNvSpPr/>
          <p:nvPr/>
        </p:nvSpPr>
        <p:spPr>
          <a:xfrm>
            <a:off x="1674254" y="5151549"/>
            <a:ext cx="8474298" cy="119773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i="1" cap="all" dirty="0" smtClean="0">
                <a:ln/>
                <a:solidFill>
                  <a:srgbClr val="FF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Instructor: Muhammad Naeem Khan</a:t>
            </a:r>
            <a:endParaRPr lang="en-US" sz="3200" b="1" i="1" cap="all" dirty="0">
              <a:ln/>
              <a:solidFill>
                <a:srgbClr val="FF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SENDING SMS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202976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800" b="1" dirty="0"/>
              <a:t>What is the use of the </a:t>
            </a:r>
            <a:r>
              <a:rPr lang="en-US" sz="2800" b="1" dirty="0" err="1"/>
              <a:t>SmsManager</a:t>
            </a:r>
            <a:r>
              <a:rPr lang="en-US" sz="2800" b="1" dirty="0"/>
              <a:t> Class?</a:t>
            </a:r>
          </a:p>
          <a:p>
            <a:pPr fontAlgn="base"/>
            <a:r>
              <a:rPr lang="en-US" sz="2800" dirty="0" err="1"/>
              <a:t>SMSManager</a:t>
            </a:r>
            <a:r>
              <a:rPr lang="en-US" sz="2800" dirty="0"/>
              <a:t> class manages operations like sending text messages, data messages, and multimedia messages (MMS). For sending a text message method </a:t>
            </a:r>
            <a:r>
              <a:rPr lang="en-US" sz="2800" b="1" dirty="0" err="1"/>
              <a:t>sendTextMessage</a:t>
            </a:r>
            <a:r>
              <a:rPr lang="en-US" sz="2800" b="1" dirty="0"/>
              <a:t>()</a:t>
            </a:r>
            <a:r>
              <a:rPr lang="en-US" sz="2800" dirty="0"/>
              <a:t> is used likewise for multimedia message </a:t>
            </a:r>
            <a:r>
              <a:rPr lang="en-US" sz="2800" b="1" dirty="0" err="1"/>
              <a:t>sendMultimediaMessage</a:t>
            </a:r>
            <a:r>
              <a:rPr lang="en-US" sz="2800" b="1" dirty="0"/>
              <a:t>()</a:t>
            </a:r>
            <a:r>
              <a:rPr lang="en-US" sz="2800" dirty="0"/>
              <a:t> and for data message, the </a:t>
            </a:r>
            <a:r>
              <a:rPr lang="en-US" sz="2800" b="1" dirty="0" err="1"/>
              <a:t>sendDataMessage</a:t>
            </a:r>
            <a:r>
              <a:rPr lang="en-US" sz="2800" b="1" dirty="0"/>
              <a:t>()</a:t>
            </a:r>
            <a:r>
              <a:rPr lang="en-US" sz="2800" dirty="0"/>
              <a:t> method is used.</a:t>
            </a:r>
          </a:p>
          <a:p>
            <a:pPr fontAlgn="base"/>
            <a:r>
              <a:rPr lang="en-US" sz="2800" dirty="0"/>
              <a:t>The details of each function are:</a:t>
            </a:r>
          </a:p>
        </p:txBody>
      </p:sp>
    </p:spTree>
    <p:extLst>
      <p:ext uri="{BB962C8B-B14F-4D97-AF65-F5344CB8AC3E}">
        <p14:creationId xmlns:p14="http://schemas.microsoft.com/office/powerpoint/2010/main" val="217855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Methods of 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Sending SMS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24799"/>
              </p:ext>
            </p:extLst>
          </p:nvPr>
        </p:nvGraphicFramePr>
        <p:xfrm>
          <a:off x="261256" y="1132611"/>
          <a:ext cx="11379200" cy="3905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6058"/>
                <a:gridCol w="8273142"/>
              </a:tblGrid>
              <a:tr h="97205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1" dirty="0">
                          <a:effectLst/>
                        </a:rPr>
                        <a:t>Function</a:t>
                      </a: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1">
                          <a:effectLst/>
                        </a:rPr>
                        <a:t>Description</a:t>
                      </a:r>
                    </a:p>
                  </a:txBody>
                  <a:tcPr marL="95250" marR="95250" marT="95250" marB="95250" anchor="ctr"/>
                </a:tc>
              </a:tr>
              <a:tr h="6804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>
                          <a:effectLst/>
                        </a:rPr>
                        <a:t>sendTextMessage()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>
                          <a:effectLst/>
                        </a:rPr>
                        <a:t>sendTextMessage(String destinationAddress, String scAddress, String text, PendingIntent sentIntent, PendingIntent deliveryIntent, long messageId) </a:t>
                      </a:r>
                    </a:p>
                  </a:txBody>
                  <a:tcPr marL="95250" marR="95250" marT="133350" marB="133350" anchor="ctr"/>
                </a:tc>
              </a:tr>
              <a:tr h="6804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>
                          <a:effectLst/>
                        </a:rPr>
                        <a:t>sendDataMessage()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>
                          <a:effectLst/>
                        </a:rPr>
                        <a:t>sendDataMessage(String destinationAddress, String scAddress, short destinationPort, byte[] data, PendingIntent sentIntent, PendingIntent deliveryIntent)</a:t>
                      </a:r>
                    </a:p>
                  </a:txBody>
                  <a:tcPr marL="95250" marR="95250" marT="133350" marB="133350" anchor="ctr"/>
                </a:tc>
              </a:tr>
              <a:tr h="6804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>
                          <a:effectLst/>
                        </a:rPr>
                        <a:t>sendMultimediaMessage()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dirty="0" err="1">
                          <a:effectLst/>
                        </a:rPr>
                        <a:t>sendMultimediaMessage</a:t>
                      </a:r>
                      <a:r>
                        <a:rPr lang="en-US" sz="2000" b="0" dirty="0">
                          <a:effectLst/>
                        </a:rPr>
                        <a:t>(Context </a:t>
                      </a:r>
                      <a:r>
                        <a:rPr lang="en-US" sz="2000" b="0" dirty="0" err="1">
                          <a:effectLst/>
                        </a:rPr>
                        <a:t>context</a:t>
                      </a:r>
                      <a:r>
                        <a:rPr lang="en-US" sz="2000" b="0" dirty="0">
                          <a:effectLst/>
                        </a:rPr>
                        <a:t>, Uri </a:t>
                      </a:r>
                      <a:r>
                        <a:rPr lang="en-US" sz="2000" b="0" dirty="0" err="1">
                          <a:effectLst/>
                        </a:rPr>
                        <a:t>contentUri</a:t>
                      </a:r>
                      <a:r>
                        <a:rPr lang="en-US" sz="2000" b="0" dirty="0">
                          <a:effectLst/>
                        </a:rPr>
                        <a:t>, String </a:t>
                      </a:r>
                      <a:r>
                        <a:rPr lang="en-US" sz="2000" b="0" dirty="0" err="1">
                          <a:effectLst/>
                        </a:rPr>
                        <a:t>locationUrl</a:t>
                      </a:r>
                      <a:r>
                        <a:rPr lang="en-US" sz="2000" b="0" dirty="0">
                          <a:effectLst/>
                        </a:rPr>
                        <a:t>, Bundle </a:t>
                      </a:r>
                      <a:r>
                        <a:rPr lang="en-US" sz="2000" b="0" dirty="0" err="1">
                          <a:effectLst/>
                        </a:rPr>
                        <a:t>configOverrides</a:t>
                      </a:r>
                      <a:r>
                        <a:rPr lang="en-US" sz="2000" b="0" dirty="0">
                          <a:effectLst/>
                        </a:rPr>
                        <a:t>, </a:t>
                      </a:r>
                      <a:r>
                        <a:rPr lang="en-US" sz="2000" b="0" dirty="0" err="1">
                          <a:effectLst/>
                        </a:rPr>
                        <a:t>PendingIntent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sentIntent</a:t>
                      </a:r>
                      <a:endParaRPr lang="en-US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22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STE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PS</a:t>
            </a:r>
            <a:endParaRPr lang="en-US" sz="3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20297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800" b="1" dirty="0"/>
              <a:t>Step 1: </a:t>
            </a:r>
            <a:r>
              <a:rPr lang="en-US" sz="2800" dirty="0"/>
              <a:t>Create a new Android Application.</a:t>
            </a:r>
          </a:p>
          <a:p>
            <a:pPr fontAlgn="base"/>
            <a:r>
              <a:rPr lang="en-US" sz="2800" b="1" dirty="0"/>
              <a:t>Step 2: </a:t>
            </a:r>
            <a:r>
              <a:rPr lang="en-US" sz="2800" dirty="0"/>
              <a:t>Go to </a:t>
            </a:r>
            <a:r>
              <a:rPr lang="en-US" sz="2800" b="1" i="1" dirty="0"/>
              <a:t>AndroidManifest.xml</a:t>
            </a:r>
            <a:r>
              <a:rPr lang="en-US" sz="2800" dirty="0"/>
              <a:t>.</a:t>
            </a:r>
          </a:p>
          <a:p>
            <a:pPr fontAlgn="base"/>
            <a:r>
              <a:rPr lang="en-US" sz="2800" dirty="0"/>
              <a:t>app-&gt;Manifest-&gt;AndroidManifest.xml</a:t>
            </a:r>
          </a:p>
          <a:p>
            <a:pPr fontAlgn="base"/>
            <a:r>
              <a:rPr lang="en-US" sz="2800" b="1" dirty="0"/>
              <a:t>Step 3</a:t>
            </a:r>
            <a:r>
              <a:rPr lang="en-US" sz="2800" dirty="0"/>
              <a:t>: In </a:t>
            </a:r>
            <a:r>
              <a:rPr lang="en-US" sz="2800" b="1" i="1" dirty="0"/>
              <a:t>AndroidManifest.xml</a:t>
            </a:r>
            <a:r>
              <a:rPr lang="en-US" sz="2800" dirty="0"/>
              <a:t> add the permission to send SMS. It will permit an android application to send SMS.</a:t>
            </a:r>
          </a:p>
          <a:p>
            <a:r>
              <a:rPr lang="en-US" sz="2800" dirty="0"/>
              <a:t>&lt;uses-permission </a:t>
            </a:r>
            <a:r>
              <a:rPr lang="en-US" sz="2800" dirty="0" err="1"/>
              <a:t>android:name</a:t>
            </a:r>
            <a:r>
              <a:rPr lang="en-US" sz="2800" dirty="0"/>
              <a:t>=" </a:t>
            </a:r>
            <a:r>
              <a:rPr lang="en-US" sz="2800" dirty="0" err="1"/>
              <a:t>android.permission.SEND_SMS</a:t>
            </a:r>
            <a:r>
              <a:rPr lang="en-US" sz="2800" dirty="0"/>
              <a:t> " /&gt;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6815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Activity_main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768994"/>
              </p:ext>
            </p:extLst>
          </p:nvPr>
        </p:nvGraphicFramePr>
        <p:xfrm>
          <a:off x="130388" y="1138121"/>
          <a:ext cx="11937116" cy="555691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52698"/>
                <a:gridCol w="5884418"/>
              </a:tblGrid>
              <a:tr h="472965">
                <a:tc gridSpan="2"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activity_main.xml </a:t>
                      </a:r>
                      <a:endParaRPr lang="en-US" sz="32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916833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&lt;?xml version="1.0" encoding="utf-8"?&gt;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LinearLayout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xmlns:android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="http://schemas.android.com/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apk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/res/android"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match_parent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match_parent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android:gravity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center_horizontal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android:orientation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="vertical"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ImageView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imageView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="120dp"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="120dp"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android:layout_marginTop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="60dp"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android:src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drawable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gfg_icon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LinearLayout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match_parent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android:layout_marginStart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="16dp"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android:layout_marginTop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="32dp"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android:layout_marginEnd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="16dp"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android:orientation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="horizontal"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US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TextView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textView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="Phone Number:"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="165sp"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android:textSize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="18sp"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="0dp"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android:ems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="10"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android:hint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="Enter number"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android:inputType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="phone"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LinearLayout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LinearLayout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match_parent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android:layout_marginStart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="16dp"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android:layout_marginTop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="32dp"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android:layout_marginEnd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="16dp"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android:orientation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="horizontal"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14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Activity_main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517807"/>
              </p:ext>
            </p:extLst>
          </p:nvPr>
        </p:nvGraphicFramePr>
        <p:xfrm>
          <a:off x="130388" y="1138121"/>
          <a:ext cx="11937116" cy="5852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52698"/>
                <a:gridCol w="5884418"/>
              </a:tblGrid>
              <a:tr h="472965">
                <a:tc gridSpan="2"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activity_main.xml </a:t>
                      </a:r>
                      <a:endParaRPr lang="en-US" sz="32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916833">
                <a:tc>
                  <a:txBody>
                    <a:bodyPr/>
                    <a:lstStyle/>
                    <a:p>
                      <a:pPr algn="l"/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TextView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="@+id/textView2"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="Message to be Sent:"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android:width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="165sp"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android:textSize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="18sp" 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="@+id/editText2"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="0dp"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android:layout_weight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android:ems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="10"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android:gravity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top|start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android:hint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="Enter message"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android:inputType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textMultiLine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sz="2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LinearLayout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US" sz="24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&lt;Button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="@+id/button"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android:layout_gravity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center_horizontal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android:layout_marginTop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="32dp"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="SEND" 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sz="2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LinearLayout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84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code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505265"/>
              </p:ext>
            </p:extLst>
          </p:nvPr>
        </p:nvGraphicFramePr>
        <p:xfrm>
          <a:off x="130388" y="1138121"/>
          <a:ext cx="11937116" cy="56692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283441"/>
                <a:gridCol w="6653675"/>
              </a:tblGrid>
              <a:tr h="313308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Main_Activity.Java</a:t>
                      </a:r>
                      <a:endParaRPr lang="en-US" sz="2000" dirty="0" smtClean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916833"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package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com.example.gfg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androidx.appcompat.app.AppCompatActivity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android.os.Bundle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android.telephony.SmsManager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android.view.View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android.widget.Button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android.widget.EditText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android.widget.Toast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MainActivity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extends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AppCompatActivity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{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EditText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phonenumber,message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Button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send;</a:t>
                      </a:r>
                    </a:p>
                    <a:p>
                      <a:pPr algn="l"/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@Override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protected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void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onCreate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(Bundle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savedInstanceState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{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onCreate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savedInstanceState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);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setContentView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R.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layout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activity_main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);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send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findViewById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R.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);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phonenumber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findViewById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R.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);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message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2000" dirty="0" err="1" smtClean="0">
                          <a:solidFill>
                            <a:schemeClr val="bg1"/>
                          </a:solidFill>
                          <a:effectLst/>
                        </a:rPr>
                        <a:t>findViewById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(R.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editText2</a:t>
                      </a:r>
                      <a:r>
                        <a:rPr lang="en-US" dirty="0" smtClean="0">
                          <a:effectLst/>
                        </a:rPr>
                        <a:t>);</a:t>
                      </a:r>
                      <a:endParaRPr lang="en-US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send.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setOnClickListener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View.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OnClickListener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()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{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void 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onClick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(View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view)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{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String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number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phonenumber.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getText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().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toString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();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String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msg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message.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getText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().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toString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();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{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SmsManager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smsManager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SmsManager.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getDefault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();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smsManager.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sendTextMessage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number,</a:t>
                      </a:r>
                      <a:r>
                        <a:rPr lang="en-US" sz="2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,msg,</a:t>
                      </a:r>
                      <a:r>
                        <a:rPr lang="en-US" sz="2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,</a:t>
                      </a:r>
                      <a:r>
                        <a:rPr lang="en-US" sz="2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);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Toast.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makeText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getApplicationContext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(),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"Message Sent"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,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Toast.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LENGTH_LONG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).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();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}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catch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(Exception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e)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{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Toast.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makeText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getApplicationContext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(),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"Some fields is Empty"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,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  <a:effectLst/>
                        </a:rPr>
                        <a:t>Toast.</a:t>
                      </a:r>
                      <a:r>
                        <a:rPr lang="en-US" sz="24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LENGTH_LONG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).</a:t>
                      </a:r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();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}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}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});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}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  <a:effectLst/>
                        </a:rPr>
                        <a:t>}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36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1079</TotalTime>
  <Words>472</Words>
  <Application>Microsoft Office PowerPoint</Application>
  <PresentationFormat>Custom</PresentationFormat>
  <Paragraphs>40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Naeem Khan</dc:creator>
  <cp:lastModifiedBy>Muhammad Naeem Khan</cp:lastModifiedBy>
  <cp:revision>111</cp:revision>
  <dcterms:created xsi:type="dcterms:W3CDTF">2024-11-04T05:04:00Z</dcterms:created>
  <dcterms:modified xsi:type="dcterms:W3CDTF">2025-02-07T06:02:41Z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92ED70D60F184857A85F9A485E7AD0CC_12</vt:lpwstr>
  </property>
  <property fmtid="{D5CDD505-2E9C-101B-9397-08002B2CF9AE}" pid="3" name="KSOProductBuildVer">
    <vt:lpwstr>1033-12.2.0.18911</vt:lpwstr>
  </property>
</Properties>
</file>