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74" r:id="rId1"/>
  </p:sldMasterIdLst>
  <p:notesMasterIdLst>
    <p:notesMasterId r:id="rId9"/>
  </p:notesMasterIdLst>
  <p:handoutMasterIdLst>
    <p:handoutMasterId r:id="rId10"/>
  </p:handoutMasterIdLst>
  <p:sldIdLst>
    <p:sldId id="256" r:id="rId2"/>
    <p:sldId id="258" r:id="rId3"/>
    <p:sldId id="323" r:id="rId4"/>
    <p:sldId id="324" r:id="rId5"/>
    <p:sldId id="321" r:id="rId6"/>
    <p:sldId id="322"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81" d="100"/>
          <a:sy n="81" d="100"/>
        </p:scale>
        <p:origin x="-300" y="-3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Superior College Mian Channu</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F23418-877D-4E15-98EB-B18A416688F8}" type="datetimeFigureOut">
              <a:rPr lang="en-US" smtClean="0"/>
              <a:t>1/7/2025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1B3ED0-4E7F-4552-8A34-7C1339267C6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Superior College Mian Channu</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095D31-9972-44D7-A973-436B8E0F36E9}" type="datetimeFigureOut">
              <a:rPr lang="en-US" smtClean="0"/>
              <a:t>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F085B6-4FD1-4360-BB53-F417E13A6F25}" type="slidenum">
              <a:rPr lang="en-US" smtClean="0"/>
              <a:t>‹#›</a:t>
            </a:fld>
            <a:endParaRPr lang="en-US"/>
          </a:p>
        </p:txBody>
      </p:sp>
    </p:spTree>
    <p:extLst>
      <p:ext uri="{BB962C8B-B14F-4D97-AF65-F5344CB8AC3E}">
        <p14:creationId xmlns:p14="http://schemas.microsoft.com/office/powerpoint/2010/main" val="3620841288"/>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extBox 7"/>
          <p:cNvSpPr txBox="1"/>
          <p:nvPr/>
        </p:nvSpPr>
        <p:spPr>
          <a:xfrm>
            <a:off x="2438400" y="3159761"/>
            <a:ext cx="609600" cy="1034129"/>
          </a:xfrm>
          <a:prstGeom prst="rect">
            <a:avLst/>
          </a:prstGeom>
          <a:noFill/>
        </p:spPr>
        <p:txBody>
          <a:bodyPr wrap="square" lIns="0" tIns="9144" rIns="0" bIns="9144" rtlCol="0" anchor="ctr"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2" name="Title 1"/>
          <p:cNvSpPr>
            <a:spLocks noGrp="1"/>
          </p:cNvSpPr>
          <p:nvPr>
            <p:ph type="ctrTitle"/>
          </p:nvPr>
        </p:nvSpPr>
        <p:spPr>
          <a:xfrm>
            <a:off x="1036320" y="1219200"/>
            <a:ext cx="10058400" cy="2152650"/>
          </a:xfrm>
        </p:spPr>
        <p:txBody>
          <a:bodyPr>
            <a:noAutofit/>
          </a:bodyPr>
          <a:lstStyle>
            <a:lvl1pPr>
              <a:defRPr sz="600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844800" y="3375491"/>
            <a:ext cx="8229600" cy="685800"/>
          </a:xfrm>
        </p:spPr>
        <p:txBody>
          <a:bodyPr anchor="ct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5" name="Date Placeholder 14"/>
          <p:cNvSpPr>
            <a:spLocks noGrp="1"/>
          </p:cNvSpPr>
          <p:nvPr>
            <p:ph type="dt" sz="half" idx="10"/>
          </p:nvPr>
        </p:nvSpPr>
        <p:spPr/>
        <p:txBody>
          <a:bodyPr/>
          <a:lstStyle/>
          <a:p>
            <a:fld id="{92A59E04-BC48-4C3C-B2CF-95287A202A10}" type="datetimeFigureOut">
              <a:rPr lang="en-US" smtClean="0"/>
              <a:t>1/7/2025</a:t>
            </a:fld>
            <a:endParaRPr lang="en-US"/>
          </a:p>
        </p:txBody>
      </p:sp>
      <p:sp>
        <p:nvSpPr>
          <p:cNvPr id="16" name="Slide Number Placeholder 15"/>
          <p:cNvSpPr>
            <a:spLocks noGrp="1"/>
          </p:cNvSpPr>
          <p:nvPr>
            <p:ph type="sldNum" sz="quarter" idx="11"/>
          </p:nvPr>
        </p:nvSpPr>
        <p:spPr/>
        <p:txBody>
          <a:bodyPr/>
          <a:lstStyle/>
          <a:p>
            <a:fld id="{8CF08CA4-D9C5-4472-8FBF-7DFA91021E4F}"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4" name="Date Placeholder 13"/>
          <p:cNvSpPr>
            <a:spLocks noGrp="1"/>
          </p:cNvSpPr>
          <p:nvPr>
            <p:ph type="dt" sz="half" idx="10"/>
          </p:nvPr>
        </p:nvSpPr>
        <p:spPr/>
        <p:txBody>
          <a:bodyPr/>
          <a:lstStyle/>
          <a:p>
            <a:fld id="{92A59E04-BC48-4C3C-B2CF-95287A202A10}" type="datetimeFigureOut">
              <a:rPr lang="en-US" smtClean="0"/>
              <a:t>1/7/2025</a:t>
            </a:fld>
            <a:endParaRPr lang="en-US"/>
          </a:p>
        </p:txBody>
      </p:sp>
      <p:sp>
        <p:nvSpPr>
          <p:cNvPr id="15" name="Slide Number Placeholder 14"/>
          <p:cNvSpPr>
            <a:spLocks noGrp="1"/>
          </p:cNvSpPr>
          <p:nvPr>
            <p:ph type="sldNum" sz="quarter" idx="11"/>
          </p:nvPr>
        </p:nvSpPr>
        <p:spPr/>
        <p:txBody>
          <a:bodyPr/>
          <a:lstStyle/>
          <a:p>
            <a:fld id="{8CF08CA4-D9C5-4472-8FBF-7DFA91021E4F}"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TextBox 7"/>
          <p:cNvSpPr txBox="1"/>
          <p:nvPr/>
        </p:nvSpPr>
        <p:spPr>
          <a:xfrm>
            <a:off x="5689600" y="4074498"/>
            <a:ext cx="609600" cy="1015663"/>
          </a:xfrm>
          <a:prstGeom prst="rect">
            <a:avLst/>
          </a:prstGeom>
          <a:noFill/>
        </p:spPr>
        <p:txBody>
          <a:bodyPr wrap="square" lIns="0" tIns="0" rIns="0" bIns="0" rtlCol="0" anchor="t"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3" name="Text Placeholder 2"/>
          <p:cNvSpPr>
            <a:spLocks noGrp="1"/>
          </p:cNvSpPr>
          <p:nvPr>
            <p:ph type="body" idx="1"/>
          </p:nvPr>
        </p:nvSpPr>
        <p:spPr>
          <a:xfrm>
            <a:off x="6096000" y="4267368"/>
            <a:ext cx="4978400" cy="731520"/>
          </a:xfrm>
        </p:spPr>
        <p:txBody>
          <a:bodyPr anchor="ctr">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2" name="Date Placeholder 11"/>
          <p:cNvSpPr>
            <a:spLocks noGrp="1"/>
          </p:cNvSpPr>
          <p:nvPr>
            <p:ph type="dt" sz="half" idx="10"/>
          </p:nvPr>
        </p:nvSpPr>
        <p:spPr/>
        <p:txBody>
          <a:bodyPr/>
          <a:lstStyle/>
          <a:p>
            <a:fld id="{92A59E04-BC48-4C3C-B2CF-95287A202A10}" type="datetimeFigureOut">
              <a:rPr lang="en-US" smtClean="0"/>
              <a:t>1/7/2025</a:t>
            </a:fld>
            <a:endParaRPr lang="en-US"/>
          </a:p>
        </p:txBody>
      </p:sp>
      <p:sp>
        <p:nvSpPr>
          <p:cNvPr id="13" name="Slide Number Placeholder 12"/>
          <p:cNvSpPr>
            <a:spLocks noGrp="1"/>
          </p:cNvSpPr>
          <p:nvPr>
            <p:ph type="sldNum" sz="quarter" idx="11"/>
          </p:nvPr>
        </p:nvSpPr>
        <p:spPr/>
        <p:txBody>
          <a:bodyPr/>
          <a:lstStyle/>
          <a:p>
            <a:fld id="{8CF08CA4-D9C5-4472-8FBF-7DFA91021E4F}"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
        <p:nvSpPr>
          <p:cNvPr id="4" name="Title 3"/>
          <p:cNvSpPr>
            <a:spLocks noGrp="1"/>
          </p:cNvSpPr>
          <p:nvPr>
            <p:ph type="title"/>
          </p:nvPr>
        </p:nvSpPr>
        <p:spPr>
          <a:xfrm>
            <a:off x="3048000" y="1905000"/>
            <a:ext cx="8046720" cy="2350008"/>
          </a:xfrm>
        </p:spPr>
        <p:txBody>
          <a:bodyPr/>
          <a:lstStyle>
            <a:lvl1pPr marL="0" algn="l" defTabSz="914400" rtl="0" eaLnBrk="1" latinLnBrk="0" hangingPunct="1">
              <a:spcBef>
                <a:spcPct val="0"/>
              </a:spcBef>
              <a:buNone/>
              <a:defRPr lang="en-US" sz="5400" b="0" kern="1200" cap="none" dirty="0" smtClean="0">
                <a:solidFill>
                  <a:schemeClr val="tx1"/>
                </a:solidFill>
                <a:effectLst>
                  <a:outerShdw blurRad="38100" dist="38100" dir="2700000" algn="tl">
                    <a:srgbClr val="000000">
                      <a:alpha val="43137"/>
                    </a:srgbClr>
                  </a:outerShdw>
                </a:effectLst>
                <a:latin typeface="+mj-lt"/>
                <a:ea typeface="+mj-ea"/>
                <a:cs typeface="+mj-cs"/>
              </a:defRPr>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92A59E04-BC48-4C3C-B2CF-95287A202A10}" type="datetimeFigureOut">
              <a:rPr lang="en-US" smtClean="0"/>
              <a:t>1/7/2025</a:t>
            </a:fld>
            <a:endParaRPr lang="en-US"/>
          </a:p>
        </p:txBody>
      </p:sp>
      <p:sp>
        <p:nvSpPr>
          <p:cNvPr id="9" name="Slide Number Placeholder 8"/>
          <p:cNvSpPr>
            <a:spLocks noGrp="1"/>
          </p:cNvSpPr>
          <p:nvPr>
            <p:ph type="sldNum" sz="quarter" idx="11"/>
          </p:nvPr>
        </p:nvSpPr>
        <p:spPr/>
        <p:txBody>
          <a:bodyPr/>
          <a:lstStyle/>
          <a:p>
            <a:fld id="{8CF08CA4-D9C5-4472-8FBF-7DFA91021E4F}"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
        <p:nvSpPr>
          <p:cNvPr id="11" name="Title 10"/>
          <p:cNvSpPr>
            <a:spLocks noGrp="1"/>
          </p:cNvSpPr>
          <p:nvPr>
            <p:ph type="title"/>
          </p:nvPr>
        </p:nvSpPr>
        <p:spPr/>
        <p:txBody>
          <a:bodyPr/>
          <a:lstStyle/>
          <a:p>
            <a:r>
              <a:rPr lang="en-US" smtClean="0"/>
              <a:t>Click to edit Master title style</a:t>
            </a:r>
            <a:endParaRPr lang="en-US" dirty="0"/>
          </a:p>
        </p:txBody>
      </p:sp>
      <p:sp>
        <p:nvSpPr>
          <p:cNvPr id="5" name="Content Placeholder 4"/>
          <p:cNvSpPr>
            <a:spLocks noGrp="1"/>
          </p:cNvSpPr>
          <p:nvPr>
            <p:ph sz="quarter" idx="13"/>
          </p:nvPr>
        </p:nvSpPr>
        <p:spPr>
          <a:xfrm>
            <a:off x="1792224" y="658368"/>
            <a:ext cx="4364736" cy="3429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6"/>
          <p:cNvSpPr>
            <a:spLocks noGrp="1"/>
          </p:cNvSpPr>
          <p:nvPr>
            <p:ph sz="quarter" idx="14"/>
          </p:nvPr>
        </p:nvSpPr>
        <p:spPr>
          <a:xfrm>
            <a:off x="6705600" y="658369"/>
            <a:ext cx="4364736" cy="34321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8160" y="661976"/>
            <a:ext cx="4364736"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792224" y="1371600"/>
            <a:ext cx="4368800"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705600" y="661976"/>
            <a:ext cx="4364736"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705600" y="1371600"/>
            <a:ext cx="4364736"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TextBox 12"/>
          <p:cNvSpPr txBox="1"/>
          <p:nvPr/>
        </p:nvSpPr>
        <p:spPr>
          <a:xfrm>
            <a:off x="1408853" y="520192"/>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8" name="TextBox 17"/>
          <p:cNvSpPr txBox="1"/>
          <p:nvPr/>
        </p:nvSpPr>
        <p:spPr>
          <a:xfrm>
            <a:off x="6373707" y="520192"/>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2" name="Title 11"/>
          <p:cNvSpPr>
            <a:spLocks noGrp="1"/>
          </p:cNvSpPr>
          <p:nvPr>
            <p:ph type="title"/>
          </p:nvPr>
        </p:nvSpPr>
        <p:spPr/>
        <p:txBody>
          <a:bodyPr/>
          <a:lstStyle/>
          <a:p>
            <a:r>
              <a:rPr lang="en-US" smtClean="0"/>
              <a:t>Click to edit Master title style</a:t>
            </a:r>
            <a:endParaRPr lang="en-US" dirty="0"/>
          </a:p>
        </p:txBody>
      </p:sp>
      <p:sp>
        <p:nvSpPr>
          <p:cNvPr id="14" name="Date Placeholder 13"/>
          <p:cNvSpPr>
            <a:spLocks noGrp="1"/>
          </p:cNvSpPr>
          <p:nvPr>
            <p:ph type="dt" sz="half" idx="10"/>
          </p:nvPr>
        </p:nvSpPr>
        <p:spPr/>
        <p:txBody>
          <a:bodyPr/>
          <a:lstStyle/>
          <a:p>
            <a:fld id="{92A59E04-BC48-4C3C-B2CF-95287A202A10}" type="datetimeFigureOut">
              <a:rPr lang="en-US" smtClean="0"/>
              <a:t>1/7/2025</a:t>
            </a:fld>
            <a:endParaRPr lang="en-US"/>
          </a:p>
        </p:txBody>
      </p:sp>
      <p:sp>
        <p:nvSpPr>
          <p:cNvPr id="15" name="Slide Number Placeholder 14"/>
          <p:cNvSpPr>
            <a:spLocks noGrp="1"/>
          </p:cNvSpPr>
          <p:nvPr>
            <p:ph type="sldNum" sz="quarter" idx="11"/>
          </p:nvPr>
        </p:nvSpPr>
        <p:spPr/>
        <p:txBody>
          <a:bodyPr/>
          <a:lstStyle/>
          <a:p>
            <a:fld id="{8CF08CA4-D9C5-4472-8FBF-7DFA91021E4F}"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a:p>
        </p:txBody>
      </p:sp>
      <p:sp>
        <p:nvSpPr>
          <p:cNvPr id="7" name="Date Placeholder 6"/>
          <p:cNvSpPr>
            <a:spLocks noGrp="1"/>
          </p:cNvSpPr>
          <p:nvPr>
            <p:ph type="dt" sz="half" idx="10"/>
          </p:nvPr>
        </p:nvSpPr>
        <p:spPr/>
        <p:txBody>
          <a:bodyPr/>
          <a:lstStyle/>
          <a:p>
            <a:fld id="{92A59E04-BC48-4C3C-B2CF-95287A202A10}" type="datetimeFigureOut">
              <a:rPr lang="en-US" smtClean="0"/>
              <a:t>1/7/2025</a:t>
            </a:fld>
            <a:endParaRPr lang="en-US"/>
          </a:p>
        </p:txBody>
      </p:sp>
      <p:sp>
        <p:nvSpPr>
          <p:cNvPr id="8" name="Slide Number Placeholder 7"/>
          <p:cNvSpPr>
            <a:spLocks noGrp="1"/>
          </p:cNvSpPr>
          <p:nvPr>
            <p:ph type="sldNum" sz="quarter" idx="11"/>
          </p:nvPr>
        </p:nvSpPr>
        <p:spPr/>
        <p:txBody>
          <a:bodyPr/>
          <a:lstStyle/>
          <a:p>
            <a:fld id="{8CF08CA4-D9C5-4472-8FBF-7DFA91021E4F}"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2A59E04-BC48-4C3C-B2CF-95287A202A10}" type="datetimeFigureOut">
              <a:rPr lang="en-US" smtClean="0"/>
              <a:t>1/7/2025</a:t>
            </a:fld>
            <a:endParaRPr lang="en-US"/>
          </a:p>
        </p:txBody>
      </p:sp>
      <p:sp>
        <p:nvSpPr>
          <p:cNvPr id="6" name="Slide Number Placeholder 5"/>
          <p:cNvSpPr>
            <a:spLocks noGrp="1"/>
          </p:cNvSpPr>
          <p:nvPr>
            <p:ph type="sldNum" sz="quarter" idx="11"/>
          </p:nvPr>
        </p:nvSpPr>
        <p:spPr/>
        <p:txBody>
          <a:bodyPr/>
          <a:lstStyle/>
          <a:p>
            <a:fld id="{8CF08CA4-D9C5-4472-8FBF-7DFA91021E4F}" type="slidenum">
              <a:rPr lang="en-US" smtClean="0"/>
              <a:t>‹#›</a:t>
            </a:fld>
            <a:endParaRPr lang="en-US"/>
          </a:p>
        </p:txBody>
      </p:sp>
      <p:sp>
        <p:nvSpPr>
          <p:cNvPr id="7" name="Footer Placeholder 6"/>
          <p:cNvSpPr>
            <a:spLocks noGrp="1"/>
          </p:cNvSpPr>
          <p:nvPr>
            <p:ph type="ftr"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TextBox 8"/>
          <p:cNvSpPr txBox="1"/>
          <p:nvPr/>
        </p:nvSpPr>
        <p:spPr>
          <a:xfrm>
            <a:off x="7105227" y="1774588"/>
            <a:ext cx="609600" cy="1231106"/>
          </a:xfrm>
          <a:prstGeom prst="rect">
            <a:avLst/>
          </a:prstGeom>
          <a:noFill/>
        </p:spPr>
        <p:txBody>
          <a:bodyPr wrap="square" lIns="0" tIns="0" rIns="0" bIns="0" rtlCol="0" anchor="t" anchorCtr="0">
            <a:spAutoFit/>
          </a:bodyPr>
          <a:lstStyle/>
          <a:p>
            <a:r>
              <a:rPr lang="en-US" sz="8000" dirty="0" smtClean="0">
                <a:effectLst>
                  <a:outerShdw blurRad="38100" dist="38100" dir="2700000" algn="tl">
                    <a:srgbClr val="000000">
                      <a:alpha val="43137"/>
                    </a:srgbClr>
                  </a:outerShdw>
                </a:effectLst>
                <a:latin typeface="+mn-lt"/>
              </a:rPr>
              <a:t>{</a:t>
            </a:r>
            <a:endParaRPr lang="en-US" sz="8000"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1117600" y="685801"/>
            <a:ext cx="5791200" cy="3429000"/>
          </a:xfrm>
        </p:spPr>
        <p:txBody>
          <a:bodyPr anchor="ct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20000" y="685801"/>
            <a:ext cx="3454400" cy="3429000"/>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5" name="Date Placeholder 14"/>
          <p:cNvSpPr>
            <a:spLocks noGrp="1"/>
          </p:cNvSpPr>
          <p:nvPr>
            <p:ph type="dt" sz="half" idx="10"/>
          </p:nvPr>
        </p:nvSpPr>
        <p:spPr/>
        <p:txBody>
          <a:bodyPr/>
          <a:lstStyle/>
          <a:p>
            <a:fld id="{92A59E04-BC48-4C3C-B2CF-95287A202A10}" type="datetimeFigureOut">
              <a:rPr lang="en-US" smtClean="0"/>
              <a:t>1/7/2025</a:t>
            </a:fld>
            <a:endParaRPr lang="en-US"/>
          </a:p>
        </p:txBody>
      </p:sp>
      <p:sp>
        <p:nvSpPr>
          <p:cNvPr id="16" name="Slide Number Placeholder 15"/>
          <p:cNvSpPr>
            <a:spLocks noGrp="1"/>
          </p:cNvSpPr>
          <p:nvPr>
            <p:ph type="sldNum" sz="quarter" idx="11"/>
          </p:nvPr>
        </p:nvSpPr>
        <p:spPr/>
        <p:txBody>
          <a:bodyPr/>
          <a:lstStyle/>
          <a:p>
            <a:fld id="{8CF08CA4-D9C5-4472-8FBF-7DFA91021E4F}"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
        <p:nvSpPr>
          <p:cNvPr id="18" name="Title 17"/>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625600" y="612776"/>
            <a:ext cx="8940800" cy="2546985"/>
          </a:xfrm>
          <a:effectLst>
            <a:outerShdw blurRad="152400" dist="317500" dir="5400000" sx="90000" sy="-19000" rotWithShape="0">
              <a:prstClr val="black">
                <a:alpha val="15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3657600" y="3453047"/>
            <a:ext cx="6705600" cy="720804"/>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Box 8"/>
          <p:cNvSpPr txBox="1"/>
          <p:nvPr/>
        </p:nvSpPr>
        <p:spPr>
          <a:xfrm>
            <a:off x="3247136" y="3331464"/>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1" name="Title 10"/>
          <p:cNvSpPr>
            <a:spLocks noGrp="1"/>
          </p:cNvSpPr>
          <p:nvPr>
            <p:ph type="title"/>
          </p:nvPr>
        </p:nvSpPr>
        <p:spPr/>
        <p:txBody>
          <a:bodyPr/>
          <a:lstStyle/>
          <a:p>
            <a:r>
              <a:rPr lang="en-US" smtClean="0"/>
              <a:t>Click to edit Master title style</a:t>
            </a:r>
            <a:endParaRPr lang="en-US"/>
          </a:p>
        </p:txBody>
      </p:sp>
      <p:sp>
        <p:nvSpPr>
          <p:cNvPr id="13" name="Date Placeholder 12"/>
          <p:cNvSpPr>
            <a:spLocks noGrp="1"/>
          </p:cNvSpPr>
          <p:nvPr>
            <p:ph type="dt" sz="half" idx="10"/>
          </p:nvPr>
        </p:nvSpPr>
        <p:spPr/>
        <p:txBody>
          <a:bodyPr/>
          <a:lstStyle/>
          <a:p>
            <a:fld id="{92A59E04-BC48-4C3C-B2CF-95287A202A10}" type="datetimeFigureOut">
              <a:rPr lang="en-US" smtClean="0"/>
              <a:t>1/7/2025</a:t>
            </a:fld>
            <a:endParaRPr lang="en-US"/>
          </a:p>
        </p:txBody>
      </p:sp>
      <p:sp>
        <p:nvSpPr>
          <p:cNvPr id="14" name="Slide Number Placeholder 13"/>
          <p:cNvSpPr>
            <a:spLocks noGrp="1"/>
          </p:cNvSpPr>
          <p:nvPr>
            <p:ph type="sldNum" sz="quarter" idx="11"/>
          </p:nvPr>
        </p:nvSpPr>
        <p:spPr/>
        <p:txBody>
          <a:bodyPr/>
          <a:lstStyle/>
          <a:p>
            <a:fld id="{8CF08CA4-D9C5-4472-8FBF-7DFA91021E4F}" type="slidenum">
              <a:rPr lang="en-US" smtClean="0"/>
              <a:t>‹#›</a:t>
            </a:fld>
            <a:endParaRPr lang="en-US"/>
          </a:p>
        </p:txBody>
      </p:sp>
      <p:sp>
        <p:nvSpPr>
          <p:cNvPr id="15" name="Footer Placeholder 14"/>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844800" y="685802"/>
            <a:ext cx="7721600" cy="3505199"/>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A59E04-BC48-4C3C-B2CF-95287A202A10}" type="datetimeFigureOut">
              <a:rPr lang="en-US" smtClean="0"/>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2800" y="609601"/>
            <a:ext cx="2844800" cy="51816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3860800" y="685801"/>
            <a:ext cx="6705600" cy="45720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2A59E04-BC48-4C3C-B2CF-95287A202A10}" type="datetimeFigureOut">
              <a:rPr lang="en-US" smtClean="0"/>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gradFill>
            <a:gsLst>
              <a:gs pos="0">
                <a:schemeClr val="accent6">
                  <a:lumMod val="50000"/>
                  <a:alpha val="36000"/>
                </a:schemeClr>
              </a:gs>
              <a:gs pos="100000">
                <a:schemeClr val="bg2">
                  <a:alpha val="1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19724275">
            <a:off x="1830961" y="1038441"/>
            <a:ext cx="9654160" cy="5706987"/>
          </a:xfrm>
          <a:prstGeom prst="ellipse">
            <a:avLst/>
          </a:prstGeom>
          <a:gradFill flip="none" rotWithShape="1">
            <a:gsLst>
              <a:gs pos="0">
                <a:schemeClr val="accent6">
                  <a:lumMod val="60000"/>
                  <a:lumOff val="40000"/>
                  <a:alpha val="7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17656910">
            <a:off x="557464" y="419133"/>
            <a:ext cx="5538472" cy="5973945"/>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9724275">
            <a:off x="4370607" y="116855"/>
            <a:ext cx="8639149" cy="4754757"/>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36320" y="4876800"/>
            <a:ext cx="10058400" cy="9144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2844800" y="685802"/>
            <a:ext cx="8128000" cy="3657599"/>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29600" y="6154739"/>
            <a:ext cx="2844800" cy="365125"/>
          </a:xfrm>
          <a:prstGeom prst="rect">
            <a:avLst/>
          </a:prstGeom>
        </p:spPr>
        <p:txBody>
          <a:bodyPr vert="horz" lIns="91440" tIns="45720" rIns="91440" bIns="45720" rtlCol="0" anchor="t"/>
          <a:lstStyle>
            <a:lvl1pPr algn="r">
              <a:defRPr sz="1100">
                <a:solidFill>
                  <a:schemeClr val="tx1">
                    <a:alpha val="60000"/>
                  </a:schemeClr>
                </a:solidFill>
                <a:effectLst/>
              </a:defRPr>
            </a:lvl1pPr>
          </a:lstStyle>
          <a:p>
            <a:fld id="{92A59E04-BC48-4C3C-B2CF-95287A202A10}" type="datetimeFigureOut">
              <a:rPr lang="en-US" smtClean="0"/>
              <a:t>1/7/2025</a:t>
            </a:fld>
            <a:endParaRPr lang="en-US"/>
          </a:p>
        </p:txBody>
      </p:sp>
      <p:sp>
        <p:nvSpPr>
          <p:cNvPr id="5" name="Footer Placeholder 4"/>
          <p:cNvSpPr>
            <a:spLocks noGrp="1"/>
          </p:cNvSpPr>
          <p:nvPr>
            <p:ph type="ftr" sz="quarter" idx="3"/>
          </p:nvPr>
        </p:nvSpPr>
        <p:spPr>
          <a:xfrm>
            <a:off x="1097280" y="6154739"/>
            <a:ext cx="6096000" cy="365125"/>
          </a:xfrm>
          <a:prstGeom prst="rect">
            <a:avLst/>
          </a:prstGeom>
        </p:spPr>
        <p:txBody>
          <a:bodyPr vert="horz" lIns="91440" tIns="45720" rIns="91440" bIns="45720" rtlCol="0" anchor="t"/>
          <a:lstStyle>
            <a:lvl1pPr algn="l">
              <a:defRPr sz="1100">
                <a:solidFill>
                  <a:schemeClr val="tx1">
                    <a:alpha val="60000"/>
                  </a:schemeClr>
                </a:solidFill>
                <a:effectLst/>
              </a:defRPr>
            </a:lvl1pPr>
          </a:lstStyle>
          <a:p>
            <a:endParaRPr lang="en-US"/>
          </a:p>
        </p:txBody>
      </p:sp>
      <p:sp>
        <p:nvSpPr>
          <p:cNvPr id="6" name="Slide Number Placeholder 5"/>
          <p:cNvSpPr>
            <a:spLocks noGrp="1"/>
          </p:cNvSpPr>
          <p:nvPr>
            <p:ph type="sldNum" sz="quarter" idx="4"/>
          </p:nvPr>
        </p:nvSpPr>
        <p:spPr>
          <a:xfrm>
            <a:off x="1097280" y="5842000"/>
            <a:ext cx="2844800" cy="304800"/>
          </a:xfrm>
          <a:prstGeom prst="rect">
            <a:avLst/>
          </a:prstGeom>
        </p:spPr>
        <p:txBody>
          <a:bodyPr vert="horz" lIns="91440" tIns="45720" rIns="91440" bIns="9144" rtlCol="0" anchor="b"/>
          <a:lstStyle>
            <a:lvl1pPr algn="l">
              <a:defRPr sz="1600">
                <a:solidFill>
                  <a:schemeClr val="tx1">
                    <a:alpha val="60000"/>
                  </a:schemeClr>
                </a:solidFill>
                <a:effectLst/>
              </a:defRPr>
            </a:lvl1pPr>
          </a:lstStyle>
          <a:p>
            <a:fld id="{8CF08CA4-D9C5-4472-8FBF-7DFA91021E4F}"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defTabSz="914400" rtl="0" eaLnBrk="1" latinLnBrk="0" hangingPunct="1">
        <a:spcBef>
          <a:spcPct val="0"/>
        </a:spcBef>
        <a:buNone/>
        <a:defRPr sz="49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56032" algn="l" defTabSz="914400" rtl="0" eaLnBrk="1" latinLnBrk="0" hangingPunct="1">
        <a:spcBef>
          <a:spcPct val="20000"/>
        </a:spcBef>
        <a:spcAft>
          <a:spcPts val="0"/>
        </a:spcAft>
        <a:buSzPct val="60000"/>
        <a:buFont typeface="Wingdings" pitchFamily="2" charset="2"/>
        <a:buChar char=""/>
        <a:defRPr sz="2100" kern="1200">
          <a:solidFill>
            <a:schemeClr val="tx1"/>
          </a:solidFill>
          <a:effectLst>
            <a:outerShdw blurRad="38100" dist="38100" dir="2700000" algn="tl">
              <a:srgbClr val="000000">
                <a:alpha val="43137"/>
              </a:srgbClr>
            </a:outerShdw>
          </a:effectLst>
          <a:latin typeface="+mn-lt"/>
          <a:ea typeface="+mn-ea"/>
          <a:cs typeface="+mn-cs"/>
        </a:defRPr>
      </a:lvl1pPr>
      <a:lvl2pPr marL="640080" indent="-256032" algn="l" defTabSz="914400" rtl="0" eaLnBrk="1" latinLnBrk="0" hangingPunct="1">
        <a:spcBef>
          <a:spcPct val="20000"/>
        </a:spcBef>
        <a:buSzPct val="60000"/>
        <a:buFont typeface="Wingdings" pitchFamily="2" charset="2"/>
        <a:buChar char=""/>
        <a:defRPr sz="1900" kern="1200">
          <a:solidFill>
            <a:schemeClr val="tx1"/>
          </a:solidFill>
          <a:effectLst>
            <a:outerShdw blurRad="38100" dist="38100" dir="2700000" algn="tl">
              <a:srgbClr val="000000">
                <a:alpha val="43137"/>
              </a:srgbClr>
            </a:outerShdw>
          </a:effectLst>
          <a:latin typeface="+mn-lt"/>
          <a:ea typeface="+mn-ea"/>
          <a:cs typeface="+mn-cs"/>
        </a:defRPr>
      </a:lvl2pPr>
      <a:lvl3pPr marL="1005840" indent="-256032" algn="l" defTabSz="914400" rtl="0" eaLnBrk="1" latinLnBrk="0" hangingPunct="1">
        <a:spcBef>
          <a:spcPct val="20000"/>
        </a:spcBef>
        <a:buSzPct val="60000"/>
        <a:buFont typeface="Wingdings" pitchFamily="2" charset="2"/>
        <a:buChar char=""/>
        <a:defRPr sz="17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56032" algn="l" defTabSz="914400" rtl="0" eaLnBrk="1" latinLnBrk="0" hangingPunct="1">
        <a:spcBef>
          <a:spcPct val="20000"/>
        </a:spcBef>
        <a:buSzPct val="60000"/>
        <a:buFont typeface="Wingdings" pitchFamily="2" charset="2"/>
        <a:buChar char=""/>
        <a:defRPr sz="16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56032" algn="l" defTabSz="914400" rtl="0" eaLnBrk="1" latinLnBrk="0" hangingPunct="1">
        <a:spcBef>
          <a:spcPct val="20000"/>
        </a:spcBef>
        <a:buSzPct val="60000"/>
        <a:buFont typeface="Wingdings" pitchFamily="2" charset="2"/>
        <a:buChar char=""/>
        <a:defRPr sz="1500" kern="1200">
          <a:solidFill>
            <a:schemeClr val="tx1"/>
          </a:solidFill>
          <a:effectLst>
            <a:outerShdw blurRad="38100" dist="38100" dir="2700000" algn="tl">
              <a:srgbClr val="000000">
                <a:alpha val="43137"/>
              </a:srgbClr>
            </a:outerShdw>
          </a:effectLst>
          <a:latin typeface="+mn-lt"/>
          <a:ea typeface="+mn-ea"/>
          <a:cs typeface="+mn-cs"/>
        </a:defRPr>
      </a:lvl5pPr>
      <a:lvl6pPr marL="196596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24028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1460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83464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what-is-intent-in-android/" TargetMode="Externa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7" y="10"/>
            <a:ext cx="12191984" cy="6857991"/>
          </a:xfrm>
          <a:prstGeom prst="rect">
            <a:avLst/>
          </a:prstGeom>
        </p:spPr>
      </p:pic>
      <p:sp>
        <p:nvSpPr>
          <p:cNvPr id="6" name="Rectangle 5"/>
          <p:cNvSpPr/>
          <p:nvPr/>
        </p:nvSpPr>
        <p:spPr>
          <a:xfrm>
            <a:off x="0" y="0"/>
            <a:ext cx="12192000" cy="6858000"/>
          </a:xfrm>
          <a:prstGeom prst="rect">
            <a:avLst/>
          </a:prstGeom>
          <a:gradFill flip="none" rotWithShape="1">
            <a:gsLst>
              <a:gs pos="0">
                <a:schemeClr val="accent4">
                  <a:lumMod val="0"/>
                  <a:lumOff val="100000"/>
                </a:schemeClr>
              </a:gs>
              <a:gs pos="35000">
                <a:schemeClr val="accent4">
                  <a:lumMod val="0"/>
                  <a:lumOff val="100000"/>
                  <a:alpha val="54000"/>
                </a:schemeClr>
              </a:gs>
              <a:gs pos="100000">
                <a:schemeClr val="accent4">
                  <a:lumMod val="100000"/>
                </a:schemeClr>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p:nvCxnSpPr>
        <p:spPr>
          <a:xfrm rot="254895">
            <a:off x="1244259" y="1587490"/>
            <a:ext cx="1378634" cy="3101380"/>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254895" flipV="1">
            <a:off x="1414026" y="953161"/>
            <a:ext cx="1347430" cy="640621"/>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rot="254895" flipV="1">
            <a:off x="2528004" y="4145838"/>
            <a:ext cx="1347430" cy="640621"/>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rot="254895">
            <a:off x="2781579" y="1021138"/>
            <a:ext cx="434003" cy="871580"/>
          </a:xfrm>
          <a:prstGeom prst="line">
            <a:avLst/>
          </a:prstGeom>
          <a:ln w="76200" cap="rnd">
            <a:solidFill>
              <a:schemeClr val="bg1"/>
            </a:solidFill>
            <a:round/>
            <a:tailEnd type="ova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254895">
            <a:off x="3531651" y="3347833"/>
            <a:ext cx="428346" cy="836383"/>
          </a:xfrm>
          <a:prstGeom prst="line">
            <a:avLst/>
          </a:prstGeom>
          <a:ln w="76200" cap="rnd">
            <a:solidFill>
              <a:schemeClr val="bg1"/>
            </a:solidFill>
            <a:round/>
            <a:headEnd type="oval"/>
            <a:tailEnd type="non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145302" y="1610122"/>
            <a:ext cx="8474028" cy="1862048"/>
          </a:xfrm>
          <a:prstGeom prst="rect">
            <a:avLst/>
          </a:prstGeom>
          <a:noFill/>
        </p:spPr>
        <p:txBody>
          <a:bodyPr wrap="square" rtlCol="0">
            <a:spAutoFit/>
          </a:bodyPr>
          <a:lstStyle/>
          <a:p>
            <a:r>
              <a:rPr lang="en-US" sz="11500" spc="600" dirty="0">
                <a:solidFill>
                  <a:schemeClr val="bg1"/>
                </a:solidFill>
                <a:effectLst>
                  <a:outerShdw blurRad="50800" dist="38100" dir="5400000" algn="t" rotWithShape="0">
                    <a:prstClr val="black">
                      <a:alpha val="40000"/>
                    </a:prstClr>
                  </a:outerShdw>
                </a:effectLst>
                <a:latin typeface="Aptos" panose="020B0004020202020204" pitchFamily="34" charset="0"/>
              </a:rPr>
              <a:t>WELCOME</a:t>
            </a:r>
          </a:p>
        </p:txBody>
      </p:sp>
      <p:sp>
        <p:nvSpPr>
          <p:cNvPr id="25" name="Arrow: Right 24">
            <a:hlinkClick r:id="" action="ppaction://hlinkshowjump?jump=nextslide"/>
          </p:cNvPr>
          <p:cNvSpPr/>
          <p:nvPr/>
        </p:nvSpPr>
        <p:spPr>
          <a:xfrm>
            <a:off x="10743027" y="2321170"/>
            <a:ext cx="1172308" cy="438026"/>
          </a:xfrm>
          <a:prstGeom prst="rightArrow">
            <a:avLst/>
          </a:prstGeom>
          <a:solidFill>
            <a:schemeClr val="bg1"/>
          </a:solidFill>
          <a:ln>
            <a:noFill/>
          </a:ln>
          <a:scene3d>
            <a:camera prst="orthographicFront"/>
            <a:lightRig rig="threePt" dir="t"/>
          </a:scene3d>
          <a:sp3d>
            <a:bevelT w="101600" prst="ribl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1131280" y="5895929"/>
            <a:ext cx="9636369" cy="1077218"/>
          </a:xfrm>
          <a:prstGeom prst="rect">
            <a:avLst/>
          </a:prstGeom>
          <a:noFill/>
        </p:spPr>
        <p:txBody>
          <a:bodyPr wrap="square" rtlCol="0">
            <a:spAutoFit/>
          </a:bodyPr>
          <a:lstStyle/>
          <a:p>
            <a:pPr algn="ctr"/>
            <a:r>
              <a:rPr lang="en-US" sz="3200" b="1" spc="600" dirty="0" smtClean="0">
                <a:solidFill>
                  <a:schemeClr val="bg1"/>
                </a:solidFill>
              </a:rPr>
              <a:t>Mobile And Application Development</a:t>
            </a:r>
            <a:endParaRPr lang="en-US" sz="3200" b="1" spc="6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7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right)">
                                      <p:cBhvr>
                                        <p:cTn id="12" dur="7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75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75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down)">
                                      <p:cBhvr>
                                        <p:cTn id="27" dur="75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1000"/>
                                        <p:tgtEl>
                                          <p:spTgt spid="21"/>
                                        </p:tgtEl>
                                      </p:cBhvr>
                                    </p:animEffect>
                                  </p:childTnLst>
                                </p:cTn>
                              </p:par>
                            </p:childTnLst>
                          </p:cTn>
                        </p:par>
                        <p:par>
                          <p:cTn id="33" fill="hold">
                            <p:stCondLst>
                              <p:cond delay="1000"/>
                            </p:stCondLst>
                            <p:childTnLst>
                              <p:par>
                                <p:cTn id="34" presetID="26" presetClass="emph" presetSubtype="0" repeatCount="indefinite" fill="hold" grpId="1" nodeType="afterEffect">
                                  <p:stCondLst>
                                    <p:cond delay="0"/>
                                  </p:stCondLst>
                                  <p:endCondLst>
                                    <p:cond evt="onNext" delay="0">
                                      <p:tgtEl>
                                        <p:sldTgt/>
                                      </p:tgtEl>
                                    </p:cond>
                                  </p:endCondLst>
                                  <p:childTnLst>
                                    <p:animEffect transition="out" filter="fade">
                                      <p:cBhvr>
                                        <p:cTn id="35" dur="1000" tmFilter="0, 0; .2, .5; .8, .5; 1, 0"/>
                                        <p:tgtEl>
                                          <p:spTgt spid="21"/>
                                        </p:tgtEl>
                                      </p:cBhvr>
                                    </p:animEffect>
                                    <p:animScale>
                                      <p:cBhvr>
                                        <p:cTn id="36" dur="500" autoRev="1" fill="hold"/>
                                        <p:tgtEl>
                                          <p:spTgt spid="21"/>
                                        </p:tgtEl>
                                      </p:cBhvr>
                                      <p:by x="105000" y="105000"/>
                                    </p:animScale>
                                  </p:childTnLst>
                                </p:cTn>
                              </p:par>
                            </p:childTnLst>
                          </p:cTn>
                        </p:par>
                        <p:par>
                          <p:cTn id="37" fill="hold">
                            <p:stCondLst>
                              <p:cond delay="2000"/>
                            </p:stCondLst>
                            <p:childTnLst>
                              <p:par>
                                <p:cTn id="38" presetID="2" presetClass="entr" presetSubtype="4" fill="hold" grpId="0" nodeType="afterEffect">
                                  <p:stCondLst>
                                    <p:cond delay="0"/>
                                  </p:stCondLst>
                                  <p:childTnLst>
                                    <p:set>
                                      <p:cBhvr>
                                        <p:cTn id="39" dur="1" fill="hold">
                                          <p:stCondLst>
                                            <p:cond delay="0"/>
                                          </p:stCondLst>
                                        </p:cTn>
                                        <p:tgtEl>
                                          <p:spTgt spid="26"/>
                                        </p:tgtEl>
                                        <p:attrNameLst>
                                          <p:attrName>style.visibility</p:attrName>
                                        </p:attrNameLst>
                                      </p:cBhvr>
                                      <p:to>
                                        <p:strVal val="visible"/>
                                      </p:to>
                                    </p:set>
                                    <p:anim calcmode="lin" valueType="num">
                                      <p:cBhvr additive="base">
                                        <p:cTn id="40" dur="500" fill="hold"/>
                                        <p:tgtEl>
                                          <p:spTgt spid="26"/>
                                        </p:tgtEl>
                                        <p:attrNameLst>
                                          <p:attrName>ppt_x</p:attrName>
                                        </p:attrNameLst>
                                      </p:cBhvr>
                                      <p:tavLst>
                                        <p:tav tm="0">
                                          <p:val>
                                            <p:strVal val="#ppt_x"/>
                                          </p:val>
                                        </p:tav>
                                        <p:tav tm="100000">
                                          <p:val>
                                            <p:strVal val="#ppt_x"/>
                                          </p:val>
                                        </p:tav>
                                      </p:tavLst>
                                    </p:anim>
                                    <p:anim calcmode="lin" valueType="num">
                                      <p:cBhvr additive="base">
                                        <p:cTn id="41" dur="500" fill="hold"/>
                                        <p:tgtEl>
                                          <p:spTgt spid="26"/>
                                        </p:tgtEl>
                                        <p:attrNameLst>
                                          <p:attrName>ppt_y</p:attrName>
                                        </p:attrNameLst>
                                      </p:cBhvr>
                                      <p:tavLst>
                                        <p:tav tm="0">
                                          <p:val>
                                            <p:strVal val="1+#ppt_h/2"/>
                                          </p:val>
                                        </p:tav>
                                        <p:tav tm="100000">
                                          <p:val>
                                            <p:strVal val="#ppt_y"/>
                                          </p:val>
                                        </p:tav>
                                      </p:tavLst>
                                    </p:anim>
                                  </p:childTnLst>
                                </p:cTn>
                              </p:par>
                            </p:childTnLst>
                          </p:cTn>
                        </p:par>
                        <p:par>
                          <p:cTn id="42" fill="hold">
                            <p:stCondLst>
                              <p:cond delay="2500"/>
                            </p:stCondLst>
                            <p:childTnLst>
                              <p:par>
                                <p:cTn id="43" presetID="22" presetClass="entr" presetSubtype="8" fill="hold" grpId="0"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25" grpId="0" animBg="1"/>
      <p:bldP spid="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6753" y="1757038"/>
            <a:ext cx="11887200" cy="922020"/>
          </a:xfrm>
          <a:prstGeom prst="rect">
            <a:avLst/>
          </a:prstGeom>
          <a:solidFill>
            <a:schemeClr val="bg1">
              <a:lumMod val="95000"/>
              <a:lumOff val="5000"/>
            </a:schemeClr>
          </a:solidFill>
        </p:spPr>
        <p:txBody>
          <a:bodyPr wrap="square" rtlCol="0">
            <a:spAutoFit/>
          </a:bodyPr>
          <a:lstStyle/>
          <a:p>
            <a:pPr algn="ctr"/>
            <a:r>
              <a:rPr lang="en-US" sz="5400" dirty="0" smtClean="0">
                <a:latin typeface="Calibri" panose="020F0502020204030204" pitchFamily="34" charset="0"/>
                <a:cs typeface="Calibri" panose="020F0502020204030204" pitchFamily="34" charset="0"/>
              </a:rPr>
              <a:t>Intent And Bundle Passing</a:t>
            </a:r>
            <a:endParaRPr lang="en-US" sz="5400" dirty="0">
              <a:latin typeface="Calibri" panose="020F0502020204030204" pitchFamily="34" charset="0"/>
              <a:cs typeface="Calibri" panose="020F0502020204030204" pitchFamily="34" charset="0"/>
            </a:endParaRPr>
          </a:p>
        </p:txBody>
      </p:sp>
      <p:sp>
        <p:nvSpPr>
          <p:cNvPr id="3" name="TextBox 2"/>
          <p:cNvSpPr txBox="1"/>
          <p:nvPr/>
        </p:nvSpPr>
        <p:spPr>
          <a:xfrm>
            <a:off x="196753" y="2707969"/>
            <a:ext cx="11887200" cy="2308324"/>
          </a:xfrm>
          <a:prstGeom prst="rect">
            <a:avLst/>
          </a:prstGeom>
          <a:solidFill>
            <a:schemeClr val="accent2"/>
          </a:solidFill>
        </p:spPr>
        <p:txBody>
          <a:bodyPr wrap="square" rtlCol="0">
            <a:spAutoFit/>
          </a:bodyPr>
          <a:lstStyle/>
          <a:p>
            <a:pPr indent="0" algn="ctr">
              <a:lnSpc>
                <a:spcPct val="150000"/>
              </a:lnSpc>
              <a:buFont typeface="Arial" panose="020B0604020202020204" pitchFamily="34" charset="0"/>
              <a:buNone/>
            </a:pPr>
            <a:r>
              <a:rPr lang="en-US" sz="3200" dirty="0" smtClean="0">
                <a:latin typeface="Calibri" panose="020F0502020204030204" pitchFamily="34" charset="0"/>
                <a:cs typeface="Calibri" panose="020F0502020204030204" pitchFamily="34" charset="0"/>
              </a:rPr>
              <a:t>Mobile And Application Development</a:t>
            </a:r>
          </a:p>
          <a:p>
            <a:pPr indent="0" algn="ctr">
              <a:lnSpc>
                <a:spcPct val="150000"/>
              </a:lnSpc>
              <a:buFont typeface="Arial" panose="020B0604020202020204" pitchFamily="34" charset="0"/>
              <a:buNone/>
            </a:pPr>
            <a:r>
              <a:rPr lang="en-US" sz="3200" dirty="0" smtClean="0">
                <a:latin typeface="Calibri" panose="020F0502020204030204" pitchFamily="34" charset="0"/>
                <a:cs typeface="Calibri" panose="020F0502020204030204" pitchFamily="34" charset="0"/>
              </a:rPr>
              <a:t>Practical# 5</a:t>
            </a:r>
          </a:p>
          <a:p>
            <a:pPr indent="0" algn="ctr">
              <a:lnSpc>
                <a:spcPct val="150000"/>
              </a:lnSpc>
              <a:buFont typeface="Arial" panose="020B0604020202020204" pitchFamily="34" charset="0"/>
              <a:buNone/>
            </a:pPr>
            <a:endParaRPr lang="en-US" sz="3200" dirty="0">
              <a:latin typeface="Calibri" panose="020F0502020204030204" pitchFamily="34" charset="0"/>
              <a:cs typeface="Calibri" panose="020F0502020204030204" pitchFamily="34" charset="0"/>
            </a:endParaRPr>
          </a:p>
        </p:txBody>
      </p:sp>
      <p:sp>
        <p:nvSpPr>
          <p:cNvPr id="5" name="Rectangle 4"/>
          <p:cNvSpPr/>
          <p:nvPr/>
        </p:nvSpPr>
        <p:spPr>
          <a:xfrm>
            <a:off x="10666484" y="55490"/>
            <a:ext cx="1493669" cy="971667"/>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Flowchart: Alternate Process 5"/>
          <p:cNvSpPr/>
          <p:nvPr/>
        </p:nvSpPr>
        <p:spPr>
          <a:xfrm>
            <a:off x="1674254" y="5151549"/>
            <a:ext cx="8474298" cy="1197736"/>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3200" b="1" i="1" cap="all" dirty="0" smtClean="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Instructor: Muhammad Naeem Khan</a:t>
            </a:r>
            <a:endParaRPr lang="en-US" sz="3200" b="1" i="1" cap="all" dirty="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80">
                                          <p:stCondLst>
                                            <p:cond delay="0"/>
                                          </p:stCondLst>
                                        </p:cTn>
                                        <p:tgtEl>
                                          <p:spTgt spid="2"/>
                                        </p:tgtEl>
                                      </p:cBhvr>
                                    </p:animEffect>
                                    <p:anim calcmode="lin" valueType="num">
                                      <p:cBhvr>
                                        <p:cTn id="2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gtEl>
                                      </p:cBhvr>
                                      <p:to x="100000" y="60000"/>
                                    </p:animScale>
                                    <p:animScale>
                                      <p:cBhvr>
                                        <p:cTn id="32" dur="166" decel="50000">
                                          <p:stCondLst>
                                            <p:cond delay="676"/>
                                          </p:stCondLst>
                                        </p:cTn>
                                        <p:tgtEl>
                                          <p:spTgt spid="2"/>
                                        </p:tgtEl>
                                      </p:cBhvr>
                                      <p:to x="100000" y="100000"/>
                                    </p:animScale>
                                    <p:animScale>
                                      <p:cBhvr>
                                        <p:cTn id="33" dur="26">
                                          <p:stCondLst>
                                            <p:cond delay="1312"/>
                                          </p:stCondLst>
                                        </p:cTn>
                                        <p:tgtEl>
                                          <p:spTgt spid="2"/>
                                        </p:tgtEl>
                                      </p:cBhvr>
                                      <p:to x="100000" y="80000"/>
                                    </p:animScale>
                                    <p:animScale>
                                      <p:cBhvr>
                                        <p:cTn id="34" dur="166" decel="50000">
                                          <p:stCondLst>
                                            <p:cond delay="1338"/>
                                          </p:stCondLst>
                                        </p:cTn>
                                        <p:tgtEl>
                                          <p:spTgt spid="2"/>
                                        </p:tgtEl>
                                      </p:cBhvr>
                                      <p:to x="100000" y="100000"/>
                                    </p:animScale>
                                    <p:animScale>
                                      <p:cBhvr>
                                        <p:cTn id="35" dur="26">
                                          <p:stCondLst>
                                            <p:cond delay="1642"/>
                                          </p:stCondLst>
                                        </p:cTn>
                                        <p:tgtEl>
                                          <p:spTgt spid="2"/>
                                        </p:tgtEl>
                                      </p:cBhvr>
                                      <p:to x="100000" y="90000"/>
                                    </p:animScale>
                                    <p:animScale>
                                      <p:cBhvr>
                                        <p:cTn id="36" dur="166" decel="50000">
                                          <p:stCondLst>
                                            <p:cond delay="1668"/>
                                          </p:stCondLst>
                                        </p:cTn>
                                        <p:tgtEl>
                                          <p:spTgt spid="2"/>
                                        </p:tgtEl>
                                      </p:cBhvr>
                                      <p:to x="100000" y="100000"/>
                                    </p:animScale>
                                    <p:animScale>
                                      <p:cBhvr>
                                        <p:cTn id="37" dur="26">
                                          <p:stCondLst>
                                            <p:cond delay="1808"/>
                                          </p:stCondLst>
                                        </p:cTn>
                                        <p:tgtEl>
                                          <p:spTgt spid="2"/>
                                        </p:tgtEl>
                                      </p:cBhvr>
                                      <p:to x="100000" y="95000"/>
                                    </p:animScale>
                                    <p:animScale>
                                      <p:cBhvr>
                                        <p:cTn id="38" dur="166" decel="50000">
                                          <p:stCondLst>
                                            <p:cond delay="1834"/>
                                          </p:stCondLst>
                                        </p:cTn>
                                        <p:tgtEl>
                                          <p:spTgt spid="2"/>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circle(in)">
                                      <p:cBhvr>
                                        <p:cTn id="4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 y="0"/>
            <a:ext cx="12093526" cy="914400"/>
          </a:xfrm>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457200"/>
            <a:r>
              <a:rPr lang="en-US" sz="3600" dirty="0">
                <a:solidFill>
                  <a:schemeClr val="lt1"/>
                </a:solidFill>
                <a:latin typeface="Calibri" panose="020F0502020204030204" pitchFamily="34" charset="0"/>
                <a:ea typeface="+mn-ea"/>
                <a:cs typeface="Calibri" panose="020F0502020204030204" pitchFamily="34" charset="0"/>
              </a:rPr>
              <a:t>What is Intent?</a:t>
            </a:r>
          </a:p>
        </p:txBody>
      </p:sp>
      <p:sp>
        <p:nvSpPr>
          <p:cNvPr id="5" name="TextBox 4"/>
          <p:cNvSpPr txBox="1"/>
          <p:nvPr/>
        </p:nvSpPr>
        <p:spPr>
          <a:xfrm>
            <a:off x="0" y="937846"/>
            <a:ext cx="11910646" cy="4678204"/>
          </a:xfrm>
          <a:prstGeom prst="rect">
            <a:avLst/>
          </a:prstGeom>
          <a:noFill/>
        </p:spPr>
        <p:txBody>
          <a:bodyPr wrap="square" rtlCol="0">
            <a:spAutoFit/>
          </a:bodyPr>
          <a:lstStyle/>
          <a:p>
            <a:pPr algn="just" fontAlgn="base"/>
            <a:r>
              <a:rPr lang="en-US" sz="2000" dirty="0">
                <a:latin typeface="Arial" panose="020B0604020202020204" pitchFamily="34" charset="0"/>
                <a:cs typeface="Arial" panose="020B0604020202020204" pitchFamily="34" charset="0"/>
              </a:rPr>
              <a:t>In Android, it is quite usual for users to witness a jump from one application to another as a part of the whole process, for example, searching for a location on the browser and witnessing a direct jump into Google Maps or receiving payment links in Messages Application (SMS) and on clicking jumping to PayPal or </a:t>
            </a:r>
            <a:r>
              <a:rPr lang="en-US" sz="2000" dirty="0" err="1">
                <a:latin typeface="Arial" panose="020B0604020202020204" pitchFamily="34" charset="0"/>
                <a:cs typeface="Arial" panose="020B0604020202020204" pitchFamily="34" charset="0"/>
              </a:rPr>
              <a:t>GPay</a:t>
            </a:r>
            <a:r>
              <a:rPr lang="en-US" sz="2000" dirty="0">
                <a:latin typeface="Arial" panose="020B0604020202020204" pitchFamily="34" charset="0"/>
                <a:cs typeface="Arial" panose="020B0604020202020204" pitchFamily="34" charset="0"/>
              </a:rPr>
              <a:t> (Google Pay). This process of taking users from one application to another is achieved by passing the </a:t>
            </a:r>
            <a:r>
              <a:rPr lang="en-US" sz="2000" b="1" dirty="0">
                <a:latin typeface="Arial" panose="020B0604020202020204" pitchFamily="34" charset="0"/>
                <a:cs typeface="Arial" panose="020B0604020202020204" pitchFamily="34" charset="0"/>
              </a:rPr>
              <a:t>Intent </a:t>
            </a:r>
            <a:r>
              <a:rPr lang="en-US" sz="2000" dirty="0">
                <a:latin typeface="Arial" panose="020B0604020202020204" pitchFamily="34" charset="0"/>
                <a:cs typeface="Arial" panose="020B0604020202020204" pitchFamily="34" charset="0"/>
              </a:rPr>
              <a:t>to the system. </a:t>
            </a:r>
            <a:r>
              <a:rPr lang="en-US" sz="2000" b="1" dirty="0">
                <a:latin typeface="Arial" panose="020B0604020202020204" pitchFamily="34" charset="0"/>
                <a:cs typeface="Arial" panose="020B0604020202020204" pitchFamily="34" charset="0"/>
              </a:rPr>
              <a:t>Intents </a:t>
            </a:r>
            <a:r>
              <a:rPr lang="en-US" sz="2000" dirty="0">
                <a:latin typeface="Arial" panose="020B0604020202020204" pitchFamily="34" charset="0"/>
                <a:cs typeface="Arial" panose="020B0604020202020204" pitchFamily="34" charset="0"/>
              </a:rPr>
              <a:t>, in general, are used for navigating among various activities within the same application, but note, is not limited to one single application, i.e., they can be utilized from moving from one application to another as well.</a:t>
            </a:r>
          </a:p>
          <a:p>
            <a:pPr algn="just" fontAlgn="base"/>
            <a:r>
              <a:rPr lang="en-US" sz="2000" b="1" dirty="0">
                <a:latin typeface="Arial" panose="020B0604020202020204" pitchFamily="34" charset="0"/>
                <a:cs typeface="Arial" panose="020B0604020202020204" pitchFamily="34" charset="0"/>
              </a:rPr>
              <a:t>Intents </a:t>
            </a:r>
            <a:r>
              <a:rPr lang="en-US" sz="2000" dirty="0">
                <a:latin typeface="Arial" panose="020B0604020202020204" pitchFamily="34" charset="0"/>
                <a:cs typeface="Arial" panose="020B0604020202020204" pitchFamily="34" charset="0"/>
              </a:rPr>
              <a:t>could be Implicit, for instance, calling intended actions, and explicit as well, such as opening another activity after some operations like </a:t>
            </a:r>
            <a:r>
              <a:rPr lang="en-US" sz="2000" dirty="0" smtClean="0">
                <a:latin typeface="Arial" panose="020B0604020202020204" pitchFamily="34" charset="0"/>
                <a:cs typeface="Arial" panose="020B0604020202020204" pitchFamily="34" charset="0"/>
              </a:rPr>
              <a:t>on Click </a:t>
            </a:r>
            <a:r>
              <a:rPr lang="en-US" sz="2000" dirty="0">
                <a:latin typeface="Arial" panose="020B0604020202020204" pitchFamily="34" charset="0"/>
                <a:cs typeface="Arial" panose="020B0604020202020204" pitchFamily="34" charset="0"/>
              </a:rPr>
              <a:t>or anything else</a:t>
            </a:r>
            <a:r>
              <a:rPr lang="en-US" sz="2000" dirty="0" smtClean="0">
                <a:latin typeface="Arial" panose="020B0604020202020204" pitchFamily="34" charset="0"/>
                <a:cs typeface="Arial" panose="020B0604020202020204" pitchFamily="34" charset="0"/>
              </a:rPr>
              <a:t>.</a:t>
            </a:r>
          </a:p>
          <a:p>
            <a:pPr algn="just" fontAlgn="base"/>
            <a:r>
              <a:rPr lang="en-US" sz="2000" dirty="0" smtClean="0">
                <a:latin typeface="Arial" panose="020B0604020202020204" pitchFamily="34" charset="0"/>
                <a:cs typeface="Arial" panose="020B0604020202020204" pitchFamily="34" charset="0"/>
              </a:rPr>
              <a:t>Below </a:t>
            </a:r>
            <a:r>
              <a:rPr lang="en-US" sz="2000" dirty="0">
                <a:latin typeface="Arial" panose="020B0604020202020204" pitchFamily="34" charset="0"/>
                <a:cs typeface="Arial" panose="020B0604020202020204" pitchFamily="34" charset="0"/>
              </a:rPr>
              <a:t>are some applications of Intents</a:t>
            </a:r>
            <a:r>
              <a:rPr lang="en-US" sz="2000" dirty="0" smtClean="0">
                <a:latin typeface="Arial" panose="020B0604020202020204" pitchFamily="34" charset="0"/>
                <a:cs typeface="Arial" panose="020B0604020202020204" pitchFamily="34" charset="0"/>
              </a:rPr>
              <a:t>:</a:t>
            </a:r>
          </a:p>
          <a:p>
            <a:pPr marL="457200" indent="-457200" fontAlgn="base">
              <a:buFont typeface="+mj-lt"/>
              <a:buAutoNum type="arabicPeriod"/>
            </a:pPr>
            <a:r>
              <a:rPr lang="en-US" sz="2000" dirty="0">
                <a:latin typeface="Arial" panose="020B0604020202020204" pitchFamily="34" charset="0"/>
                <a:cs typeface="Arial" panose="020B0604020202020204" pitchFamily="34" charset="0"/>
              </a:rPr>
              <a:t>Sending the User to Another App</a:t>
            </a:r>
          </a:p>
          <a:p>
            <a:pPr marL="457200" indent="-457200" fontAlgn="base">
              <a:buFont typeface="+mj-lt"/>
              <a:buAutoNum type="arabicPeriod"/>
            </a:pPr>
            <a:r>
              <a:rPr lang="en-US" sz="2000" dirty="0">
                <a:latin typeface="Arial" panose="020B0604020202020204" pitchFamily="34" charset="0"/>
                <a:cs typeface="Arial" panose="020B0604020202020204" pitchFamily="34" charset="0"/>
              </a:rPr>
              <a:t>Getting a Result from an Activity</a:t>
            </a:r>
          </a:p>
          <a:p>
            <a:pPr marL="457200" indent="-457200" fontAlgn="base">
              <a:buFont typeface="+mj-lt"/>
              <a:buAutoNum type="arabicPeriod"/>
            </a:pPr>
            <a:r>
              <a:rPr lang="en-US" sz="2000" dirty="0">
                <a:latin typeface="Arial" panose="020B0604020202020204" pitchFamily="34" charset="0"/>
                <a:cs typeface="Arial" panose="020B0604020202020204" pitchFamily="34" charset="0"/>
              </a:rPr>
              <a:t>Allowing Other Apps to Start Your Activity</a:t>
            </a:r>
          </a:p>
          <a:p>
            <a:pPr marL="457200" indent="-457200" algn="just" fontAlgn="base">
              <a:buFont typeface="+mj-lt"/>
              <a:buAutoNum type="arabicPeriod"/>
            </a:pP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4075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Effect transition="in" filter="fade">
                                      <p:cBhvr>
                                        <p:cTn id="28" dur="1000"/>
                                        <p:tgtEl>
                                          <p:spTgt spid="5">
                                            <p:txEl>
                                              <p:pRg st="3" end="3"/>
                                            </p:txEl>
                                          </p:spTgt>
                                        </p:tgtEl>
                                      </p:cBhvr>
                                    </p:animEffect>
                                    <p:anim calcmode="lin" valueType="num">
                                      <p:cBhvr>
                                        <p:cTn id="29"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Effect transition="in" filter="fade">
                                      <p:cBhvr>
                                        <p:cTn id="35" dur="1000"/>
                                        <p:tgtEl>
                                          <p:spTgt spid="5">
                                            <p:txEl>
                                              <p:pRg st="4" end="4"/>
                                            </p:txEl>
                                          </p:spTgt>
                                        </p:tgtEl>
                                      </p:cBhvr>
                                    </p:animEffect>
                                    <p:anim calcmode="lin" valueType="num">
                                      <p:cBhvr>
                                        <p:cTn id="36"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5">
                                            <p:txEl>
                                              <p:pRg st="5" end="5"/>
                                            </p:txEl>
                                          </p:spTgt>
                                        </p:tgtEl>
                                        <p:attrNameLst>
                                          <p:attrName>style.visibility</p:attrName>
                                        </p:attrNameLst>
                                      </p:cBhvr>
                                      <p:to>
                                        <p:strVal val="visible"/>
                                      </p:to>
                                    </p:set>
                                    <p:animEffect transition="in" filter="fade">
                                      <p:cBhvr>
                                        <p:cTn id="42" dur="1000"/>
                                        <p:tgtEl>
                                          <p:spTgt spid="5">
                                            <p:txEl>
                                              <p:pRg st="5" end="5"/>
                                            </p:txEl>
                                          </p:spTgt>
                                        </p:tgtEl>
                                      </p:cBhvr>
                                    </p:animEffect>
                                    <p:anim calcmode="lin" valueType="num">
                                      <p:cBhvr>
                                        <p:cTn id="4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 y="0"/>
            <a:ext cx="12093526" cy="914400"/>
          </a:xfrm>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457200"/>
            <a:r>
              <a:rPr lang="en-US" sz="3600" dirty="0" smtClean="0">
                <a:solidFill>
                  <a:schemeClr val="lt1"/>
                </a:solidFill>
                <a:latin typeface="Calibri" panose="020F0502020204030204" pitchFamily="34" charset="0"/>
                <a:ea typeface="+mn-ea"/>
                <a:cs typeface="Calibri" panose="020F0502020204030204" pitchFamily="34" charset="0"/>
              </a:rPr>
              <a:t>What is bundle passin</a:t>
            </a:r>
            <a:r>
              <a:rPr lang="en-US" sz="3600" dirty="0" smtClean="0">
                <a:latin typeface="Calibri" panose="020F0502020204030204" pitchFamily="34" charset="0"/>
                <a:cs typeface="Calibri" panose="020F0502020204030204" pitchFamily="34" charset="0"/>
              </a:rPr>
              <a:t>g in android</a:t>
            </a:r>
            <a:r>
              <a:rPr lang="en-US" sz="3600" dirty="0" smtClean="0">
                <a:solidFill>
                  <a:schemeClr val="lt1"/>
                </a:solidFill>
                <a:latin typeface="Calibri" panose="020F0502020204030204" pitchFamily="34" charset="0"/>
                <a:ea typeface="+mn-ea"/>
                <a:cs typeface="Calibri" panose="020F0502020204030204" pitchFamily="34" charset="0"/>
              </a:rPr>
              <a:t>?</a:t>
            </a:r>
            <a:endParaRPr lang="en-US" sz="3600" dirty="0">
              <a:solidFill>
                <a:schemeClr val="lt1"/>
              </a:solidFill>
              <a:latin typeface="Calibri" panose="020F0502020204030204" pitchFamily="34" charset="0"/>
              <a:ea typeface="+mn-ea"/>
              <a:cs typeface="Calibri" panose="020F0502020204030204" pitchFamily="34" charset="0"/>
            </a:endParaRPr>
          </a:p>
        </p:txBody>
      </p:sp>
      <p:sp>
        <p:nvSpPr>
          <p:cNvPr id="5" name="TextBox 4"/>
          <p:cNvSpPr txBox="1"/>
          <p:nvPr/>
        </p:nvSpPr>
        <p:spPr>
          <a:xfrm>
            <a:off x="0" y="937846"/>
            <a:ext cx="11910646" cy="4708981"/>
          </a:xfrm>
          <a:prstGeom prst="rect">
            <a:avLst/>
          </a:prstGeom>
          <a:noFill/>
        </p:spPr>
        <p:txBody>
          <a:bodyPr wrap="square" rtlCol="0">
            <a:spAutoFit/>
          </a:bodyPr>
          <a:lstStyle/>
          <a:p>
            <a:pPr algn="just" fontAlgn="base"/>
            <a:r>
              <a:rPr lang="en-US" sz="2000" dirty="0">
                <a:latin typeface="Arial" panose="020B0604020202020204" pitchFamily="34" charset="0"/>
                <a:cs typeface="Arial" panose="020B0604020202020204" pitchFamily="34" charset="0"/>
              </a:rPr>
              <a:t>It is known that </a:t>
            </a:r>
            <a:r>
              <a:rPr lang="en-US" sz="2000" u="sng" dirty="0">
                <a:latin typeface="Arial" panose="020B0604020202020204" pitchFamily="34" charset="0"/>
                <a:cs typeface="Arial" panose="020B0604020202020204" pitchFamily="34" charset="0"/>
                <a:hlinkClick r:id="rId2"/>
              </a:rPr>
              <a:t>Intents </a:t>
            </a:r>
            <a:r>
              <a:rPr lang="en-US" sz="2000" dirty="0">
                <a:latin typeface="Arial" panose="020B0604020202020204" pitchFamily="34" charset="0"/>
                <a:cs typeface="Arial" panose="020B0604020202020204" pitchFamily="34" charset="0"/>
              </a:rPr>
              <a:t>are used in Android to pass to the data from one activity to another. But there is one another way, that can be used to pass the data from one activity to another in a better way and less code </a:t>
            </a:r>
            <a:r>
              <a:rPr lang="en-US" sz="2000" dirty="0" smtClean="0">
                <a:latin typeface="Arial" panose="020B0604020202020204" pitchFamily="34" charset="0"/>
                <a:cs typeface="Arial" panose="020B0604020202020204" pitchFamily="34" charset="0"/>
              </a:rPr>
              <a:t>space </a:t>
            </a:r>
            <a:r>
              <a:rPr lang="en-US" sz="2000" dirty="0">
                <a:latin typeface="Arial" panose="020B0604020202020204" pitchFamily="34" charset="0"/>
                <a:cs typeface="Arial" panose="020B0604020202020204" pitchFamily="34" charset="0"/>
              </a:rPr>
              <a:t>by using Bundles in Android. Android Bundles are generally used for passing data from one activity to another. Basically here concept of key-value pair is used where the data that one wants to pass is the value of the map, which can be later retrieved by using the key. Bundles are used with intent and values are sent and retrieved in the same fashion, as it is done in the case of </a:t>
            </a:r>
            <a:r>
              <a:rPr lang="en-US" sz="2000" u="sng" dirty="0">
                <a:latin typeface="Arial" panose="020B0604020202020204" pitchFamily="34" charset="0"/>
                <a:cs typeface="Arial" panose="020B0604020202020204" pitchFamily="34" charset="0"/>
                <a:hlinkClick r:id="rId2"/>
              </a:rPr>
              <a:t>Intent</a:t>
            </a:r>
            <a:r>
              <a:rPr lang="en-US" sz="2000" dirty="0">
                <a:latin typeface="Arial" panose="020B0604020202020204" pitchFamily="34" charset="0"/>
                <a:cs typeface="Arial" panose="020B0604020202020204" pitchFamily="34" charset="0"/>
              </a:rPr>
              <a:t>. It depends on the user what type of values the user wants to pass, but bundles can hold all types of values (</a:t>
            </a:r>
            <a:r>
              <a:rPr lang="en-US" sz="2000" dirty="0" err="1">
                <a:latin typeface="Arial" panose="020B0604020202020204" pitchFamily="34" charset="0"/>
                <a:cs typeface="Arial" panose="020B0604020202020204" pitchFamily="34" charset="0"/>
              </a:rPr>
              <a:t>int</a:t>
            </a:r>
            <a:r>
              <a:rPr lang="en-US" sz="2000" dirty="0">
                <a:latin typeface="Arial" panose="020B0604020202020204" pitchFamily="34" charset="0"/>
                <a:cs typeface="Arial" panose="020B0604020202020204" pitchFamily="34" charset="0"/>
              </a:rPr>
              <a:t>, String, </a:t>
            </a:r>
            <a:r>
              <a:rPr lang="en-US" sz="2000" dirty="0" err="1">
                <a:latin typeface="Arial" panose="020B0604020202020204" pitchFamily="34" charset="0"/>
                <a:cs typeface="Arial" panose="020B0604020202020204" pitchFamily="34" charset="0"/>
              </a:rPr>
              <a:t>boolean</a:t>
            </a:r>
            <a:r>
              <a:rPr lang="en-US" sz="2000" dirty="0">
                <a:latin typeface="Arial" panose="020B0604020202020204" pitchFamily="34" charset="0"/>
                <a:cs typeface="Arial" panose="020B0604020202020204" pitchFamily="34" charset="0"/>
              </a:rPr>
              <a:t>, char) and pass them to the new activity</a:t>
            </a:r>
            <a:r>
              <a:rPr lang="en-US" sz="2000" dirty="0" smtClean="0">
                <a:latin typeface="Arial" panose="020B0604020202020204" pitchFamily="34" charset="0"/>
                <a:cs typeface="Arial" panose="020B0604020202020204" pitchFamily="34" charset="0"/>
              </a:rPr>
              <a:t>.</a:t>
            </a:r>
          </a:p>
          <a:p>
            <a:pPr fontAlgn="base"/>
            <a:r>
              <a:rPr lang="en-US" sz="2000" b="1" dirty="0">
                <a:latin typeface="Arial" panose="020B0604020202020204" pitchFamily="34" charset="0"/>
                <a:cs typeface="Arial" panose="020B0604020202020204" pitchFamily="34" charset="0"/>
              </a:rPr>
              <a:t>The following are the major types that are passed/retrieved to/from a Bundle:</a:t>
            </a:r>
            <a:endParaRPr lang="en-US" sz="2000" dirty="0">
              <a:latin typeface="Arial" panose="020B0604020202020204" pitchFamily="34" charset="0"/>
              <a:cs typeface="Arial" panose="020B0604020202020204" pitchFamily="34" charset="0"/>
            </a:endParaRPr>
          </a:p>
          <a:p>
            <a:pPr marL="457200" indent="-457200" fontAlgn="base">
              <a:buFont typeface="+mj-lt"/>
              <a:buAutoNum type="arabicPeriod"/>
            </a:pPr>
            <a:r>
              <a:rPr lang="en-US" sz="2000" dirty="0" err="1">
                <a:latin typeface="Arial" panose="020B0604020202020204" pitchFamily="34" charset="0"/>
                <a:cs typeface="Arial" panose="020B0604020202020204" pitchFamily="34" charset="0"/>
              </a:rPr>
              <a:t>putInt</a:t>
            </a:r>
            <a:r>
              <a:rPr lang="en-US" sz="2000" dirty="0">
                <a:latin typeface="Arial" panose="020B0604020202020204" pitchFamily="34" charset="0"/>
                <a:cs typeface="Arial" panose="020B0604020202020204" pitchFamily="34" charset="0"/>
              </a:rPr>
              <a:t>(String key, </a:t>
            </a:r>
            <a:r>
              <a:rPr lang="en-US" sz="2000" dirty="0" err="1">
                <a:latin typeface="Arial" panose="020B0604020202020204" pitchFamily="34" charset="0"/>
                <a:cs typeface="Arial" panose="020B0604020202020204" pitchFamily="34" charset="0"/>
              </a:rPr>
              <a:t>int</a:t>
            </a:r>
            <a:r>
              <a:rPr lang="en-US" sz="2000" dirty="0">
                <a:latin typeface="Arial" panose="020B0604020202020204" pitchFamily="34" charset="0"/>
                <a:cs typeface="Arial" panose="020B0604020202020204" pitchFamily="34" charset="0"/>
              </a:rPr>
              <a:t> value), </a:t>
            </a:r>
            <a:r>
              <a:rPr lang="en-US" sz="2000" dirty="0" err="1">
                <a:latin typeface="Arial" panose="020B0604020202020204" pitchFamily="34" charset="0"/>
                <a:cs typeface="Arial" panose="020B0604020202020204" pitchFamily="34" charset="0"/>
              </a:rPr>
              <a:t>getInt</a:t>
            </a:r>
            <a:r>
              <a:rPr lang="en-US" sz="2000" dirty="0">
                <a:latin typeface="Arial" panose="020B0604020202020204" pitchFamily="34" charset="0"/>
                <a:cs typeface="Arial" panose="020B0604020202020204" pitchFamily="34" charset="0"/>
              </a:rPr>
              <a:t>(String key, </a:t>
            </a:r>
            <a:r>
              <a:rPr lang="en-US" sz="2000" dirty="0" err="1">
                <a:latin typeface="Arial" panose="020B0604020202020204" pitchFamily="34" charset="0"/>
                <a:cs typeface="Arial" panose="020B0604020202020204" pitchFamily="34" charset="0"/>
              </a:rPr>
              <a:t>int</a:t>
            </a:r>
            <a:r>
              <a:rPr lang="en-US" sz="2000" dirty="0">
                <a:latin typeface="Arial" panose="020B0604020202020204" pitchFamily="34" charset="0"/>
                <a:cs typeface="Arial" panose="020B0604020202020204" pitchFamily="34" charset="0"/>
              </a:rPr>
              <a:t> value)</a:t>
            </a:r>
          </a:p>
          <a:p>
            <a:pPr marL="457200" indent="-457200" fontAlgn="base">
              <a:buFont typeface="+mj-lt"/>
              <a:buAutoNum type="arabicPeriod"/>
            </a:pPr>
            <a:r>
              <a:rPr lang="en-US" sz="2000" dirty="0" err="1">
                <a:latin typeface="Arial" panose="020B0604020202020204" pitchFamily="34" charset="0"/>
                <a:cs typeface="Arial" panose="020B0604020202020204" pitchFamily="34" charset="0"/>
              </a:rPr>
              <a:t>putString</a:t>
            </a:r>
            <a:r>
              <a:rPr lang="en-US" sz="2000" dirty="0">
                <a:latin typeface="Arial" panose="020B0604020202020204" pitchFamily="34" charset="0"/>
                <a:cs typeface="Arial" panose="020B0604020202020204" pitchFamily="34" charset="0"/>
              </a:rPr>
              <a:t>(String key, String value), </a:t>
            </a:r>
            <a:r>
              <a:rPr lang="en-US" sz="2000" dirty="0" err="1">
                <a:latin typeface="Arial" panose="020B0604020202020204" pitchFamily="34" charset="0"/>
                <a:cs typeface="Arial" panose="020B0604020202020204" pitchFamily="34" charset="0"/>
              </a:rPr>
              <a:t>getString</a:t>
            </a:r>
            <a:r>
              <a:rPr lang="en-US" sz="2000" dirty="0">
                <a:latin typeface="Arial" panose="020B0604020202020204" pitchFamily="34" charset="0"/>
                <a:cs typeface="Arial" panose="020B0604020202020204" pitchFamily="34" charset="0"/>
              </a:rPr>
              <a:t>(String key, String value)</a:t>
            </a:r>
          </a:p>
          <a:p>
            <a:pPr marL="457200" indent="-457200" fontAlgn="base">
              <a:buFont typeface="+mj-lt"/>
              <a:buAutoNum type="arabicPeriod"/>
            </a:pPr>
            <a:r>
              <a:rPr lang="en-US" sz="2000" dirty="0" err="1">
                <a:latin typeface="Arial" panose="020B0604020202020204" pitchFamily="34" charset="0"/>
                <a:cs typeface="Arial" panose="020B0604020202020204" pitchFamily="34" charset="0"/>
              </a:rPr>
              <a:t>putStringArray</a:t>
            </a:r>
            <a:r>
              <a:rPr lang="en-US" sz="2000" dirty="0">
                <a:latin typeface="Arial" panose="020B0604020202020204" pitchFamily="34" charset="0"/>
                <a:cs typeface="Arial" panose="020B0604020202020204" pitchFamily="34" charset="0"/>
              </a:rPr>
              <a:t>(String key, String[] value), </a:t>
            </a:r>
            <a:r>
              <a:rPr lang="en-US" sz="2000" dirty="0" err="1">
                <a:latin typeface="Arial" panose="020B0604020202020204" pitchFamily="34" charset="0"/>
                <a:cs typeface="Arial" panose="020B0604020202020204" pitchFamily="34" charset="0"/>
              </a:rPr>
              <a:t>getStringArray</a:t>
            </a:r>
            <a:r>
              <a:rPr lang="en-US" sz="2000" dirty="0">
                <a:latin typeface="Arial" panose="020B0604020202020204" pitchFamily="34" charset="0"/>
                <a:cs typeface="Arial" panose="020B0604020202020204" pitchFamily="34" charset="0"/>
              </a:rPr>
              <a:t>(String key, String[] value)</a:t>
            </a:r>
          </a:p>
          <a:p>
            <a:pPr marL="457200" indent="-457200" fontAlgn="base">
              <a:buFont typeface="+mj-lt"/>
              <a:buAutoNum type="arabicPeriod"/>
            </a:pPr>
            <a:r>
              <a:rPr lang="en-US" sz="2000" dirty="0" err="1">
                <a:latin typeface="Arial" panose="020B0604020202020204" pitchFamily="34" charset="0"/>
                <a:cs typeface="Arial" panose="020B0604020202020204" pitchFamily="34" charset="0"/>
              </a:rPr>
              <a:t>putChar</a:t>
            </a:r>
            <a:r>
              <a:rPr lang="en-US" sz="2000" dirty="0">
                <a:latin typeface="Arial" panose="020B0604020202020204" pitchFamily="34" charset="0"/>
                <a:cs typeface="Arial" panose="020B0604020202020204" pitchFamily="34" charset="0"/>
              </a:rPr>
              <a:t>(String key, char value), </a:t>
            </a:r>
            <a:r>
              <a:rPr lang="en-US" sz="2000" dirty="0" err="1">
                <a:latin typeface="Arial" panose="020B0604020202020204" pitchFamily="34" charset="0"/>
                <a:cs typeface="Arial" panose="020B0604020202020204" pitchFamily="34" charset="0"/>
              </a:rPr>
              <a:t>getChar</a:t>
            </a:r>
            <a:r>
              <a:rPr lang="en-US" sz="2000" dirty="0">
                <a:latin typeface="Arial" panose="020B0604020202020204" pitchFamily="34" charset="0"/>
                <a:cs typeface="Arial" panose="020B0604020202020204" pitchFamily="34" charset="0"/>
              </a:rPr>
              <a:t>(String key, char value)</a:t>
            </a:r>
          </a:p>
          <a:p>
            <a:pPr marL="457200" indent="-457200" fontAlgn="base">
              <a:buFont typeface="+mj-lt"/>
              <a:buAutoNum type="arabicPeriod"/>
            </a:pPr>
            <a:r>
              <a:rPr lang="en-US" sz="2000" dirty="0" err="1">
                <a:latin typeface="Arial" panose="020B0604020202020204" pitchFamily="34" charset="0"/>
                <a:cs typeface="Arial" panose="020B0604020202020204" pitchFamily="34" charset="0"/>
              </a:rPr>
              <a:t>putBoolean</a:t>
            </a:r>
            <a:r>
              <a:rPr lang="en-US" sz="2000" dirty="0">
                <a:latin typeface="Arial" panose="020B0604020202020204" pitchFamily="34" charset="0"/>
                <a:cs typeface="Arial" panose="020B0604020202020204" pitchFamily="34" charset="0"/>
              </a:rPr>
              <a:t>(String key, </a:t>
            </a:r>
            <a:r>
              <a:rPr lang="en-US" sz="2000" dirty="0" err="1">
                <a:latin typeface="Arial" panose="020B0604020202020204" pitchFamily="34" charset="0"/>
                <a:cs typeface="Arial" panose="020B0604020202020204" pitchFamily="34" charset="0"/>
              </a:rPr>
              <a:t>boolean</a:t>
            </a:r>
            <a:r>
              <a:rPr lang="en-US" sz="2000" dirty="0">
                <a:latin typeface="Arial" panose="020B0604020202020204" pitchFamily="34" charset="0"/>
                <a:cs typeface="Arial" panose="020B0604020202020204" pitchFamily="34" charset="0"/>
              </a:rPr>
              <a:t> value), </a:t>
            </a:r>
            <a:r>
              <a:rPr lang="en-US" sz="2000" dirty="0" err="1">
                <a:latin typeface="Arial" panose="020B0604020202020204" pitchFamily="34" charset="0"/>
                <a:cs typeface="Arial" panose="020B0604020202020204" pitchFamily="34" charset="0"/>
              </a:rPr>
              <a:t>getBoolean</a:t>
            </a:r>
            <a:r>
              <a:rPr lang="en-US" sz="2000" dirty="0">
                <a:latin typeface="Arial" panose="020B0604020202020204" pitchFamily="34" charset="0"/>
                <a:cs typeface="Arial" panose="020B0604020202020204" pitchFamily="34" charset="0"/>
              </a:rPr>
              <a:t>(String key, </a:t>
            </a:r>
            <a:r>
              <a:rPr lang="en-US" sz="2000" dirty="0" err="1">
                <a:latin typeface="Arial" panose="020B0604020202020204" pitchFamily="34" charset="0"/>
                <a:cs typeface="Arial" panose="020B0604020202020204" pitchFamily="34" charset="0"/>
              </a:rPr>
              <a:t>boolean</a:t>
            </a:r>
            <a:r>
              <a:rPr lang="en-US" sz="2000" dirty="0">
                <a:latin typeface="Arial" panose="020B0604020202020204" pitchFamily="34" charset="0"/>
                <a:cs typeface="Arial" panose="020B0604020202020204" pitchFamily="34" charset="0"/>
              </a:rPr>
              <a:t> value)</a:t>
            </a:r>
          </a:p>
          <a:p>
            <a:pPr algn="just" fontAlgn="base"/>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9303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Effect transition="in" filter="fade">
                                      <p:cBhvr>
                                        <p:cTn id="28" dur="1000"/>
                                        <p:tgtEl>
                                          <p:spTgt spid="5">
                                            <p:txEl>
                                              <p:pRg st="3" end="3"/>
                                            </p:txEl>
                                          </p:spTgt>
                                        </p:tgtEl>
                                      </p:cBhvr>
                                    </p:animEffect>
                                    <p:anim calcmode="lin" valueType="num">
                                      <p:cBhvr>
                                        <p:cTn id="29"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Effect transition="in" filter="fade">
                                      <p:cBhvr>
                                        <p:cTn id="35" dur="1000"/>
                                        <p:tgtEl>
                                          <p:spTgt spid="5">
                                            <p:txEl>
                                              <p:pRg st="4" end="4"/>
                                            </p:txEl>
                                          </p:spTgt>
                                        </p:tgtEl>
                                      </p:cBhvr>
                                    </p:animEffect>
                                    <p:anim calcmode="lin" valueType="num">
                                      <p:cBhvr>
                                        <p:cTn id="36"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5">
                                            <p:txEl>
                                              <p:pRg st="5" end="5"/>
                                            </p:txEl>
                                          </p:spTgt>
                                        </p:tgtEl>
                                        <p:attrNameLst>
                                          <p:attrName>style.visibility</p:attrName>
                                        </p:attrNameLst>
                                      </p:cBhvr>
                                      <p:to>
                                        <p:strVal val="visible"/>
                                      </p:to>
                                    </p:set>
                                    <p:animEffect transition="in" filter="fade">
                                      <p:cBhvr>
                                        <p:cTn id="42" dur="1000"/>
                                        <p:tgtEl>
                                          <p:spTgt spid="5">
                                            <p:txEl>
                                              <p:pRg st="5" end="5"/>
                                            </p:txEl>
                                          </p:spTgt>
                                        </p:tgtEl>
                                      </p:cBhvr>
                                    </p:animEffect>
                                    <p:anim calcmode="lin" valueType="num">
                                      <p:cBhvr>
                                        <p:cTn id="4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5">
                                            <p:txEl>
                                              <p:pRg st="6" end="6"/>
                                            </p:txEl>
                                          </p:spTgt>
                                        </p:tgtEl>
                                        <p:attrNameLst>
                                          <p:attrName>style.visibility</p:attrName>
                                        </p:attrNameLst>
                                      </p:cBhvr>
                                      <p:to>
                                        <p:strVal val="visible"/>
                                      </p:to>
                                    </p:set>
                                    <p:animEffect transition="in" filter="fade">
                                      <p:cBhvr>
                                        <p:cTn id="49" dur="1000"/>
                                        <p:tgtEl>
                                          <p:spTgt spid="5">
                                            <p:txEl>
                                              <p:pRg st="6" end="6"/>
                                            </p:txEl>
                                          </p:spTgt>
                                        </p:tgtEl>
                                      </p:cBhvr>
                                    </p:animEffect>
                                    <p:anim calcmode="lin" valueType="num">
                                      <p:cBhvr>
                                        <p:cTn id="50"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Code</a:t>
            </a:r>
            <a:endParaRPr lang="en-US" sz="3600" dirty="0">
              <a:latin typeface="Calibri" panose="020F0502020204030204" pitchFamily="34" charset="0"/>
              <a:cs typeface="Calibri" panose="020F0502020204030204" pitchFamily="34" charset="0"/>
            </a:endParaRPr>
          </a:p>
        </p:txBody>
      </p:sp>
      <p:sp>
        <p:nvSpPr>
          <p:cNvPr id="2" name="Rectangle 1"/>
          <p:cNvSpPr/>
          <p:nvPr/>
        </p:nvSpPr>
        <p:spPr>
          <a:xfrm>
            <a:off x="130388" y="1006022"/>
            <a:ext cx="5048517" cy="58438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sz="2800" dirty="0" smtClean="0">
                <a:latin typeface="Calibri" panose="020F0502020204030204" pitchFamily="34" charset="0"/>
                <a:cs typeface="Calibri" panose="020F0502020204030204" pitchFamily="34" charset="0"/>
              </a:rPr>
              <a:t>Mainactivity.java</a:t>
            </a:r>
          </a:p>
          <a:p>
            <a:pPr>
              <a:lnSpc>
                <a:spcPct val="150000"/>
              </a:lnSpc>
            </a:pPr>
            <a:r>
              <a:rPr lang="en-US" dirty="0"/>
              <a:t>Button </a:t>
            </a:r>
            <a:r>
              <a:rPr lang="en-US" dirty="0" err="1" smtClean="0"/>
              <a:t>btnNext</a:t>
            </a:r>
            <a:r>
              <a:rPr lang="en-US" dirty="0" smtClean="0"/>
              <a:t>;</a:t>
            </a:r>
            <a:br>
              <a:rPr lang="en-US" dirty="0" smtClean="0"/>
            </a:br>
            <a:r>
              <a:rPr lang="en-US" dirty="0" err="1" smtClean="0"/>
              <a:t>btnNext</a:t>
            </a:r>
            <a:r>
              <a:rPr lang="en-US" dirty="0" smtClean="0"/>
              <a:t> </a:t>
            </a:r>
            <a:r>
              <a:rPr lang="en-US" dirty="0"/>
              <a:t>= </a:t>
            </a:r>
            <a:r>
              <a:rPr lang="en-US" dirty="0" err="1"/>
              <a:t>findViewById</a:t>
            </a:r>
            <a:r>
              <a:rPr lang="en-US" dirty="0"/>
              <a:t>(</a:t>
            </a:r>
            <a:r>
              <a:rPr lang="en-US" dirty="0" err="1"/>
              <a:t>R.id.</a:t>
            </a:r>
            <a:r>
              <a:rPr lang="en-US" i="1" dirty="0" err="1"/>
              <a:t>btnlogin</a:t>
            </a:r>
            <a:r>
              <a:rPr lang="en-US" dirty="0"/>
              <a:t>);</a:t>
            </a:r>
            <a:br>
              <a:rPr lang="en-US" dirty="0"/>
            </a:br>
            <a:r>
              <a:rPr lang="en-US" dirty="0" smtClean="0"/>
              <a:t>Intent </a:t>
            </a:r>
            <a:r>
              <a:rPr lang="en-US" dirty="0" err="1"/>
              <a:t>iNext</a:t>
            </a:r>
            <a:r>
              <a:rPr lang="en-US" dirty="0"/>
              <a:t>;</a:t>
            </a:r>
            <a:br>
              <a:rPr lang="en-US" dirty="0"/>
            </a:br>
            <a:r>
              <a:rPr lang="en-US" dirty="0" err="1" smtClean="0"/>
              <a:t>iNext</a:t>
            </a:r>
            <a:r>
              <a:rPr lang="en-US" dirty="0" smtClean="0"/>
              <a:t> </a:t>
            </a:r>
            <a:r>
              <a:rPr lang="en-US" dirty="0"/>
              <a:t>= new Intent(MainActivity.this,activity2.class</a:t>
            </a:r>
            <a:r>
              <a:rPr lang="en-US" dirty="0" smtClean="0"/>
              <a:t>);</a:t>
            </a:r>
          </a:p>
          <a:p>
            <a:pPr>
              <a:lnSpc>
                <a:spcPct val="150000"/>
              </a:lnSpc>
            </a:pPr>
            <a:r>
              <a:rPr lang="en-US" dirty="0" err="1" smtClean="0"/>
              <a:t>btnNext.setOnClickListener</a:t>
            </a:r>
            <a:r>
              <a:rPr lang="en-US" dirty="0" smtClean="0"/>
              <a:t>(</a:t>
            </a:r>
            <a:r>
              <a:rPr lang="en-US" dirty="0" err="1" smtClean="0"/>
              <a:t>newView.OnClickListener</a:t>
            </a:r>
            <a:r>
              <a:rPr lang="en-US" dirty="0"/>
              <a:t>() {</a:t>
            </a:r>
            <a:br>
              <a:rPr lang="en-US" dirty="0"/>
            </a:br>
            <a:r>
              <a:rPr lang="en-US" dirty="0"/>
              <a:t>        @Override</a:t>
            </a:r>
            <a:br>
              <a:rPr lang="en-US" dirty="0"/>
            </a:br>
            <a:r>
              <a:rPr lang="en-US" dirty="0"/>
              <a:t>        public void </a:t>
            </a:r>
            <a:r>
              <a:rPr lang="en-US" dirty="0" err="1"/>
              <a:t>onClick</a:t>
            </a:r>
            <a:r>
              <a:rPr lang="en-US" dirty="0"/>
              <a:t>(View view) {</a:t>
            </a:r>
            <a:br>
              <a:rPr lang="en-US" dirty="0"/>
            </a:br>
            <a:r>
              <a:rPr lang="en-US" dirty="0"/>
              <a:t>            </a:t>
            </a:r>
            <a:r>
              <a:rPr lang="en-US" dirty="0" err="1"/>
              <a:t>startActivity</a:t>
            </a:r>
            <a:r>
              <a:rPr lang="en-US" dirty="0"/>
              <a:t>(</a:t>
            </a:r>
            <a:r>
              <a:rPr lang="en-US" dirty="0" err="1"/>
              <a:t>iNext</a:t>
            </a:r>
            <a:r>
              <a:rPr lang="en-US" dirty="0"/>
              <a:t>);</a:t>
            </a:r>
            <a:endParaRPr lang="en-US" dirty="0">
              <a:latin typeface="Calibri" panose="020F0502020204030204" pitchFamily="34" charset="0"/>
              <a:cs typeface="Calibri" panose="020F0502020204030204" pitchFamily="34" charset="0"/>
            </a:endParaRPr>
          </a:p>
        </p:txBody>
      </p:sp>
      <p:sp>
        <p:nvSpPr>
          <p:cNvPr id="7" name="Rectangle 6"/>
          <p:cNvSpPr/>
          <p:nvPr/>
        </p:nvSpPr>
        <p:spPr>
          <a:xfrm>
            <a:off x="5229621" y="1006022"/>
            <a:ext cx="5436863" cy="58438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sz="2800" dirty="0">
                <a:latin typeface="Calibri" panose="020F0502020204030204" pitchFamily="34" charset="0"/>
                <a:cs typeface="Calibri" panose="020F0502020204030204" pitchFamily="34" charset="0"/>
              </a:rPr>
              <a:t>Mainactivity.java</a:t>
            </a:r>
          </a:p>
          <a:p>
            <a:pPr>
              <a:lnSpc>
                <a:spcPct val="150000"/>
              </a:lnSpc>
            </a:pPr>
            <a:r>
              <a:rPr lang="en-US" sz="1600" dirty="0"/>
              <a:t>Button </a:t>
            </a:r>
            <a:r>
              <a:rPr lang="en-US" sz="1600" dirty="0" err="1"/>
              <a:t>btnNext</a:t>
            </a:r>
            <a:r>
              <a:rPr lang="en-US" sz="1600" dirty="0"/>
              <a:t>;</a:t>
            </a:r>
            <a:br>
              <a:rPr lang="en-US" sz="1600" dirty="0"/>
            </a:br>
            <a:r>
              <a:rPr lang="en-US" sz="1600" dirty="0" err="1"/>
              <a:t>btnNext</a:t>
            </a:r>
            <a:r>
              <a:rPr lang="en-US" sz="1600" dirty="0"/>
              <a:t> = </a:t>
            </a:r>
            <a:r>
              <a:rPr lang="en-US" sz="1600" dirty="0" err="1"/>
              <a:t>findViewById</a:t>
            </a:r>
            <a:r>
              <a:rPr lang="en-US" sz="1600" dirty="0"/>
              <a:t>(</a:t>
            </a:r>
            <a:r>
              <a:rPr lang="en-US" sz="1600" dirty="0" err="1"/>
              <a:t>R.id.</a:t>
            </a:r>
            <a:r>
              <a:rPr lang="en-US" sz="1600" i="1" dirty="0" err="1"/>
              <a:t>btnlogin</a:t>
            </a:r>
            <a:r>
              <a:rPr lang="en-US" sz="1600" dirty="0"/>
              <a:t>);</a:t>
            </a:r>
            <a:br>
              <a:rPr lang="en-US" sz="1600" dirty="0"/>
            </a:br>
            <a:r>
              <a:rPr lang="en-US" sz="1600" dirty="0"/>
              <a:t>Intent </a:t>
            </a:r>
            <a:r>
              <a:rPr lang="en-US" sz="1600" dirty="0" err="1"/>
              <a:t>iNext</a:t>
            </a:r>
            <a:r>
              <a:rPr lang="en-US" sz="1600" dirty="0"/>
              <a:t>;</a:t>
            </a:r>
            <a:br>
              <a:rPr lang="en-US" sz="1600" dirty="0"/>
            </a:br>
            <a:r>
              <a:rPr lang="en-US" sz="1600" dirty="0" err="1"/>
              <a:t>iNext</a:t>
            </a:r>
            <a:r>
              <a:rPr lang="en-US" sz="1600" dirty="0"/>
              <a:t> = new Intent(MainActivity.this,activity2.class</a:t>
            </a:r>
            <a:r>
              <a:rPr lang="en-US" sz="1600" dirty="0" smtClean="0"/>
              <a:t>);</a:t>
            </a:r>
          </a:p>
          <a:p>
            <a:pPr>
              <a:lnSpc>
                <a:spcPct val="150000"/>
              </a:lnSpc>
            </a:pPr>
            <a:endParaRPr lang="en-US" sz="1600" dirty="0" smtClean="0"/>
          </a:p>
          <a:p>
            <a:pPr>
              <a:lnSpc>
                <a:spcPct val="150000"/>
              </a:lnSpc>
            </a:pPr>
            <a:r>
              <a:rPr lang="en-US" sz="1600" dirty="0" err="1"/>
              <a:t>iNext.putExtra</a:t>
            </a:r>
            <a:r>
              <a:rPr lang="en-US" sz="1600" dirty="0"/>
              <a:t>("</a:t>
            </a:r>
            <a:r>
              <a:rPr lang="en-US" sz="1600" dirty="0" err="1"/>
              <a:t>title","Home</a:t>
            </a:r>
            <a:r>
              <a:rPr lang="en-US" sz="1600" dirty="0"/>
              <a:t>");</a:t>
            </a:r>
            <a:br>
              <a:rPr lang="en-US" sz="1600" dirty="0"/>
            </a:br>
            <a:r>
              <a:rPr lang="en-US" sz="1600" dirty="0" err="1" smtClean="0"/>
              <a:t>iNext.putExtra</a:t>
            </a:r>
            <a:r>
              <a:rPr lang="en-US" sz="1600" dirty="0"/>
              <a:t>("</a:t>
            </a:r>
            <a:r>
              <a:rPr lang="en-US" sz="1600" dirty="0" err="1"/>
              <a:t>StudentName</a:t>
            </a:r>
            <a:r>
              <a:rPr lang="en-US" sz="1600" dirty="0"/>
              <a:t>","Ali");</a:t>
            </a:r>
            <a:br>
              <a:rPr lang="en-US" sz="1600" dirty="0"/>
            </a:br>
            <a:r>
              <a:rPr lang="en-US" sz="1600" dirty="0" err="1" smtClean="0"/>
              <a:t>iNext.putExtra</a:t>
            </a:r>
            <a:r>
              <a:rPr lang="en-US" sz="1600" dirty="0"/>
              <a:t>("RollNo","10</a:t>
            </a:r>
            <a:r>
              <a:rPr lang="en-US" sz="1600" dirty="0" smtClean="0"/>
              <a:t>");</a:t>
            </a:r>
            <a:endParaRPr lang="en-US" sz="1600" dirty="0"/>
          </a:p>
          <a:p>
            <a:pPr>
              <a:lnSpc>
                <a:spcPct val="150000"/>
              </a:lnSpc>
            </a:pPr>
            <a:r>
              <a:rPr lang="en-US" sz="1600" dirty="0"/>
              <a:t/>
            </a:r>
            <a:br>
              <a:rPr lang="en-US" sz="1600" dirty="0"/>
            </a:br>
            <a:r>
              <a:rPr lang="en-US" sz="1600" dirty="0" err="1" smtClean="0"/>
              <a:t>btnNext.setOnClickListener</a:t>
            </a:r>
            <a:r>
              <a:rPr lang="en-US" sz="1600" dirty="0" smtClean="0"/>
              <a:t>(</a:t>
            </a:r>
            <a:r>
              <a:rPr lang="en-US" sz="1600" dirty="0" err="1" smtClean="0"/>
              <a:t>newView.OnClickListener</a:t>
            </a:r>
            <a:r>
              <a:rPr lang="en-US" sz="1600" dirty="0"/>
              <a:t>() {</a:t>
            </a:r>
            <a:br>
              <a:rPr lang="en-US" sz="1600" dirty="0"/>
            </a:br>
            <a:r>
              <a:rPr lang="en-US" sz="1600" dirty="0"/>
              <a:t>        @Override</a:t>
            </a:r>
            <a:br>
              <a:rPr lang="en-US" sz="1600" dirty="0"/>
            </a:br>
            <a:r>
              <a:rPr lang="en-US" sz="1600" dirty="0"/>
              <a:t>        public void </a:t>
            </a:r>
            <a:r>
              <a:rPr lang="en-US" sz="1600" dirty="0" err="1"/>
              <a:t>onClick</a:t>
            </a:r>
            <a:r>
              <a:rPr lang="en-US" sz="1600" dirty="0"/>
              <a:t>(View view) {</a:t>
            </a:r>
            <a:br>
              <a:rPr lang="en-US" sz="1600" dirty="0"/>
            </a:br>
            <a:r>
              <a:rPr lang="en-US" sz="1600" dirty="0"/>
              <a:t>            </a:t>
            </a:r>
            <a:r>
              <a:rPr lang="en-US" sz="1600" dirty="0" err="1"/>
              <a:t>startActivity</a:t>
            </a:r>
            <a:r>
              <a:rPr lang="en-US" sz="1600" dirty="0"/>
              <a:t>(</a:t>
            </a:r>
            <a:r>
              <a:rPr lang="en-US" sz="1600" dirty="0" err="1"/>
              <a:t>iNext</a:t>
            </a:r>
            <a:r>
              <a:rPr lang="en-US" sz="1600" dirty="0"/>
              <a:t>);</a:t>
            </a:r>
            <a:endParaRPr 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78553323"/>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Code</a:t>
            </a:r>
            <a:endParaRPr lang="en-US" sz="3600" dirty="0">
              <a:latin typeface="Calibri" panose="020F0502020204030204" pitchFamily="34" charset="0"/>
              <a:cs typeface="Calibri" panose="020F0502020204030204" pitchFamily="34" charset="0"/>
            </a:endParaRPr>
          </a:p>
        </p:txBody>
      </p:sp>
      <p:sp>
        <p:nvSpPr>
          <p:cNvPr id="2" name="Rectangle 1"/>
          <p:cNvSpPr/>
          <p:nvPr/>
        </p:nvSpPr>
        <p:spPr>
          <a:xfrm>
            <a:off x="130388" y="1006022"/>
            <a:ext cx="7648451" cy="58438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sz="2800" dirty="0" smtClean="0">
                <a:latin typeface="Calibri" panose="020F0502020204030204" pitchFamily="34" charset="0"/>
                <a:cs typeface="Calibri" panose="020F0502020204030204" pitchFamily="34" charset="0"/>
              </a:rPr>
              <a:t>Mainactivity2.java</a:t>
            </a:r>
          </a:p>
          <a:p>
            <a:pPr>
              <a:lnSpc>
                <a:spcPct val="150000"/>
              </a:lnSpc>
            </a:pPr>
            <a:r>
              <a:rPr lang="en-US" dirty="0"/>
              <a:t>Intent </a:t>
            </a:r>
            <a:r>
              <a:rPr lang="en-US" dirty="0" err="1"/>
              <a:t>fromAct</a:t>
            </a:r>
            <a:r>
              <a:rPr lang="en-US" dirty="0"/>
              <a:t> = </a:t>
            </a:r>
            <a:r>
              <a:rPr lang="en-US" dirty="0" err="1"/>
              <a:t>getIntent</a:t>
            </a:r>
            <a:r>
              <a:rPr lang="en-US" dirty="0"/>
              <a:t>();</a:t>
            </a:r>
            <a:br>
              <a:rPr lang="en-US" dirty="0"/>
            </a:br>
            <a:r>
              <a:rPr lang="en-US" dirty="0"/>
              <a:t>    String title = </a:t>
            </a:r>
            <a:r>
              <a:rPr lang="en-US" dirty="0" err="1"/>
              <a:t>fromAct.getStringExtra</a:t>
            </a:r>
            <a:r>
              <a:rPr lang="en-US" dirty="0"/>
              <a:t>("title");</a:t>
            </a:r>
            <a:br>
              <a:rPr lang="en-US" dirty="0"/>
            </a:br>
            <a:r>
              <a:rPr lang="en-US" dirty="0"/>
              <a:t>    String name = </a:t>
            </a:r>
            <a:r>
              <a:rPr lang="en-US" dirty="0" err="1"/>
              <a:t>fromAct.getStringExtra</a:t>
            </a:r>
            <a:r>
              <a:rPr lang="en-US" dirty="0"/>
              <a:t>("name");</a:t>
            </a:r>
            <a:br>
              <a:rPr lang="en-US" dirty="0"/>
            </a:br>
            <a:r>
              <a:rPr lang="en-US" dirty="0"/>
              <a:t>    </a:t>
            </a:r>
            <a:r>
              <a:rPr lang="en-US" dirty="0" err="1"/>
              <a:t>int</a:t>
            </a:r>
            <a:r>
              <a:rPr lang="en-US" dirty="0"/>
              <a:t> </a:t>
            </a:r>
            <a:r>
              <a:rPr lang="en-US" dirty="0" err="1"/>
              <a:t>rollNo</a:t>
            </a:r>
            <a:r>
              <a:rPr lang="en-US" dirty="0"/>
              <a:t> = </a:t>
            </a:r>
            <a:r>
              <a:rPr lang="en-US" dirty="0" err="1"/>
              <a:t>fromAct.getIntExtra</a:t>
            </a:r>
            <a:r>
              <a:rPr lang="en-US" dirty="0"/>
              <a:t>("RollNo",0);</a:t>
            </a:r>
            <a:br>
              <a:rPr lang="en-US" dirty="0"/>
            </a:br>
            <a:r>
              <a:rPr lang="en-US" dirty="0"/>
              <a:t/>
            </a:r>
            <a:br>
              <a:rPr lang="en-US" dirty="0"/>
            </a:br>
            <a:r>
              <a:rPr lang="en-US" dirty="0"/>
              <a:t>    </a:t>
            </a:r>
            <a:r>
              <a:rPr lang="en-US" dirty="0" err="1"/>
              <a:t>TextView</a:t>
            </a:r>
            <a:r>
              <a:rPr lang="en-US" dirty="0"/>
              <a:t> </a:t>
            </a:r>
            <a:r>
              <a:rPr lang="en-US" dirty="0" err="1"/>
              <a:t>txtStudentinfo</a:t>
            </a:r>
            <a:r>
              <a:rPr lang="en-US" dirty="0"/>
              <a:t>;</a:t>
            </a:r>
            <a:br>
              <a:rPr lang="en-US" dirty="0"/>
            </a:br>
            <a:r>
              <a:rPr lang="en-US" dirty="0"/>
              <a:t>    </a:t>
            </a:r>
            <a:r>
              <a:rPr lang="en-US" dirty="0" err="1"/>
              <a:t>txtStudentinfo</a:t>
            </a:r>
            <a:r>
              <a:rPr lang="en-US" dirty="0"/>
              <a:t> = </a:t>
            </a:r>
            <a:r>
              <a:rPr lang="en-US" dirty="0" err="1"/>
              <a:t>findViewById</a:t>
            </a:r>
            <a:r>
              <a:rPr lang="en-US" dirty="0"/>
              <a:t>(</a:t>
            </a:r>
            <a:r>
              <a:rPr lang="en-US" dirty="0" err="1"/>
              <a:t>R.id.</a:t>
            </a:r>
            <a:r>
              <a:rPr lang="en-US" i="1" dirty="0" err="1"/>
              <a:t>txtusername</a:t>
            </a:r>
            <a:r>
              <a:rPr lang="en-US" dirty="0"/>
              <a:t>);</a:t>
            </a:r>
            <a:br>
              <a:rPr lang="en-US" dirty="0"/>
            </a:br>
            <a:r>
              <a:rPr lang="en-US" dirty="0"/>
              <a:t>    </a:t>
            </a:r>
            <a:r>
              <a:rPr lang="en-US" dirty="0" err="1"/>
              <a:t>txtStudentinfo.setText</a:t>
            </a:r>
            <a:r>
              <a:rPr lang="en-US" dirty="0"/>
              <a:t>("</a:t>
            </a:r>
            <a:r>
              <a:rPr lang="en-US" dirty="0" err="1"/>
              <a:t>RollNO</a:t>
            </a:r>
            <a:r>
              <a:rPr lang="en-US" dirty="0"/>
              <a:t>: "+</a:t>
            </a:r>
            <a:r>
              <a:rPr lang="en-US" dirty="0" err="1"/>
              <a:t>rollNo</a:t>
            </a:r>
            <a:r>
              <a:rPr lang="en-US" dirty="0"/>
              <a:t>+",Name: "+name);</a:t>
            </a:r>
            <a:br>
              <a:rPr lang="en-US" dirty="0"/>
            </a:br>
            <a:r>
              <a:rPr lang="en-US" dirty="0"/>
              <a:t>    </a:t>
            </a:r>
            <a:r>
              <a:rPr lang="en-US" dirty="0" err="1"/>
              <a:t>getSupportActionBar</a:t>
            </a:r>
            <a:r>
              <a:rPr lang="en-US" dirty="0"/>
              <a:t>().</a:t>
            </a:r>
            <a:r>
              <a:rPr lang="en-US" dirty="0" err="1"/>
              <a:t>setTitle</a:t>
            </a:r>
            <a:r>
              <a:rPr lang="en-US" dirty="0"/>
              <a:t>(title);</a:t>
            </a:r>
            <a:br>
              <a:rPr lang="en-US" dirty="0"/>
            </a:b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46340372"/>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7230" y="313899"/>
            <a:ext cx="10795379" cy="4339650"/>
          </a:xfrm>
          <a:prstGeom prst="rect">
            <a:avLst/>
          </a:prstGeom>
          <a:noFill/>
        </p:spPr>
        <p:txBody>
          <a:bodyPr wrap="square" rtlCol="0">
            <a:spAutoFit/>
          </a:bodyPr>
          <a:lstStyle/>
          <a:p>
            <a:pPr algn="ctr"/>
            <a:endParaRPr lang="en-US" sz="13800" dirty="0">
              <a:latin typeface="Calibri" panose="020F0502020204030204" pitchFamily="34" charset="0"/>
              <a:cs typeface="Calibri" panose="020F0502020204030204" pitchFamily="34" charset="0"/>
            </a:endParaRPr>
          </a:p>
          <a:p>
            <a:pPr algn="ctr"/>
            <a:r>
              <a:rPr lang="en-US" sz="13800" dirty="0">
                <a:effectLst>
                  <a:outerShdw blurRad="50800" dist="38100" dir="2700000" algn="tl" rotWithShape="0">
                    <a:prstClr val="black">
                      <a:alpha val="40000"/>
                    </a:prstClr>
                  </a:outerShdw>
                </a:effectLst>
                <a:latin typeface="Algerian" panose="04020705040A02060702" pitchFamily="82" charset="0"/>
                <a:cs typeface="Calibri" panose="020F0502020204030204" pitchFamily="34" charset="0"/>
              </a:rPr>
              <a:t>Thank You</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lemental">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95000"/>
              </a:schemeClr>
            </a:gs>
            <a:gs pos="100000">
              <a:schemeClr val="phClr">
                <a:shade val="40000"/>
                <a:satMod val="180000"/>
              </a:schemeClr>
            </a:gs>
          </a:gsLst>
          <a:lin ang="5400000" scaled="0"/>
        </a:gradFill>
        <a:blipFill>
          <a:blip xmlns:r="http://schemas.openxmlformats.org/officeDocument/2006/relationships" r:embed="rId1">
            <a:duotone>
              <a:schemeClr val="phClr">
                <a:shade val="14000"/>
                <a:satMod val="280000"/>
              </a:schemeClr>
              <a:schemeClr val="phClr">
                <a:tint val="60000"/>
                <a:sat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Elemental</Template>
  <TotalTime>676</TotalTime>
  <Words>135</Words>
  <Application>Microsoft Office PowerPoint</Application>
  <PresentationFormat>Custom</PresentationFormat>
  <Paragraphs>35</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Elemental</vt:lpstr>
      <vt:lpstr>PowerPoint Presentation</vt:lpstr>
      <vt:lpstr>PowerPoint Presentation</vt:lpstr>
      <vt:lpstr>What is Intent?</vt:lpstr>
      <vt:lpstr>What is bundle passing in android?</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Naeem Khan</dc:creator>
  <cp:lastModifiedBy>amc</cp:lastModifiedBy>
  <cp:revision>77</cp:revision>
  <dcterms:created xsi:type="dcterms:W3CDTF">2024-11-04T05:04:00Z</dcterms:created>
  <dcterms:modified xsi:type="dcterms:W3CDTF">2025-01-08T07:50:36Z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92ED70D60F184857A85F9A485E7AD0CC_12</vt:lpwstr>
  </property>
  <property fmtid="{D5CDD505-2E9C-101B-9397-08002B2CF9AE}" pid="3" name="KSOProductBuildVer">
    <vt:lpwstr>1033-12.2.0.18911</vt:lpwstr>
  </property>
</Properties>
</file>