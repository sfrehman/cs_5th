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F1D204-F628-414E-98CE-06CDCEC7CF87}" type="doc">
      <dgm:prSet loTypeId="urn:microsoft.com/office/officeart/2008/layout/PictureAccentBlocks" loCatId="picture" qsTypeId="urn:microsoft.com/office/officeart/2005/8/quickstyle/simple1" qsCatId="simple" csTypeId="urn:microsoft.com/office/officeart/2005/8/colors/accent1_2" csCatId="accent1" phldr="1"/>
      <dgm:spPr/>
    </dgm:pt>
    <dgm:pt modelId="{7D0C6290-732F-47F0-A2F7-A325E8074BC9}">
      <dgm:prSet phldrT="[Text]" phldr="1"/>
      <dgm:spPr/>
      <dgm:t>
        <a:bodyPr/>
        <a:lstStyle/>
        <a:p>
          <a:endParaRPr lang="en-US" dirty="0"/>
        </a:p>
      </dgm:t>
    </dgm:pt>
    <dgm:pt modelId="{84FF0EBB-FAAD-411D-87CB-C75BFF82C023}" type="parTrans" cxnId="{6D344F8E-A3F8-4A2B-ABCA-B5647A9E560E}">
      <dgm:prSet/>
      <dgm:spPr/>
      <dgm:t>
        <a:bodyPr/>
        <a:lstStyle/>
        <a:p>
          <a:endParaRPr lang="en-US"/>
        </a:p>
      </dgm:t>
    </dgm:pt>
    <dgm:pt modelId="{4B522399-C398-4BCD-ABE5-AB747603B217}" type="sibTrans" cxnId="{6D344F8E-A3F8-4A2B-ABCA-B5647A9E560E}">
      <dgm:prSet/>
      <dgm:spPr/>
      <dgm:t>
        <a:bodyPr/>
        <a:lstStyle/>
        <a:p>
          <a:endParaRPr lang="en-US"/>
        </a:p>
      </dgm:t>
    </dgm:pt>
    <dgm:pt modelId="{0A4DCDB8-38E0-4367-84DF-2C5A8E7097E7}" type="pres">
      <dgm:prSet presAssocID="{F9F1D204-F628-414E-98CE-06CDCEC7CF87}" presName="Name0" presStyleCnt="0">
        <dgm:presLayoutVars>
          <dgm:dir/>
        </dgm:presLayoutVars>
      </dgm:prSet>
      <dgm:spPr/>
    </dgm:pt>
    <dgm:pt modelId="{3C5313FA-FB05-420E-B344-670269BE4C73}" type="pres">
      <dgm:prSet presAssocID="{7D0C6290-732F-47F0-A2F7-A325E8074BC9}" presName="composite" presStyleCnt="0"/>
      <dgm:spPr/>
    </dgm:pt>
    <dgm:pt modelId="{74896ABD-18B1-4AF9-8315-1DDE7254AA80}" type="pres">
      <dgm:prSet presAssocID="{7D0C6290-732F-47F0-A2F7-A325E8074BC9}" presName="Image" presStyleLbl="alignNode1" presStyleIdx="0" presStyleCnt="1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1C6291B-3014-4018-B48B-2FBB92C6EC1B}" type="pres">
      <dgm:prSet presAssocID="{7D0C6290-732F-47F0-A2F7-A325E8074BC9}" presName="Parent" presStyleLbl="revTx" presStyleIdx="0" presStyleCnt="1">
        <dgm:presLayoutVars>
          <dgm:bulletEnabled val="1"/>
        </dgm:presLayoutVars>
      </dgm:prSet>
      <dgm:spPr/>
    </dgm:pt>
  </dgm:ptLst>
  <dgm:cxnLst>
    <dgm:cxn modelId="{6D344F8E-A3F8-4A2B-ABCA-B5647A9E560E}" srcId="{F9F1D204-F628-414E-98CE-06CDCEC7CF87}" destId="{7D0C6290-732F-47F0-A2F7-A325E8074BC9}" srcOrd="0" destOrd="0" parTransId="{84FF0EBB-FAAD-411D-87CB-C75BFF82C023}" sibTransId="{4B522399-C398-4BCD-ABE5-AB747603B217}"/>
    <dgm:cxn modelId="{843AFC94-2D38-4A5E-BC43-D03C2A3DCAA3}" type="presOf" srcId="{F9F1D204-F628-414E-98CE-06CDCEC7CF87}" destId="{0A4DCDB8-38E0-4367-84DF-2C5A8E7097E7}" srcOrd="0" destOrd="0" presId="urn:microsoft.com/office/officeart/2008/layout/PictureAccentBlocks"/>
    <dgm:cxn modelId="{6EFAEABA-A4E5-40B3-972A-3A7B579FECEB}" type="presOf" srcId="{7D0C6290-732F-47F0-A2F7-A325E8074BC9}" destId="{A1C6291B-3014-4018-B48B-2FBB92C6EC1B}" srcOrd="0" destOrd="0" presId="urn:microsoft.com/office/officeart/2008/layout/PictureAccentBlocks"/>
    <dgm:cxn modelId="{92296D11-9A38-4E4B-92B7-3661AC799083}" type="presParOf" srcId="{0A4DCDB8-38E0-4367-84DF-2C5A8E7097E7}" destId="{3C5313FA-FB05-420E-B344-670269BE4C73}" srcOrd="0" destOrd="0" presId="urn:microsoft.com/office/officeart/2008/layout/PictureAccentBlocks"/>
    <dgm:cxn modelId="{80BCDCC4-E941-4EBB-8CB7-13D3308DD3FC}" type="presParOf" srcId="{3C5313FA-FB05-420E-B344-670269BE4C73}" destId="{74896ABD-18B1-4AF9-8315-1DDE7254AA80}" srcOrd="0" destOrd="0" presId="urn:microsoft.com/office/officeart/2008/layout/PictureAccentBlocks"/>
    <dgm:cxn modelId="{6181BD07-F4B7-4DB4-B493-D13D6620AB76}" type="presParOf" srcId="{3C5313FA-FB05-420E-B344-670269BE4C73}" destId="{A1C6291B-3014-4018-B48B-2FBB92C6EC1B}" srcOrd="1" destOrd="0" presId="urn:microsoft.com/office/officeart/2008/layout/PictureAccent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96ABD-18B1-4AF9-8315-1DDE7254AA80}">
      <dsp:nvSpPr>
        <dsp:cNvPr id="0" name=""/>
        <dsp:cNvSpPr/>
      </dsp:nvSpPr>
      <dsp:spPr>
        <a:xfrm>
          <a:off x="298733" y="197630"/>
          <a:ext cx="1493669" cy="149366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6291B-3014-4018-B48B-2FBB92C6EC1B}">
      <dsp:nvSpPr>
        <dsp:cNvPr id="0" name=""/>
        <dsp:cNvSpPr/>
      </dsp:nvSpPr>
      <dsp:spPr>
        <a:xfrm rot="16200000">
          <a:off x="-597467" y="795098"/>
          <a:ext cx="1493669" cy="298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-597467" y="795098"/>
        <a:ext cx="1493669" cy="298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Blocks">
  <dgm:title val=""/>
  <dgm:desc val=""/>
  <dgm:catLst>
    <dgm:cat type="picture" pri="12000"/>
    <dgm:cat type="pictureconvert" pri="1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gt" val="5">
        <dgm:choose name="Name3">
          <dgm:if name="Name4" func="var" arg="dir" op="equ" val="norm">
            <dgm:alg type="snake">
              <dgm:param type="grDir" val="bL"/>
              <dgm:param type="bkpt" val="fixed"/>
              <dgm:param type="bkPtFixedVal" val="3"/>
              <dgm:param type="off" val="off"/>
              <dgm:param type="horzAlign" val="r"/>
              <dgm:param type="vertAlign" val="b"/>
            </dgm:alg>
          </dgm:if>
          <dgm:else name="Name5">
            <dgm:alg type="snake">
              <dgm:param type="grDir" val="bR"/>
              <dgm:param type="bkpt" val="fixed"/>
              <dgm:param type="bkPtFixedVal" val="3"/>
              <dgm:param type="off" val="off"/>
              <dgm:param type="horzAlign" val="l"/>
              <dgm:param type="vertAlign" val="b"/>
            </dgm:alg>
          </dgm:else>
        </dgm:choose>
      </dgm:if>
      <dgm:else name="Name6">
        <dgm:choose name="Name7">
          <dgm:if name="Name8" func="var" arg="dir" op="equ" val="norm">
            <dgm:alg type="snake">
              <dgm:param type="grDir" val="bL"/>
              <dgm:param type="bkpt" val="fixed"/>
              <dgm:param type="bkPtFixedVal" val="2"/>
              <dgm:param type="off" val="off"/>
              <dgm:param type="horzAlign" val="r"/>
              <dgm:param type="vertAlign" val="b"/>
            </dgm:alg>
          </dgm:if>
          <dgm:else name="Name9">
            <dgm:alg type="snake">
              <dgm:param type="grDir" val="bR"/>
              <dgm:param type="bkpt" val="fixed"/>
              <dgm:param type="bkPtFixedVal" val="2"/>
              <dgm:param type="off" val="off"/>
              <dgm:param type="horzAlign" val="l"/>
              <dgm:param type="vertAlign" val="b"/>
            </dgm:alg>
          </dgm:else>
        </dgm:choose>
      </dgm:else>
    </dgm:choose>
    <dgm:shape xmlns:r="http://schemas.openxmlformats.org/officeDocument/2006/relationships" r:blip="">
      <dgm:adjLst/>
    </dgm:shape>
    <dgm:constrLst>
      <dgm:constr type="alignOff" val="1"/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13"/>
      <dgm:constr type="w" for="ch" forName="sibTrans" refType="w" refFor="ch" refForName="composite" op="equ" fact="0.000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2"/>
        </dgm:alg>
        <dgm:shape xmlns:r="http://schemas.openxmlformats.org/officeDocument/2006/relationships" r:blip="">
          <dgm:adjLst/>
        </dgm:shape>
        <dgm:choose name="Name10">
          <dgm:if name="Name11" func="var" arg="dir" op="equ" val="norm">
            <dgm:constrLst>
              <dgm:constr type="l" for="ch" forName="Image" refType="w" refFor="ch" refForName="Image" fact="0.2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fact="0"/>
              <dgm:constr type="t" for="ch" forName="Parent" refType="h" fact="0"/>
              <dgm:constr type="w" for="ch" forName="Parent" refType="h" refFor="ch" refForName="Image" op="equ" fact="0.2"/>
              <dgm:constr type="h" for="ch" forName="Parent" refType="h" refFor="ch" refForName="Image" op="equ"/>
            </dgm:constrLst>
          </dgm:if>
          <dgm:else name="Name12">
            <dgm:constrLst>
              <dgm:constr type="l" for="ch" forName="Image" refType="w" fact="0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refFor="ch" refForName="Image"/>
              <dgm:constr type="t" for="ch" forName="Parent" refType="h" fact="0"/>
              <dgm:constr type="w" for="ch" forName="Parent" refType="w" refFor="ch" refForName="Image" fact="0.2"/>
              <dgm:constr type="h" for="ch" forName="Parent" refType="h" refFor="ch" refForName="Image"/>
            </dgm:constrLst>
          </dgm:else>
        </dgm:choose>
        <dgm:layoutNode name="Image" styleLbl="alig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revTx">
          <dgm:varLst>
            <dgm:bulletEnabled val="1"/>
          </dgm:varLst>
          <dgm:alg type="tx">
            <dgm:param type="parTxLTRAlign" val="l"/>
            <dgm:param type="txAnchorVert" val="b"/>
            <dgm:param type="txAnchorVertCh" val="b"/>
            <dgm:param type="autoTxRot" val="grav"/>
          </dgm:alg>
          <dgm:choose name="Name13">
            <dgm:if name="Name14" func="var" arg="dir" op="equ" val="norm">
              <dgm:shape xmlns:r="http://schemas.openxmlformats.org/officeDocument/2006/relationships" rot="270" type="rect" r:blip="">
                <dgm:adjLst/>
              </dgm:shape>
            </dgm:if>
            <dgm:else name="Name15">
              <dgm:shape xmlns:r="http://schemas.openxmlformats.org/officeDocument/2006/relationships" rot="90" type="rect" r:blip="">
                <dgm:adjLst/>
              </dgm:shape>
            </dgm:else>
          </dgm:choose>
          <dgm:presOf axis="desOr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5A4890-73CD-BE8E-E75A-24EBA1F04D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EAE3F-BDC0-CC7D-72F5-097B658C6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72922-D2C6-16EC-F9B6-1CD25677B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BA8F1-4265-0CCB-15D1-4572ABBD9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9432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3892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969E-6FC1-C80E-E305-B01D06584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EF9B4-0BBB-1A7E-F044-33CBF72FC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1DB9A-C661-F518-477C-AD96E4D5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58419-7C9A-B229-5964-6611C217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41DDC-9D6A-9E94-AE76-446F3205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0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9ED7-689A-A2F0-277C-39129A73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C939D-DBDB-43B2-35BA-45140639A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41766-7A00-9CE9-2DEF-CDF309A1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B30FA-A8D8-89E6-C8EE-886B4DA2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FA77-E742-7393-C299-B3BC8B7A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6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2CF41-0AFD-9683-901C-31AB0240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3D019-B684-5629-C4FE-BD7F35AF5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1DD95-54AC-FF96-95B0-73568208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C5AA5-DC07-3B7B-7745-001B6969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B4048-0052-ABB5-1300-1C3BBE47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8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09C9-53EF-BEA5-746D-32D17270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274CA-4906-0237-F094-3EB7B2228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C16F9-12DF-D877-F605-356AF4922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2A2-45D7-AFCC-2171-0DD52646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B0AAD-7A53-06DF-C53A-84347FFE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BD662-A7FF-C9C9-6999-86013C14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851F-CE7C-88BE-73EA-0CDE7A70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8CB88-689C-E4D2-5C3E-0D28A1482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E26F2-E6DC-22AE-4C87-090A3D6D8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3B348-A710-FC08-F843-CE063CD10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52BD4-5324-7291-42B9-966F179F3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F7EB6-4CC7-AF88-4294-4C80CD07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7D2FDE-0366-81A8-A6FF-47F323FA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378BB-BCFA-A40A-713D-6F17C333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EF48-51B1-FF07-09E2-BF371946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64295-B0BF-4D8B-EDE8-A929793BF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D0D1E-FF3B-4757-955D-EF2726A9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78B60-F6D6-9799-6E5A-73E34401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4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FDA05-52A1-CC11-4255-2444A4BA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F718E-9739-8B8B-2C5E-F5C13F24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A3656-D2FC-74AD-1BC1-5DD21DB6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4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DCCD-41D8-6BC3-2629-EC0B4FA41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8955-CC0C-BC6C-9CEF-F2635BC2D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F3A23-74F6-B486-E805-3E22CA29A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DA0E6-D485-2434-5C02-E9D29160E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9464A-B9E9-9B67-3728-14678C448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AA0CC-22C3-1AE1-4D85-59A84858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4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A17F-13B8-11A8-E807-712E6093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7FA0D-7E96-1C09-ADAB-8121DFB281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6107B-3F24-FC6F-50B6-52088E787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59D21-F5D6-AA9A-4636-4A5AEFAF9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8FFF1-6585-9993-C62E-2B664560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C2B90-A459-1739-170C-6D3EF044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8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6F0B-F1E6-22D6-D85E-8A111027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7AFEC-D9CA-1207-6034-92AC0C587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CEFB7-FEA6-4790-7896-AD1CDA4C6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F8B41-7EF9-638E-D439-4AEE97CB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997E1-F6E4-607E-B5DB-AE4C2A12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6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3C756-CCAE-602F-7F7C-39887D9E78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45B95-FA35-44B1-46AD-9B2791D78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2A15E-B2B6-00CE-5D22-E09C8031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AFCFD-B2AA-59EC-34BD-FCA8880C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3E888-F250-346C-E491-B442F17A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95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C5632D-D4E4-26C4-6C74-BB8FA930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5BA9F-D3E9-0377-75A7-E93F329C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9FBA2-A094-8DC2-20E9-830C5E77A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59E04-BC48-4C3C-B2CF-95287A202A10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DD68C-590B-4497-6786-F427F2E27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53094-49F9-A1F0-1237-274FDD04E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64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FA10B9-682B-E9BA-2B44-412C924821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FBAA9D-D6C0-923A-732F-7E7C614C94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BC33A1-5A74-00F4-0438-6DDCBDFABA2B}"/>
              </a:ext>
            </a:extLst>
          </p:cNvPr>
          <p:cNvCxnSpPr>
            <a:cxnSpLocks/>
          </p:cNvCxnSpPr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8D18C9-0268-67F9-1DD1-3AACDEE20F4B}"/>
              </a:ext>
            </a:extLst>
          </p:cNvPr>
          <p:cNvCxnSpPr>
            <a:cxnSpLocks/>
          </p:cNvCxnSpPr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82B582-63E5-6B5B-5CF1-B7E4CC871B9F}"/>
              </a:ext>
            </a:extLst>
          </p:cNvPr>
          <p:cNvCxnSpPr>
            <a:cxnSpLocks/>
          </p:cNvCxnSpPr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353F08-27F8-3B21-4D28-42DA6E640FDB}"/>
              </a:ext>
            </a:extLst>
          </p:cNvPr>
          <p:cNvCxnSpPr>
            <a:cxnSpLocks/>
          </p:cNvCxnSpPr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DBB7DE-6EDC-3042-16EB-6F25A34FAC91}"/>
              </a:ext>
            </a:extLst>
          </p:cNvPr>
          <p:cNvCxnSpPr>
            <a:cxnSpLocks/>
          </p:cNvCxnSpPr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8B4F6AC-209D-1999-1331-6D66934B7155}"/>
              </a:ext>
            </a:extLst>
          </p:cNvPr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4BBE7CF-4516-CE57-815F-A3F5897F858D}"/>
              </a:ext>
            </a:extLst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8D33D6-54EE-9A1F-DDBF-96809C25A0DD}"/>
              </a:ext>
            </a:extLst>
          </p:cNvPr>
          <p:cNvSpPr txBox="1"/>
          <p:nvPr/>
        </p:nvSpPr>
        <p:spPr>
          <a:xfrm>
            <a:off x="1139483" y="6316394"/>
            <a:ext cx="963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spc="600" dirty="0">
                <a:solidFill>
                  <a:schemeClr val="bg1"/>
                </a:solidFill>
              </a:rPr>
              <a:t>Mobile 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326734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Key </a:t>
            </a:r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304800" y="1147482"/>
            <a:ext cx="11887200" cy="487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What is Android?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What is Operating System?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What is Linux?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What is Open Source?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The Superior College Mian Channu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2C9E8A1-E1B3-C141-ACB2-CF2EC9B031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940212"/>
              </p:ext>
            </p:extLst>
          </p:nvPr>
        </p:nvGraphicFramePr>
        <p:xfrm>
          <a:off x="10399594" y="41966"/>
          <a:ext cx="1792403" cy="169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136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android </a:t>
            </a:r>
            <a:r>
              <a:rPr lang="en-US" sz="54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400" y="2070812"/>
            <a:ext cx="11887200" cy="294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Android is an open source and Linux-base Operating system.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Developed by the open Handset Alliance, led by Google and other companies.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Google has further developed Android TV for television, Android Auto for cars and wear OS for wrist watch.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45B73-6600-0E22-A802-C286DB830DF9}"/>
              </a:ext>
            </a:extLst>
          </p:cNvPr>
          <p:cNvSpPr/>
          <p:nvPr/>
        </p:nvSpPr>
        <p:spPr>
          <a:xfrm>
            <a:off x="0" y="165830"/>
            <a:ext cx="1775011" cy="127298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791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android </a:t>
            </a:r>
            <a:r>
              <a:rPr lang="en-US" sz="54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400" y="2070812"/>
            <a:ext cx="11887200" cy="93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Open Source 		        Linux Based			 Operating System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45B73-6600-0E22-A802-C286DB830DF9}"/>
              </a:ext>
            </a:extLst>
          </p:cNvPr>
          <p:cNvSpPr/>
          <p:nvPr/>
        </p:nvSpPr>
        <p:spPr>
          <a:xfrm>
            <a:off x="0" y="165830"/>
            <a:ext cx="1775011" cy="127298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1D1AC-9634-C5A0-39B5-31C2005AD1E5}"/>
              </a:ext>
            </a:extLst>
          </p:cNvPr>
          <p:cNvSpPr txBox="1"/>
          <p:nvPr/>
        </p:nvSpPr>
        <p:spPr>
          <a:xfrm>
            <a:off x="152398" y="3811012"/>
            <a:ext cx="118872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       A			               B 				    C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98329" y="0"/>
            <a:ext cx="1493669" cy="1493669"/>
          </a:xfrm>
          <a:prstGeom prst="rect">
            <a:avLst/>
          </a:prstGeom>
          <a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3803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operating System?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374776"/>
            <a:ext cx="11887200" cy="368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 operating system or OS is a software program that enable the hardware to communicate and operate with the software.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Operating system is an interface between user and hardware.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Operating systems provide a software platform on top of which other programs, called application program can run.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545930" y="0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236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Linux?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374776"/>
            <a:ext cx="11887200" cy="294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Linux is a family of free and open source software operating systems built around the Linux kernel.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development of Linux is one of the most prominent examples of free and open-source software collaboration.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545930" y="0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5912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open source?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374776"/>
            <a:ext cx="11887200" cy="368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source code of a computer program is made available free of charges to the general public.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Users can view the code that comprises the software and make any kind of changes to it they want.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Anyone can take the source code and distribute their own program from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545930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8735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History of Android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400" y="2070812"/>
            <a:ext cx="11887200" cy="727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45B73-6600-0E22-A802-C286DB830DF9}"/>
              </a:ext>
            </a:extLst>
          </p:cNvPr>
          <p:cNvSpPr/>
          <p:nvPr/>
        </p:nvSpPr>
        <p:spPr>
          <a:xfrm>
            <a:off x="0" y="165830"/>
            <a:ext cx="1775011" cy="127298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6B1956-F5F4-497E-B09D-B68E2C1DF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505" y="1613647"/>
            <a:ext cx="9280478" cy="44672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545931" y="55489"/>
            <a:ext cx="1493669" cy="1493669"/>
          </a:xfrm>
          <a:prstGeom prst="rect">
            <a:avLst/>
          </a:prstGeom>
          <a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718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Android Inc?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374776"/>
            <a:ext cx="11887200" cy="294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Initially, Andy Rubin founded Android Incorporation in Palo Alto, California, United States in October, 2003.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 17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August 2005, Google acquired android incorporation. Since then, it is in the subsidiary of Google incorporation.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545930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8496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Dates</a:t>
            </a:r>
            <a:endParaRPr lang="en-US" sz="5400" u="sng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374776"/>
            <a:ext cx="11887200" cy="4420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October 2003- Android Inc. was founded.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July 2005- Google acquired Android Inc.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October 22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, 2008- First android smartphone HTC Dream was launched.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latest android version is Android 15 and it was released on September 2, 2024. The internal code name for Android 15 is Vanilla Ice Cream.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545930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304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Android Versions</a:t>
            </a:r>
            <a:endParaRPr lang="en-US" sz="5400" u="sng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374776"/>
            <a:ext cx="11887200" cy="294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first commercial version, Android 1.0 was released on September 23, 2008.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Android code names are confectionery (Sweets &amp; chocolates)- themed and have been in alphabetical order since 2009’s Android 1.5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545930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122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49B7A1-8260-5A2D-7541-61CECB6EAEF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4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49B7A1-8260-5A2D-7541-61CECB6EAEF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30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IDE?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374776"/>
            <a:ext cx="11887200" cy="2697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ntegrated 		</a:t>
            </a: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evelopment 		</a:t>
            </a: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nvironment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545930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0429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IDE?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374776"/>
            <a:ext cx="11887200" cy="220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Enables programmer programmers to consolidate the different aspects of writing a computer program.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Increases Efficiency- faster coding with less effort.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545930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772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Feature of 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374776"/>
            <a:ext cx="11887200" cy="368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Editing source code.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Syntax Highlighting.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Autocomplete(Suggestions).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Building Executables.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Debugging (Manual Testing).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Superior College Mian Channu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545930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1382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F1D2F-7A5A-3BC7-080E-F90410B98799}"/>
              </a:ext>
            </a:extLst>
          </p:cNvPr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501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516</Words>
  <Application>Microsoft Office PowerPoint</Application>
  <PresentationFormat>Widescreen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Algerian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Naeem Khan</dc:creator>
  <cp:lastModifiedBy>Muhammad Naeem Khan</cp:lastModifiedBy>
  <cp:revision>6</cp:revision>
  <dcterms:created xsi:type="dcterms:W3CDTF">2024-11-04T05:04:14Z</dcterms:created>
  <dcterms:modified xsi:type="dcterms:W3CDTF">2024-11-06T05:02:55Z</dcterms:modified>
</cp:coreProperties>
</file>