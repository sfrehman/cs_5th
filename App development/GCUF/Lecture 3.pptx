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2"/>
    <p:sldId id="257" r:id="rId3"/>
    <p:sldId id="258" r:id="rId4"/>
    <p:sldId id="273" r:id="rId5"/>
    <p:sldId id="279" r:id="rId6"/>
    <p:sldId id="280" r:id="rId7"/>
    <p:sldId id="281" r:id="rId8"/>
    <p:sldId id="282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9F1D204-F628-414E-98CE-06CDCEC7CF87}" type="doc">
      <dgm:prSet loTypeId="urn:microsoft.com/office/officeart/2008/layout/PictureAccentBlocks" loCatId="picture" qsTypeId="urn:microsoft.com/office/officeart/2005/8/quickstyle/simple1" qsCatId="simple" csTypeId="urn:microsoft.com/office/officeart/2005/8/colors/accent1_2" csCatId="accent1" phldr="1"/>
      <dgm:spPr/>
    </dgm:pt>
    <dgm:pt modelId="{7D0C6290-732F-47F0-A2F7-A325E8074BC9}">
      <dgm:prSet phldrT="[Text]" phldr="1"/>
      <dgm:spPr/>
      <dgm:t>
        <a:bodyPr/>
        <a:lstStyle/>
        <a:p>
          <a:endParaRPr lang="en-US" dirty="0"/>
        </a:p>
      </dgm:t>
    </dgm:pt>
    <dgm:pt modelId="{84FF0EBB-FAAD-411D-87CB-C75BFF82C023}" type="parTrans" cxnId="{6D344F8E-A3F8-4A2B-ABCA-B5647A9E560E}">
      <dgm:prSet/>
      <dgm:spPr/>
      <dgm:t>
        <a:bodyPr/>
        <a:lstStyle/>
        <a:p>
          <a:endParaRPr lang="en-US"/>
        </a:p>
      </dgm:t>
    </dgm:pt>
    <dgm:pt modelId="{4B522399-C398-4BCD-ABE5-AB747603B217}" type="sibTrans" cxnId="{6D344F8E-A3F8-4A2B-ABCA-B5647A9E560E}">
      <dgm:prSet/>
      <dgm:spPr/>
      <dgm:t>
        <a:bodyPr/>
        <a:lstStyle/>
        <a:p>
          <a:endParaRPr lang="en-US"/>
        </a:p>
      </dgm:t>
    </dgm:pt>
    <dgm:pt modelId="{0A4DCDB8-38E0-4367-84DF-2C5A8E7097E7}" type="pres">
      <dgm:prSet presAssocID="{F9F1D204-F628-414E-98CE-06CDCEC7CF87}" presName="Name0" presStyleCnt="0">
        <dgm:presLayoutVars>
          <dgm:dir/>
        </dgm:presLayoutVars>
      </dgm:prSet>
      <dgm:spPr/>
    </dgm:pt>
    <dgm:pt modelId="{3C5313FA-FB05-420E-B344-670269BE4C73}" type="pres">
      <dgm:prSet presAssocID="{7D0C6290-732F-47F0-A2F7-A325E8074BC9}" presName="composite" presStyleCnt="0"/>
      <dgm:spPr/>
    </dgm:pt>
    <dgm:pt modelId="{74896ABD-18B1-4AF9-8315-1DDE7254AA80}" type="pres">
      <dgm:prSet presAssocID="{7D0C6290-732F-47F0-A2F7-A325E8074BC9}" presName="Image" presStyleLbl="alignNode1" presStyleIdx="0" presStyleCnt="1"/>
      <dgm:spPr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A1C6291B-3014-4018-B48B-2FBB92C6EC1B}" type="pres">
      <dgm:prSet presAssocID="{7D0C6290-732F-47F0-A2F7-A325E8074BC9}" presName="Parent" presStyleLbl="revTx" presStyleIdx="0" presStyleCnt="1">
        <dgm:presLayoutVars>
          <dgm:bulletEnabled val="1"/>
        </dgm:presLayoutVars>
      </dgm:prSet>
      <dgm:spPr/>
    </dgm:pt>
  </dgm:ptLst>
  <dgm:cxnLst>
    <dgm:cxn modelId="{6D344F8E-A3F8-4A2B-ABCA-B5647A9E560E}" srcId="{F9F1D204-F628-414E-98CE-06CDCEC7CF87}" destId="{7D0C6290-732F-47F0-A2F7-A325E8074BC9}" srcOrd="0" destOrd="0" parTransId="{84FF0EBB-FAAD-411D-87CB-C75BFF82C023}" sibTransId="{4B522399-C398-4BCD-ABE5-AB747603B217}"/>
    <dgm:cxn modelId="{843AFC94-2D38-4A5E-BC43-D03C2A3DCAA3}" type="presOf" srcId="{F9F1D204-F628-414E-98CE-06CDCEC7CF87}" destId="{0A4DCDB8-38E0-4367-84DF-2C5A8E7097E7}" srcOrd="0" destOrd="0" presId="urn:microsoft.com/office/officeart/2008/layout/PictureAccentBlocks"/>
    <dgm:cxn modelId="{6EFAEABA-A4E5-40B3-972A-3A7B579FECEB}" type="presOf" srcId="{7D0C6290-732F-47F0-A2F7-A325E8074BC9}" destId="{A1C6291B-3014-4018-B48B-2FBB92C6EC1B}" srcOrd="0" destOrd="0" presId="urn:microsoft.com/office/officeart/2008/layout/PictureAccentBlocks"/>
    <dgm:cxn modelId="{92296D11-9A38-4E4B-92B7-3661AC799083}" type="presParOf" srcId="{0A4DCDB8-38E0-4367-84DF-2C5A8E7097E7}" destId="{3C5313FA-FB05-420E-B344-670269BE4C73}" srcOrd="0" destOrd="0" presId="urn:microsoft.com/office/officeart/2008/layout/PictureAccentBlocks"/>
    <dgm:cxn modelId="{80BCDCC4-E941-4EBB-8CB7-13D3308DD3FC}" type="presParOf" srcId="{3C5313FA-FB05-420E-B344-670269BE4C73}" destId="{74896ABD-18B1-4AF9-8315-1DDE7254AA80}" srcOrd="0" destOrd="0" presId="urn:microsoft.com/office/officeart/2008/layout/PictureAccentBlocks"/>
    <dgm:cxn modelId="{6181BD07-F4B7-4DB4-B493-D13D6620AB76}" type="presParOf" srcId="{3C5313FA-FB05-420E-B344-670269BE4C73}" destId="{A1C6291B-3014-4018-B48B-2FBB92C6EC1B}" srcOrd="1" destOrd="0" presId="urn:microsoft.com/office/officeart/2008/layout/PictureAccentBlock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896ABD-18B1-4AF9-8315-1DDE7254AA80}">
      <dsp:nvSpPr>
        <dsp:cNvPr id="0" name=""/>
        <dsp:cNvSpPr/>
      </dsp:nvSpPr>
      <dsp:spPr>
        <a:xfrm>
          <a:off x="298733" y="197630"/>
          <a:ext cx="1493669" cy="1493669"/>
        </a:xfrm>
        <a:prstGeom prst="rect">
          <a:avLst/>
        </a:prstGeom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C6291B-3014-4018-B48B-2FBB92C6EC1B}">
      <dsp:nvSpPr>
        <dsp:cNvPr id="0" name=""/>
        <dsp:cNvSpPr/>
      </dsp:nvSpPr>
      <dsp:spPr>
        <a:xfrm rot="16200000">
          <a:off x="-597467" y="795098"/>
          <a:ext cx="1493669" cy="2987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65" tIns="12065" rIns="12065" bIns="12065" numCol="1" spcCol="1270" anchor="b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 dirty="0"/>
        </a:p>
      </dsp:txBody>
      <dsp:txXfrm>
        <a:off x="-597467" y="795098"/>
        <a:ext cx="1493669" cy="2987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PictureAccentBlocks">
  <dgm:title val=""/>
  <dgm:desc val=""/>
  <dgm:catLst>
    <dgm:cat type="picture" pri="12000"/>
    <dgm:cat type="pictureconvert" pri="12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dir/>
    </dgm:varLst>
    <dgm:choose name="Name1">
      <dgm:if name="Name2" axis="ch" ptType="node" func="cnt" op="gt" val="5">
        <dgm:choose name="Name3">
          <dgm:if name="Name4" func="var" arg="dir" op="equ" val="norm">
            <dgm:alg type="snake">
              <dgm:param type="grDir" val="bL"/>
              <dgm:param type="bkpt" val="fixed"/>
              <dgm:param type="bkPtFixedVal" val="3"/>
              <dgm:param type="off" val="off"/>
              <dgm:param type="horzAlign" val="r"/>
              <dgm:param type="vertAlign" val="b"/>
            </dgm:alg>
          </dgm:if>
          <dgm:else name="Name5">
            <dgm:alg type="snake">
              <dgm:param type="grDir" val="bR"/>
              <dgm:param type="bkpt" val="fixed"/>
              <dgm:param type="bkPtFixedVal" val="3"/>
              <dgm:param type="off" val="off"/>
              <dgm:param type="horzAlign" val="l"/>
              <dgm:param type="vertAlign" val="b"/>
            </dgm:alg>
          </dgm:else>
        </dgm:choose>
      </dgm:if>
      <dgm:else name="Name6">
        <dgm:choose name="Name7">
          <dgm:if name="Name8" func="var" arg="dir" op="equ" val="norm">
            <dgm:alg type="snake">
              <dgm:param type="grDir" val="bL"/>
              <dgm:param type="bkpt" val="fixed"/>
              <dgm:param type="bkPtFixedVal" val="2"/>
              <dgm:param type="off" val="off"/>
              <dgm:param type="horzAlign" val="r"/>
              <dgm:param type="vertAlign" val="b"/>
            </dgm:alg>
          </dgm:if>
          <dgm:else name="Name9">
            <dgm:alg type="snake">
              <dgm:param type="grDir" val="bR"/>
              <dgm:param type="bkpt" val="fixed"/>
              <dgm:param type="bkPtFixedVal" val="2"/>
              <dgm:param type="off" val="off"/>
              <dgm:param type="horzAlign" val="l"/>
              <dgm:param type="vertAlign" val="b"/>
            </dgm:alg>
          </dgm:else>
        </dgm:choose>
      </dgm:else>
    </dgm:choose>
    <dgm:shape xmlns:r="http://schemas.openxmlformats.org/officeDocument/2006/relationships" r:blip="">
      <dgm:adjLst/>
    </dgm:shape>
    <dgm:constrLst>
      <dgm:constr type="alignOff" val="1"/>
      <dgm:constr type="primFontSz" for="des" ptType="node" op="equ" val="65"/>
      <dgm:constr type="w" for="ch" forName="composite" refType="w"/>
      <dgm:constr type="h" for="ch" forName="composite" refType="h"/>
      <dgm:constr type="sp" refType="w" refFor="ch" refForName="composite" op="equ" fact="0.113"/>
      <dgm:constr type="w" for="ch" forName="sibTrans" refType="w" refFor="ch" refForName="composite" op="equ" fact="0.0001"/>
      <dgm:constr type="h" for="ch" forName="sibTrans" refType="w" refFor="ch" refForName="sibTrans" op="equ"/>
    </dgm:constrLst>
    <dgm:forEach name="nodesForEach" axis="ch" ptType="node">
      <dgm:layoutNode name="composite">
        <dgm:alg type="composite">
          <dgm:param type="ar" val="1.2"/>
        </dgm:alg>
        <dgm:shape xmlns:r="http://schemas.openxmlformats.org/officeDocument/2006/relationships" r:blip="">
          <dgm:adjLst/>
        </dgm:shape>
        <dgm:choose name="Name10">
          <dgm:if name="Name11" func="var" arg="dir" op="equ" val="norm">
            <dgm:constrLst>
              <dgm:constr type="l" for="ch" forName="Image" refType="w" refFor="ch" refForName="Image" fact="0.2"/>
              <dgm:constr type="t" for="ch" forName="Image" refType="h" fact="0"/>
              <dgm:constr type="h" for="ch" forName="Image" refType="h"/>
              <dgm:constr type="w" for="ch" forName="Image" refType="h" refFor="ch" refForName="Image" op="equ"/>
              <dgm:constr type="l" for="ch" forName="Parent" refType="w" fact="0"/>
              <dgm:constr type="t" for="ch" forName="Parent" refType="h" fact="0"/>
              <dgm:constr type="w" for="ch" forName="Parent" refType="h" refFor="ch" refForName="Image" op="equ" fact="0.2"/>
              <dgm:constr type="h" for="ch" forName="Parent" refType="h" refFor="ch" refForName="Image" op="equ"/>
            </dgm:constrLst>
          </dgm:if>
          <dgm:else name="Name12">
            <dgm:constrLst>
              <dgm:constr type="l" for="ch" forName="Image" refType="w" fact="0"/>
              <dgm:constr type="t" for="ch" forName="Image" refType="h" fact="0"/>
              <dgm:constr type="h" for="ch" forName="Image" refType="h"/>
              <dgm:constr type="w" for="ch" forName="Image" refType="h" refFor="ch" refForName="Image" op="equ"/>
              <dgm:constr type="l" for="ch" forName="Parent" refType="w" refFor="ch" refForName="Image"/>
              <dgm:constr type="t" for="ch" forName="Parent" refType="h" fact="0"/>
              <dgm:constr type="w" for="ch" forName="Parent" refType="w" refFor="ch" refForName="Image" fact="0.2"/>
              <dgm:constr type="h" for="ch" forName="Parent" refType="h" refFor="ch" refForName="Image"/>
            </dgm:constrLst>
          </dgm:else>
        </dgm:choose>
        <dgm:layoutNode name="Image" styleLbl="alignNode1"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Parent" styleLbl="revTx">
          <dgm:varLst>
            <dgm:bulletEnabled val="1"/>
          </dgm:varLst>
          <dgm:alg type="tx">
            <dgm:param type="parTxLTRAlign" val="l"/>
            <dgm:param type="txAnchorVert" val="b"/>
            <dgm:param type="txAnchorVertCh" val="b"/>
            <dgm:param type="autoTxRot" val="grav"/>
          </dgm:alg>
          <dgm:choose name="Name13">
            <dgm:if name="Name14" func="var" arg="dir" op="equ" val="norm">
              <dgm:shape xmlns:r="http://schemas.openxmlformats.org/officeDocument/2006/relationships" rot="270" type="rect" r:blip="">
                <dgm:adjLst/>
              </dgm:shape>
            </dgm:if>
            <dgm:else name="Name15">
              <dgm:shape xmlns:r="http://schemas.openxmlformats.org/officeDocument/2006/relationships" rot="90" type="rect" r:blip="">
                <dgm:adjLst/>
              </dgm:shape>
            </dgm:else>
          </dgm:choose>
          <dgm:presOf axis="desOr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B5A4890-73CD-BE8E-E75A-24EBA1F04D5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Superior College Mian Channu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0EAE3F-BDC0-CC7D-72F5-097B658C62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F23418-877D-4E15-98EB-B18A416688F8}" type="datetimeFigureOut">
              <a:rPr lang="en-US" smtClean="0"/>
              <a:t>11/15/2024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572922-D2C6-16EC-F9B6-1CD25677BE4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8BA8F1-4265-0CCB-15D1-4572ABBD9AF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1B3ED0-4E7F-4552-8A34-7C1339267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994325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Superior College Mian Channu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095D31-9972-44D7-A973-436B8E0F36E9}" type="datetimeFigureOut">
              <a:rPr lang="en-US" smtClean="0"/>
              <a:t>11/15/2024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F085B6-4FD1-4360-BB53-F417E13A6F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338924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C969E-6FC1-C80E-E305-B01D06584B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4EF9B4-0BBB-1A7E-F044-33CBF72FC1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F1DB9A-C661-F518-477C-AD96E4D51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11/15/2024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958419-7C9A-B229-5964-6611C2178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241DDC-9D6A-9E94-AE76-446F32050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909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E9ED7-689A-A2F0-277C-39129A73A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C939D-DBDB-43B2-35BA-45140639A4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541766-7A00-9CE9-2DEF-CDF309A18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11/15/2024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1B30FA-A8D8-89E6-C8EE-886B4DA22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95FA77-E742-7393-C299-B3BC8B7A2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564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2CF41-0AFD-9683-901C-31AB0240D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73D019-B684-5629-C4FE-BD7F35AF5A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E1DD95-54AC-FF96-95B0-735682087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11/15/2024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0C5AA5-DC07-3B7B-7745-001B6969B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0B4048-0052-ABB5-1300-1C3BBE47D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28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B09C9-53EF-BEA5-746D-32D172700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D274CA-4906-0237-F094-3EB7B22282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EC16F9-12DF-D877-F605-356AF49223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D612A2-45D7-AFCC-2171-0DD526463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11/15/2024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8B0AAD-7A53-06DF-C53A-84347FFE1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0BD662-A7FF-C9C9-6999-86013C14C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398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F851F-CE7C-88BE-73EA-0CDE7A704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48CB88-689C-E4D2-5C3E-0D28A1482E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0E26F2-E6DC-22AE-4C87-090A3D6D88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43B348-A710-FC08-F843-CE063CD10B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752BD4-5324-7291-42B9-966F179F3E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6F7EB6-4CC7-AF88-4294-4C80CD07D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11/15/2024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7D2FDE-0366-81A8-A6FF-47F323FA8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1378BB-BCFA-A40A-713D-6F17C333A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71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6EF48-51B1-FF07-09E2-BF3719463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464295-B0BF-4D8B-EDE8-A929793BF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11/15/2024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2D0D1E-FF3B-4757-955D-EF2726A9D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378B60-F6D6-9799-6E5A-73E344018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844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FFDA05-52A1-CC11-4255-2444A4BA6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11/15/2024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2F718E-9739-8B8B-2C5E-F5C13F241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7A3656-D2FC-74AD-1BC1-5DD21DB68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248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3DCCD-41D8-6BC3-2629-EC0B4FA41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1D8955-CC0C-BC6C-9CEF-F2635BC2D2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2F3A23-74F6-B486-E805-3E22CA29A6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1DA0E6-D485-2434-5C02-E9D29160E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11/15/2024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D9464A-B9E9-9B67-3728-14678C448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1AA0CC-22C3-1AE1-4D85-59A84858B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846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0A17F-13B8-11A8-E807-712E60931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E7FA0D-7E96-1C09-ADAB-8121DFB281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06107B-3F24-FC6F-50B6-52088E787E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759D21-F5D6-AA9A-4636-4A5AEFAF9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11/15/2024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B8FFF1-6585-9993-C62E-2B6645607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3C2B90-A459-1739-170C-6D3EF0446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88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E6F0B-F1E6-22D6-D85E-8A1110278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27AFEC-D9CA-1207-6034-92AC0C587E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CCEFB7-FEA6-4790-7896-AD1CDA4C6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11/15/2024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F8B41-7EF9-638E-D439-4AEE97CBD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E997E1-F6E4-607E-B5DB-AE4C2A125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461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63C756-CCAE-602F-7F7C-39887D9E78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845B95-FA35-44B1-46AD-9B2791D784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12A15E-B2B6-00CE-5D22-E09C80314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11/15/2024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0AFCFD-B2AA-59EC-34BD-FCA8880C0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23E888-F250-346C-E491-B442F17A2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295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C5632D-D4E4-26C4-6C74-BB8FA9301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45BA9F-D3E9-0377-75A7-E93F329CA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59FBA2-A094-8DC2-20E9-830C5E77A8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A59E04-BC48-4C3C-B2CF-95287A202A10}" type="datetimeFigureOut">
              <a:rPr lang="en-US" smtClean="0"/>
              <a:t>11/15/2024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6DD68C-590B-4497-6786-F427F2E271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953094-49F9-A1F0-1237-274FDD04E4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664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CFA10B9-682B-E9BA-2B44-412C9248211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" y="10"/>
            <a:ext cx="12191984" cy="685799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4FBAA9D-D6C0-923A-732F-7E7C614C948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0"/>
                  <a:lumOff val="100000"/>
                </a:schemeClr>
              </a:gs>
              <a:gs pos="35000">
                <a:schemeClr val="accent4">
                  <a:lumMod val="0"/>
                  <a:lumOff val="100000"/>
                  <a:alpha val="54000"/>
                </a:schemeClr>
              </a:gs>
              <a:gs pos="100000">
                <a:schemeClr val="accent4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ABC33A1-5A74-00F4-0438-6DDCBDFABA2B}"/>
              </a:ext>
            </a:extLst>
          </p:cNvPr>
          <p:cNvCxnSpPr>
            <a:cxnSpLocks/>
          </p:cNvCxnSpPr>
          <p:nvPr/>
        </p:nvCxnSpPr>
        <p:spPr>
          <a:xfrm rot="254895">
            <a:off x="1244259" y="1587490"/>
            <a:ext cx="1378634" cy="3101380"/>
          </a:xfrm>
          <a:prstGeom prst="line">
            <a:avLst/>
          </a:prstGeom>
          <a:ln w="76200" cap="rnd">
            <a:solidFill>
              <a:schemeClr val="bg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F8D18C9-0268-67F9-1DD1-3AACDEE20F4B}"/>
              </a:ext>
            </a:extLst>
          </p:cNvPr>
          <p:cNvCxnSpPr>
            <a:cxnSpLocks/>
          </p:cNvCxnSpPr>
          <p:nvPr/>
        </p:nvCxnSpPr>
        <p:spPr>
          <a:xfrm rot="254895" flipV="1">
            <a:off x="1414026" y="953161"/>
            <a:ext cx="1347430" cy="640621"/>
          </a:xfrm>
          <a:prstGeom prst="line">
            <a:avLst/>
          </a:prstGeom>
          <a:ln w="76200" cap="rnd">
            <a:solidFill>
              <a:schemeClr val="bg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782B582-63E5-6B5B-5CF1-B7E4CC871B9F}"/>
              </a:ext>
            </a:extLst>
          </p:cNvPr>
          <p:cNvCxnSpPr>
            <a:cxnSpLocks/>
          </p:cNvCxnSpPr>
          <p:nvPr/>
        </p:nvCxnSpPr>
        <p:spPr>
          <a:xfrm rot="254895" flipV="1">
            <a:off x="2528004" y="4145838"/>
            <a:ext cx="1347430" cy="640621"/>
          </a:xfrm>
          <a:prstGeom prst="line">
            <a:avLst/>
          </a:prstGeom>
          <a:ln w="76200" cap="rnd">
            <a:solidFill>
              <a:schemeClr val="bg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2353F08-27F8-3B21-4D28-42DA6E640FDB}"/>
              </a:ext>
            </a:extLst>
          </p:cNvPr>
          <p:cNvCxnSpPr>
            <a:cxnSpLocks/>
          </p:cNvCxnSpPr>
          <p:nvPr/>
        </p:nvCxnSpPr>
        <p:spPr>
          <a:xfrm rot="254895">
            <a:off x="2781579" y="1021138"/>
            <a:ext cx="434003" cy="871580"/>
          </a:xfrm>
          <a:prstGeom prst="line">
            <a:avLst/>
          </a:prstGeom>
          <a:ln w="76200" cap="rnd">
            <a:solidFill>
              <a:schemeClr val="bg1"/>
            </a:solidFill>
            <a:round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9DBB7DE-6EDC-3042-16EB-6F25A34FAC91}"/>
              </a:ext>
            </a:extLst>
          </p:cNvPr>
          <p:cNvCxnSpPr>
            <a:cxnSpLocks/>
          </p:cNvCxnSpPr>
          <p:nvPr/>
        </p:nvCxnSpPr>
        <p:spPr>
          <a:xfrm rot="254895">
            <a:off x="3531651" y="3347833"/>
            <a:ext cx="428346" cy="836383"/>
          </a:xfrm>
          <a:prstGeom prst="line">
            <a:avLst/>
          </a:prstGeom>
          <a:ln w="76200" cap="rnd">
            <a:solidFill>
              <a:schemeClr val="bg1"/>
            </a:solidFill>
            <a:round/>
            <a:headEnd type="oval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28B4F6AC-209D-1999-1331-6D66934B7155}"/>
              </a:ext>
            </a:extLst>
          </p:cNvPr>
          <p:cNvSpPr txBox="1"/>
          <p:nvPr/>
        </p:nvSpPr>
        <p:spPr>
          <a:xfrm>
            <a:off x="3145302" y="1610122"/>
            <a:ext cx="8474028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0" spc="600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ptos" panose="020B0004020202020204" pitchFamily="34" charset="0"/>
              </a:rPr>
              <a:t>WELCOME</a:t>
            </a:r>
          </a:p>
        </p:txBody>
      </p:sp>
      <p:sp>
        <p:nvSpPr>
          <p:cNvPr id="25" name="Arrow: Right 24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F4BBE7CF-4516-CE57-815F-A3F5897F858D}"/>
              </a:ext>
            </a:extLst>
          </p:cNvPr>
          <p:cNvSpPr/>
          <p:nvPr/>
        </p:nvSpPr>
        <p:spPr>
          <a:xfrm>
            <a:off x="10743027" y="2321170"/>
            <a:ext cx="1172308" cy="438026"/>
          </a:xfrm>
          <a:prstGeom prst="rightArrow">
            <a:avLst/>
          </a:prstGeom>
          <a:solidFill>
            <a:schemeClr val="bg1"/>
          </a:solidFill>
          <a:ln>
            <a:noFill/>
          </a:ln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88D33D6-54EE-9A1F-DDBF-96809C25A0DD}"/>
              </a:ext>
            </a:extLst>
          </p:cNvPr>
          <p:cNvSpPr txBox="1"/>
          <p:nvPr/>
        </p:nvSpPr>
        <p:spPr>
          <a:xfrm>
            <a:off x="1139483" y="6316394"/>
            <a:ext cx="96363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spc="600" dirty="0">
                <a:solidFill>
                  <a:schemeClr val="bg1"/>
                </a:solidFill>
              </a:rPr>
              <a:t>Mobile Application Development</a:t>
            </a:r>
          </a:p>
        </p:txBody>
      </p:sp>
    </p:spTree>
    <p:extLst>
      <p:ext uri="{BB962C8B-B14F-4D97-AF65-F5344CB8AC3E}">
        <p14:creationId xmlns:p14="http://schemas.microsoft.com/office/powerpoint/2010/main" val="3267340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6" presetClass="emph" presetSubtype="0" repeatCount="indefinite" fill="hold" grpId="1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35" dur="1000" tmFilter="0, 0; .2, .5; .8, .5; 1, 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" dur="500" autoRev="1" fill="hold"/>
                                        <p:tgtEl>
                                          <p:spTgt spid="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1" grpId="1"/>
      <p:bldP spid="25" grpId="0" animBg="1"/>
      <p:bldP spid="2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828062-FBAE-A7BF-4D3F-E035BA74D1FF}"/>
              </a:ext>
            </a:extLst>
          </p:cNvPr>
          <p:cNvSpPr txBox="1"/>
          <p:nvPr/>
        </p:nvSpPr>
        <p:spPr>
          <a:xfrm>
            <a:off x="304798" y="340659"/>
            <a:ext cx="118872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Calibri" panose="020F0502020204030204" pitchFamily="34" charset="0"/>
                <a:cs typeface="Calibri" panose="020F0502020204030204" pitchFamily="34" charset="0"/>
              </a:rPr>
              <a:t>Key </a:t>
            </a:r>
            <a:r>
              <a:rPr lang="en-US" sz="54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Points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2932C4-FC42-9F3C-E818-AABADDCD6A7B}"/>
              </a:ext>
            </a:extLst>
          </p:cNvPr>
          <p:cNvSpPr txBox="1"/>
          <p:nvPr/>
        </p:nvSpPr>
        <p:spPr>
          <a:xfrm>
            <a:off x="304800" y="1147482"/>
            <a:ext cx="11887200" cy="48789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Languages.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Static Application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Dynamic Application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Front End Language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Backend Language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D1B16D-65BE-B0E9-37F7-E67E17034FD0}"/>
              </a:ext>
            </a:extLst>
          </p:cNvPr>
          <p:cNvSpPr txBox="1"/>
          <p:nvPr/>
        </p:nvSpPr>
        <p:spPr>
          <a:xfrm>
            <a:off x="0" y="6203576"/>
            <a:ext cx="121919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The Superior College Mian Channu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D2C9E8A1-E1B3-C141-ACB2-CF2EC9B031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55940212"/>
              </p:ext>
            </p:extLst>
          </p:nvPr>
        </p:nvGraphicFramePr>
        <p:xfrm>
          <a:off x="10399594" y="41966"/>
          <a:ext cx="1792403" cy="1691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81362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828062-FBAE-A7BF-4D3F-E035BA74D1FF}"/>
              </a:ext>
            </a:extLst>
          </p:cNvPr>
          <p:cNvSpPr txBox="1"/>
          <p:nvPr/>
        </p:nvSpPr>
        <p:spPr>
          <a:xfrm>
            <a:off x="304798" y="340659"/>
            <a:ext cx="118872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Languages</a:t>
            </a:r>
            <a:endParaRPr lang="en-US" sz="5400" dirty="0">
              <a:solidFill>
                <a:srgbClr val="00B0F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2932C4-FC42-9F3C-E818-AABADDCD6A7B}"/>
              </a:ext>
            </a:extLst>
          </p:cNvPr>
          <p:cNvSpPr txBox="1"/>
          <p:nvPr/>
        </p:nvSpPr>
        <p:spPr>
          <a:xfrm>
            <a:off x="152399" y="1076804"/>
            <a:ext cx="11887200" cy="2943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 way of communication.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 programming language is a formal language comprising a set of instructions that produce various kind of output.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Most programming languages consists of set of instructions.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D8C8CF-6DD4-185A-C229-A11742AF0EF4}"/>
              </a:ext>
            </a:extLst>
          </p:cNvPr>
          <p:cNvSpPr/>
          <p:nvPr/>
        </p:nvSpPr>
        <p:spPr>
          <a:xfrm>
            <a:off x="10666484" y="55489"/>
            <a:ext cx="1493669" cy="1493669"/>
          </a:xfrm>
          <a:prstGeom prst="rect">
            <a:avLst/>
          </a:prstGeom>
          <a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467916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828062-FBAE-A7BF-4D3F-E035BA74D1FF}"/>
              </a:ext>
            </a:extLst>
          </p:cNvPr>
          <p:cNvSpPr txBox="1"/>
          <p:nvPr/>
        </p:nvSpPr>
        <p:spPr>
          <a:xfrm>
            <a:off x="272952" y="340658"/>
            <a:ext cx="118872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Static Applications</a:t>
            </a:r>
            <a:endParaRPr lang="en-US" sz="5400" dirty="0">
              <a:solidFill>
                <a:srgbClr val="00B0F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2932C4-FC42-9F3C-E818-AABADDCD6A7B}"/>
              </a:ext>
            </a:extLst>
          </p:cNvPr>
          <p:cNvSpPr txBox="1"/>
          <p:nvPr/>
        </p:nvSpPr>
        <p:spPr>
          <a:xfrm>
            <a:off x="152400" y="1445294"/>
            <a:ext cx="11887200" cy="4420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Static applications are not reliant on internet connection to an online server or database.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Static mobile apps are best suited for scenarios where content is simple, fixed, and doesn't require user personalization or real-time updates. They are lightweight, fast, and easy to develop, making them ideal for small informational apps, product catalogs, or reference tools.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D8C8CF-6DD4-185A-C229-A11742AF0EF4}"/>
              </a:ext>
            </a:extLst>
          </p:cNvPr>
          <p:cNvSpPr/>
          <p:nvPr/>
        </p:nvSpPr>
        <p:spPr>
          <a:xfrm>
            <a:off x="10666484" y="55489"/>
            <a:ext cx="1493669" cy="1493669"/>
          </a:xfrm>
          <a:prstGeom prst="rect">
            <a:avLst/>
          </a:prstGeom>
          <a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1597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828062-FBAE-A7BF-4D3F-E035BA74D1FF}"/>
              </a:ext>
            </a:extLst>
          </p:cNvPr>
          <p:cNvSpPr txBox="1"/>
          <p:nvPr/>
        </p:nvSpPr>
        <p:spPr>
          <a:xfrm>
            <a:off x="272952" y="340658"/>
            <a:ext cx="118872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Dynamic Applications</a:t>
            </a:r>
            <a:endParaRPr lang="en-US" sz="5400" dirty="0">
              <a:solidFill>
                <a:srgbClr val="00B0F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2932C4-FC42-9F3C-E818-AABADDCD6A7B}"/>
              </a:ext>
            </a:extLst>
          </p:cNvPr>
          <p:cNvSpPr txBox="1"/>
          <p:nvPr/>
        </p:nvSpPr>
        <p:spPr>
          <a:xfrm>
            <a:off x="152400" y="1445294"/>
            <a:ext cx="11887200" cy="44239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Dynamic applications are in some way reliant on internet connection to an online server or database.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A </a:t>
            </a:r>
            <a:r>
              <a:rPr lang="en-US" sz="2400" b="1" dirty="0"/>
              <a:t>dynamic mobile application</a:t>
            </a:r>
            <a:r>
              <a:rPr lang="en-US" sz="2400" dirty="0"/>
              <a:t> is one that relies on real-time data, user inputs, or interactions with remote servers to provide personalized, up-to-date, and interactive experiences. These apps typically offer greater flexibility and functionality compared to static apps.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D8C8CF-6DD4-185A-C229-A11742AF0EF4}"/>
              </a:ext>
            </a:extLst>
          </p:cNvPr>
          <p:cNvSpPr/>
          <p:nvPr/>
        </p:nvSpPr>
        <p:spPr>
          <a:xfrm>
            <a:off x="10666484" y="55489"/>
            <a:ext cx="1493669" cy="1493669"/>
          </a:xfrm>
          <a:prstGeom prst="rect">
            <a:avLst/>
          </a:prstGeom>
          <a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35587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828062-FBAE-A7BF-4D3F-E035BA74D1FF}"/>
              </a:ext>
            </a:extLst>
          </p:cNvPr>
          <p:cNvSpPr txBox="1"/>
          <p:nvPr/>
        </p:nvSpPr>
        <p:spPr>
          <a:xfrm>
            <a:off x="272952" y="340658"/>
            <a:ext cx="118872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Front End</a:t>
            </a:r>
            <a:endParaRPr lang="en-US" sz="5400" dirty="0">
              <a:solidFill>
                <a:srgbClr val="00B0F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2932C4-FC42-9F3C-E818-AABADDCD6A7B}"/>
              </a:ext>
            </a:extLst>
          </p:cNvPr>
          <p:cNvSpPr txBox="1"/>
          <p:nvPr/>
        </p:nvSpPr>
        <p:spPr>
          <a:xfrm>
            <a:off x="152400" y="1445294"/>
            <a:ext cx="11887200" cy="44239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In Android mobile app development, the </a:t>
            </a:r>
            <a:r>
              <a:rPr lang="en-US" sz="2400" b="1" dirty="0"/>
              <a:t>front-end</a:t>
            </a:r>
            <a:r>
              <a:rPr lang="en-US" sz="2400" dirty="0"/>
              <a:t> refers to the user interface (UI) and the components that users interact with. The front-end is responsible for how the app looks and how users interact with it. In Android, front-end development mainly involves building the </a:t>
            </a:r>
            <a:r>
              <a:rPr lang="en-US" sz="2400" b="1" dirty="0"/>
              <a:t>UI/UX</a:t>
            </a:r>
            <a:r>
              <a:rPr lang="en-US" sz="2400" dirty="0"/>
              <a:t>, handling user inputs, and displaying data retrieved from the backend. Here are the key </a:t>
            </a:r>
            <a:r>
              <a:rPr lang="en-US" sz="2400" b="1" dirty="0"/>
              <a:t>languages and tools</a:t>
            </a:r>
            <a:r>
              <a:rPr lang="en-US" sz="2400" dirty="0"/>
              <a:t> used for front-end development in Android mobile application.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D8C8CF-6DD4-185A-C229-A11742AF0EF4}"/>
              </a:ext>
            </a:extLst>
          </p:cNvPr>
          <p:cNvSpPr/>
          <p:nvPr/>
        </p:nvSpPr>
        <p:spPr>
          <a:xfrm>
            <a:off x="10666484" y="55489"/>
            <a:ext cx="1493669" cy="1493669"/>
          </a:xfrm>
          <a:prstGeom prst="rect">
            <a:avLst/>
          </a:prstGeom>
          <a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269182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828062-FBAE-A7BF-4D3F-E035BA74D1FF}"/>
              </a:ext>
            </a:extLst>
          </p:cNvPr>
          <p:cNvSpPr txBox="1"/>
          <p:nvPr/>
        </p:nvSpPr>
        <p:spPr>
          <a:xfrm>
            <a:off x="272952" y="340658"/>
            <a:ext cx="118872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Continue…….</a:t>
            </a:r>
            <a:endParaRPr lang="en-US" sz="5400" dirty="0">
              <a:solidFill>
                <a:srgbClr val="00B0F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2932C4-FC42-9F3C-E818-AABADDCD6A7B}"/>
              </a:ext>
            </a:extLst>
          </p:cNvPr>
          <p:cNvSpPr txBox="1"/>
          <p:nvPr/>
        </p:nvSpPr>
        <p:spPr>
          <a:xfrm>
            <a:off x="152400" y="1445294"/>
            <a:ext cx="118872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Java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the original language for Android development and is still widely used for building the front-end of Android apps.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It's an object-oriented programming (OOP) language that allows you to design UI components, handle user input, and manage app behavior.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XML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often used alongside Java for designing UI layouts.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Use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Creating activities, fragments, managing UI elements like buttons, text fields, images, etc.</a:t>
            </a:r>
          </a:p>
          <a:p>
            <a:r>
              <a:rPr lang="en-US" sz="2400" b="1" dirty="0"/>
              <a:t>2. XML (Extensible Markup Language)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XML</a:t>
            </a:r>
            <a:r>
              <a:rPr lang="en-US" sz="2400" dirty="0"/>
              <a:t> is used for defining </a:t>
            </a:r>
            <a:r>
              <a:rPr lang="en-US" sz="2400" b="1" dirty="0"/>
              <a:t>layouts</a:t>
            </a:r>
            <a:r>
              <a:rPr lang="en-US" sz="2400" dirty="0"/>
              <a:t> and UI components in Android apps. It’s a declarative language that allows developers to structure the UI elements (buttons, text views, images, etc.) in a hierarchy.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D8C8CF-6DD4-185A-C229-A11742AF0EF4}"/>
              </a:ext>
            </a:extLst>
          </p:cNvPr>
          <p:cNvSpPr/>
          <p:nvPr/>
        </p:nvSpPr>
        <p:spPr>
          <a:xfrm>
            <a:off x="10666484" y="55489"/>
            <a:ext cx="1493669" cy="1493669"/>
          </a:xfrm>
          <a:prstGeom prst="rect">
            <a:avLst/>
          </a:prstGeom>
          <a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195399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828062-FBAE-A7BF-4D3F-E035BA74D1FF}"/>
              </a:ext>
            </a:extLst>
          </p:cNvPr>
          <p:cNvSpPr txBox="1"/>
          <p:nvPr/>
        </p:nvSpPr>
        <p:spPr>
          <a:xfrm>
            <a:off x="304798" y="340659"/>
            <a:ext cx="118872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Back End Languages</a:t>
            </a:r>
            <a:endParaRPr lang="en-US" sz="5400" dirty="0">
              <a:solidFill>
                <a:srgbClr val="00B0F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2932C4-FC42-9F3C-E818-AABADDCD6A7B}"/>
              </a:ext>
            </a:extLst>
          </p:cNvPr>
          <p:cNvSpPr txBox="1"/>
          <p:nvPr/>
        </p:nvSpPr>
        <p:spPr>
          <a:xfrm>
            <a:off x="152399" y="1076804"/>
            <a:ext cx="11887200" cy="2943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Backend of anything is not visible to general user or administrator.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It can be a piece of code or program running on the server machine to serve the user needs.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Database is also a part of backend., 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SQlite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D8C8CF-6DD4-185A-C229-A11742AF0EF4}"/>
              </a:ext>
            </a:extLst>
          </p:cNvPr>
          <p:cNvSpPr/>
          <p:nvPr/>
        </p:nvSpPr>
        <p:spPr>
          <a:xfrm>
            <a:off x="10666484" y="55489"/>
            <a:ext cx="1493669" cy="1493669"/>
          </a:xfrm>
          <a:prstGeom prst="rect">
            <a:avLst/>
          </a:prstGeom>
          <a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000464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BF1D2F-7A5A-3BC7-080E-F90410B98799}"/>
              </a:ext>
            </a:extLst>
          </p:cNvPr>
          <p:cNvSpPr txBox="1"/>
          <p:nvPr/>
        </p:nvSpPr>
        <p:spPr>
          <a:xfrm>
            <a:off x="1037230" y="313899"/>
            <a:ext cx="10795379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3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138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lgerian" panose="04020705040A02060702" pitchFamily="82" charset="0"/>
                <a:cs typeface="Calibri" panose="020F050202020403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5450122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</TotalTime>
  <Words>444</Words>
  <Application>Microsoft Office PowerPoint</Application>
  <PresentationFormat>Widescreen</PresentationFormat>
  <Paragraphs>35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Algerian</vt:lpstr>
      <vt:lpstr>Aptos</vt:lpstr>
      <vt:lpstr>Aptos Display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Muhammad Naeem Khan</dc:creator>
  <cp:lastModifiedBy>Muhammad Naeem Khan</cp:lastModifiedBy>
  <cp:revision>9</cp:revision>
  <dcterms:created xsi:type="dcterms:W3CDTF">2024-11-04T05:04:14Z</dcterms:created>
  <dcterms:modified xsi:type="dcterms:W3CDTF">2024-11-15T02:07:26Z</dcterms:modified>
</cp:coreProperties>
</file>