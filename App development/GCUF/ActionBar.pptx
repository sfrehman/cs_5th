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4" r:id="rId1"/>
  </p:sldMasterIdLst>
  <p:notesMasterIdLst>
    <p:notesMasterId r:id="rId11"/>
  </p:notesMasterIdLst>
  <p:handoutMasterIdLst>
    <p:handoutMasterId r:id="rId12"/>
  </p:handoutMasterIdLst>
  <p:sldIdLst>
    <p:sldId id="256" r:id="rId2"/>
    <p:sldId id="258" r:id="rId3"/>
    <p:sldId id="321" r:id="rId4"/>
    <p:sldId id="335" r:id="rId5"/>
    <p:sldId id="336" r:id="rId6"/>
    <p:sldId id="337" r:id="rId7"/>
    <p:sldId id="324" r:id="rId8"/>
    <p:sldId id="338"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9" d="100"/>
          <a:sy n="69" d="100"/>
        </p:scale>
        <p:origin x="-78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F23418-877D-4E15-98EB-B18A416688F8}" type="datetimeFigureOut">
              <a:rPr lang="en-US" smtClean="0"/>
              <a:t>1/29/2025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1B3ED0-4E7F-4552-8A34-7C1339267C6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5D31-9972-44D7-A973-436B8E0F36E9}"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085B6-4FD1-4360-BB53-F417E13A6F25}" type="slidenum">
              <a:rPr lang="en-US" smtClean="0"/>
              <a:t>‹#›</a:t>
            </a:fld>
            <a:endParaRPr lang="en-US"/>
          </a:p>
        </p:txBody>
      </p:sp>
    </p:spTree>
    <p:extLst>
      <p:ext uri="{BB962C8B-B14F-4D97-AF65-F5344CB8AC3E}">
        <p14:creationId xmlns:p14="http://schemas.microsoft.com/office/powerpoint/2010/main" val="362084128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2438400" y="3159761"/>
            <a:ext cx="6096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1036320" y="1219200"/>
            <a:ext cx="100584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844800" y="3375491"/>
            <a:ext cx="82296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92A59E04-BC48-4C3C-B2CF-95287A202A10}" type="datetimeFigureOut">
              <a:rPr lang="en-US" smtClean="0"/>
              <a:t>1/29/2025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92A59E04-BC48-4C3C-B2CF-95287A202A10}" type="datetimeFigureOut">
              <a:rPr lang="en-US" smtClean="0"/>
              <a:t>1/29/2025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5689600" y="4074498"/>
            <a:ext cx="6096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6096000" y="4267368"/>
            <a:ext cx="49784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92A59E04-BC48-4C3C-B2CF-95287A202A10}" type="datetimeFigureOut">
              <a:rPr lang="en-US" smtClean="0"/>
              <a:t>1/29/2025</a:t>
            </a:fld>
            <a:endParaRPr lang="en-US"/>
          </a:p>
        </p:txBody>
      </p:sp>
      <p:sp>
        <p:nvSpPr>
          <p:cNvPr id="13" name="Slide Number Placeholder 12"/>
          <p:cNvSpPr>
            <a:spLocks noGrp="1"/>
          </p:cNvSpPr>
          <p:nvPr>
            <p:ph type="sldNum" sz="quarter" idx="11"/>
          </p:nvPr>
        </p:nvSpPr>
        <p:spPr/>
        <p:txBody>
          <a:bodyPr/>
          <a:lstStyle/>
          <a:p>
            <a:fld id="{8CF08CA4-D9C5-4472-8FBF-7DFA91021E4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3048000" y="1905000"/>
            <a:ext cx="804672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2A59E04-BC48-4C3C-B2CF-95287A202A10}" type="datetimeFigureOut">
              <a:rPr lang="en-US" smtClean="0"/>
              <a:t>1/29/2025</a:t>
            </a:fld>
            <a:endParaRPr lang="en-US"/>
          </a:p>
        </p:txBody>
      </p:sp>
      <p:sp>
        <p:nvSpPr>
          <p:cNvPr id="9" name="Slide Number Placeholder 8"/>
          <p:cNvSpPr>
            <a:spLocks noGrp="1"/>
          </p:cNvSpPr>
          <p:nvPr>
            <p:ph type="sldNum" sz="quarter" idx="11"/>
          </p:nvPr>
        </p:nvSpPr>
        <p:spPr/>
        <p:txBody>
          <a:bodyPr/>
          <a:lstStyle/>
          <a:p>
            <a:fld id="{8CF08CA4-D9C5-4472-8FBF-7DFA91021E4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792224" y="658368"/>
            <a:ext cx="4364736"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6705600" y="658369"/>
            <a:ext cx="4364736"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816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792224" y="1371600"/>
            <a:ext cx="43688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0560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705600" y="1371600"/>
            <a:ext cx="4364736"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408853"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6373707"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92A59E04-BC48-4C3C-B2CF-95287A202A10}" type="datetimeFigureOut">
              <a:rPr lang="en-US" smtClean="0"/>
              <a:t>1/29/2025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92A59E04-BC48-4C3C-B2CF-95287A202A10}" type="datetimeFigureOut">
              <a:rPr lang="en-US" smtClean="0"/>
              <a:t>1/29/2025</a:t>
            </a:fld>
            <a:endParaRPr lang="en-US"/>
          </a:p>
        </p:txBody>
      </p:sp>
      <p:sp>
        <p:nvSpPr>
          <p:cNvPr id="8" name="Slide Number Placeholder 7"/>
          <p:cNvSpPr>
            <a:spLocks noGrp="1"/>
          </p:cNvSpPr>
          <p:nvPr>
            <p:ph type="sldNum" sz="quarter" idx="11"/>
          </p:nvPr>
        </p:nvSpPr>
        <p:spPr/>
        <p:txBody>
          <a:bodyPr/>
          <a:lstStyle/>
          <a:p>
            <a:fld id="{8CF08CA4-D9C5-4472-8FBF-7DFA91021E4F}"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2A59E04-BC48-4C3C-B2CF-95287A202A10}" type="datetimeFigureOut">
              <a:rPr lang="en-US" smtClean="0"/>
              <a:t>1/29/2025</a:t>
            </a:fld>
            <a:endParaRPr lang="en-US"/>
          </a:p>
        </p:txBody>
      </p:sp>
      <p:sp>
        <p:nvSpPr>
          <p:cNvPr id="6" name="Slide Number Placeholder 5"/>
          <p:cNvSpPr>
            <a:spLocks noGrp="1"/>
          </p:cNvSpPr>
          <p:nvPr>
            <p:ph type="sldNum" sz="quarter" idx="11"/>
          </p:nvPr>
        </p:nvSpPr>
        <p:spPr/>
        <p:txBody>
          <a:bodyPr/>
          <a:lstStyle/>
          <a:p>
            <a:fld id="{8CF08CA4-D9C5-4472-8FBF-7DFA91021E4F}"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7105227" y="1774588"/>
            <a:ext cx="6096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117600" y="685801"/>
            <a:ext cx="57912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0" y="685801"/>
            <a:ext cx="34544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92A59E04-BC48-4C3C-B2CF-95287A202A10}" type="datetimeFigureOut">
              <a:rPr lang="en-US" smtClean="0"/>
              <a:t>1/29/2025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5600" y="612776"/>
            <a:ext cx="89408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3657600" y="3453047"/>
            <a:ext cx="67056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3247136" y="3331464"/>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92A59E04-BC48-4C3C-B2CF-95287A202A10}" type="datetimeFigureOut">
              <a:rPr lang="en-US" smtClean="0"/>
              <a:t>1/29/2025</a:t>
            </a:fld>
            <a:endParaRPr lang="en-US"/>
          </a:p>
        </p:txBody>
      </p:sp>
      <p:sp>
        <p:nvSpPr>
          <p:cNvPr id="14" name="Slide Number Placeholder 13"/>
          <p:cNvSpPr>
            <a:spLocks noGrp="1"/>
          </p:cNvSpPr>
          <p:nvPr>
            <p:ph type="sldNum" sz="quarter" idx="11"/>
          </p:nvPr>
        </p:nvSpPr>
        <p:spPr/>
        <p:txBody>
          <a:bodyPr/>
          <a:lstStyle/>
          <a:p>
            <a:fld id="{8CF08CA4-D9C5-4472-8FBF-7DFA91021E4F}"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44800" y="685802"/>
            <a:ext cx="77216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2800" y="609601"/>
            <a:ext cx="28448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0800" y="685801"/>
            <a:ext cx="67056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A59E04-BC48-4C3C-B2CF-95287A202A10}"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830961" y="1038441"/>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557464" y="419133"/>
            <a:ext cx="5538472" cy="5973945"/>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4370607" y="116855"/>
            <a:ext cx="8639149"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36320" y="4876800"/>
            <a:ext cx="100584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844800" y="685802"/>
            <a:ext cx="8128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00" y="6154739"/>
            <a:ext cx="28448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92A59E04-BC48-4C3C-B2CF-95287A202A10}" type="datetimeFigureOut">
              <a:rPr lang="en-US" smtClean="0"/>
              <a:t>1/29/2025</a:t>
            </a:fld>
            <a:endParaRPr lang="en-US"/>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8CF08CA4-D9C5-4472-8FBF-7DFA91021E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kotlin-android-tutorial/" TargetMode="External"/><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hyperlink" Target="https://www.geeksforgeeks.org/activity-lifecycle-in-android-with-demo-app/"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7" y="10"/>
            <a:ext cx="12191984" cy="6857991"/>
          </a:xfrm>
          <a:prstGeom prst="rect">
            <a:avLst/>
          </a:prstGeom>
        </p:spPr>
      </p:pic>
      <p:sp>
        <p:nvSpPr>
          <p:cNvPr id="6" name="Rectangle 5"/>
          <p:cNvSpPr/>
          <p:nvPr/>
        </p:nvSpPr>
        <p:spPr>
          <a:xfrm>
            <a:off x="0" y="0"/>
            <a:ext cx="12192000" cy="6858000"/>
          </a:xfrm>
          <a:prstGeom prst="rect">
            <a:avLst/>
          </a:prstGeom>
          <a:gradFill flip="none" rotWithShape="1">
            <a:gsLst>
              <a:gs pos="0">
                <a:schemeClr val="accent4">
                  <a:lumMod val="0"/>
                  <a:lumOff val="100000"/>
                </a:schemeClr>
              </a:gs>
              <a:gs pos="35000">
                <a:schemeClr val="accent4">
                  <a:lumMod val="0"/>
                  <a:lumOff val="100000"/>
                  <a:alpha val="54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rot="254895">
            <a:off x="1244259" y="1587490"/>
            <a:ext cx="1378634" cy="3101380"/>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254895" flipV="1">
            <a:off x="1414026" y="953161"/>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254895" flipV="1">
            <a:off x="2528004" y="4145838"/>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254895">
            <a:off x="2781579" y="1021138"/>
            <a:ext cx="434003" cy="871580"/>
          </a:xfrm>
          <a:prstGeom prst="line">
            <a:avLst/>
          </a:prstGeom>
          <a:ln w="76200" cap="rnd">
            <a:solidFill>
              <a:schemeClr val="bg1"/>
            </a:solidFill>
            <a:round/>
            <a:tail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254895">
            <a:off x="3531651" y="3347833"/>
            <a:ext cx="428346" cy="836383"/>
          </a:xfrm>
          <a:prstGeom prst="line">
            <a:avLst/>
          </a:prstGeom>
          <a:ln w="76200" cap="rnd">
            <a:solidFill>
              <a:schemeClr val="bg1"/>
            </a:solidFill>
            <a:round/>
            <a:headEnd type="oval"/>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45302" y="1610122"/>
            <a:ext cx="8474028" cy="1862048"/>
          </a:xfrm>
          <a:prstGeom prst="rect">
            <a:avLst/>
          </a:prstGeom>
          <a:noFill/>
        </p:spPr>
        <p:txBody>
          <a:bodyPr wrap="square" rtlCol="0">
            <a:spAutoFit/>
          </a:bodyPr>
          <a:lstStyle/>
          <a:p>
            <a:r>
              <a:rPr lang="en-US" sz="11500" spc="600" dirty="0">
                <a:solidFill>
                  <a:schemeClr val="bg1"/>
                </a:solidFill>
                <a:effectLst>
                  <a:outerShdw blurRad="50800" dist="38100" dir="5400000" algn="t" rotWithShape="0">
                    <a:prstClr val="black">
                      <a:alpha val="40000"/>
                    </a:prstClr>
                  </a:outerShdw>
                </a:effectLst>
                <a:latin typeface="Aptos" panose="020B0004020202020204" pitchFamily="34" charset="0"/>
              </a:rPr>
              <a:t>WELCOME</a:t>
            </a:r>
          </a:p>
        </p:txBody>
      </p:sp>
      <p:sp>
        <p:nvSpPr>
          <p:cNvPr id="25" name="Arrow: Right 24">
            <a:hlinkClick r:id="" action="ppaction://hlinkshowjump?jump=nextslide"/>
          </p:cNvPr>
          <p:cNvSpPr/>
          <p:nvPr/>
        </p:nvSpPr>
        <p:spPr>
          <a:xfrm>
            <a:off x="10743027" y="2321170"/>
            <a:ext cx="1172308" cy="438026"/>
          </a:xfrm>
          <a:prstGeom prst="rightArrow">
            <a:avLst/>
          </a:prstGeom>
          <a:solidFill>
            <a:schemeClr val="bg1"/>
          </a:solidFill>
          <a:ln>
            <a:no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131280" y="5767141"/>
            <a:ext cx="9636369" cy="920252"/>
          </a:xfrm>
          <a:prstGeom prst="rect">
            <a:avLst/>
          </a:prstGeom>
          <a:noFill/>
        </p:spPr>
        <p:txBody>
          <a:bodyPr wrap="square" rtlCol="0">
            <a:spAutoFit/>
          </a:bodyPr>
          <a:lstStyle/>
          <a:p>
            <a:pPr indent="0" algn="ctr">
              <a:lnSpc>
                <a:spcPct val="150000"/>
              </a:lnSpc>
              <a:buFont typeface="Arial" panose="020B0604020202020204" pitchFamily="34" charset="0"/>
              <a:buNone/>
            </a:pPr>
            <a:r>
              <a:rPr lang="en-US" sz="4000" dirty="0">
                <a:solidFill>
                  <a:schemeClr val="bg1"/>
                </a:solidFill>
                <a:latin typeface="Calibri" panose="020F0502020204030204" pitchFamily="34" charset="0"/>
                <a:cs typeface="Calibri" panose="020F0502020204030204" pitchFamily="34" charset="0"/>
              </a:rPr>
              <a:t>Mobile And Application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7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7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7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75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1000"/>
                                        <p:tgtEl>
                                          <p:spTgt spid="21"/>
                                        </p:tgtEl>
                                      </p:cBhvr>
                                    </p:animEffect>
                                  </p:childTnLst>
                                </p:cTn>
                              </p:par>
                            </p:childTnLst>
                          </p:cTn>
                        </p:par>
                        <p:par>
                          <p:cTn id="33" fill="hold">
                            <p:stCondLst>
                              <p:cond delay="1000"/>
                            </p:stCondLst>
                            <p:childTnLst>
                              <p:par>
                                <p:cTn id="34" presetID="26" presetClass="emph" presetSubtype="0" repeatCount="indefinite" fill="hold" grpId="1" nodeType="afterEffect">
                                  <p:stCondLst>
                                    <p:cond delay="0"/>
                                  </p:stCondLst>
                                  <p:endCondLst>
                                    <p:cond evt="onNext" delay="0">
                                      <p:tgtEl>
                                        <p:sldTgt/>
                                      </p:tgtEl>
                                    </p:cond>
                                  </p:endCondLst>
                                  <p:childTnLst>
                                    <p:animEffect transition="out" filter="fade">
                                      <p:cBhvr>
                                        <p:cTn id="35" dur="1000" tmFilter="0, 0; .2, .5; .8, .5; 1, 0"/>
                                        <p:tgtEl>
                                          <p:spTgt spid="21"/>
                                        </p:tgtEl>
                                      </p:cBhvr>
                                    </p:animEffect>
                                    <p:animScale>
                                      <p:cBhvr>
                                        <p:cTn id="36" dur="500" autoRev="1" fill="hold"/>
                                        <p:tgtEl>
                                          <p:spTgt spid="21"/>
                                        </p:tgtEl>
                                      </p:cBhvr>
                                      <p:by x="105000" y="105000"/>
                                    </p:animScale>
                                  </p:childTnLst>
                                </p:cTn>
                              </p:par>
                            </p:childTnLst>
                          </p:cTn>
                        </p:par>
                        <p:par>
                          <p:cTn id="37" fill="hold">
                            <p:stCondLst>
                              <p:cond delay="2000"/>
                            </p:stCondLst>
                            <p:childTnLst>
                              <p:par>
                                <p:cTn id="38" presetID="2" presetClass="entr" presetSubtype="4"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5"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753" y="1757038"/>
            <a:ext cx="11887200" cy="2585323"/>
          </a:xfrm>
          <a:prstGeom prst="rect">
            <a:avLst/>
          </a:prstGeom>
          <a:solidFill>
            <a:schemeClr val="bg1">
              <a:lumMod val="95000"/>
              <a:lumOff val="5000"/>
            </a:schemeClr>
          </a:solidFill>
        </p:spPr>
        <p:txBody>
          <a:bodyPr wrap="square" rtlCol="0">
            <a:spAutoFit/>
          </a:bodyPr>
          <a:lstStyle/>
          <a:p>
            <a:pPr algn="ctr" fontAlgn="base"/>
            <a:r>
              <a:rPr lang="en-US" sz="5400" b="1" dirty="0" err="1"/>
              <a:t>ActionBar</a:t>
            </a:r>
            <a:r>
              <a:rPr lang="en-US" sz="5400" b="1" dirty="0"/>
              <a:t> in </a:t>
            </a:r>
            <a:r>
              <a:rPr lang="en-US" sz="5400" b="1" dirty="0" smtClean="0"/>
              <a:t>Android</a:t>
            </a:r>
            <a:endParaRPr lang="en-US" sz="5400" b="1" dirty="0"/>
          </a:p>
          <a:p>
            <a:r>
              <a:rPr lang="en-US" sz="5400" dirty="0"/>
              <a:t/>
            </a:r>
            <a:br>
              <a:rPr lang="en-US" sz="5400" dirty="0"/>
            </a:br>
            <a:endParaRPr lang="en-US" sz="5400" dirty="0">
              <a:latin typeface="Calibri" panose="020F0502020204030204" pitchFamily="34" charset="0"/>
              <a:cs typeface="Calibri" panose="020F0502020204030204" pitchFamily="34" charset="0"/>
            </a:endParaRPr>
          </a:p>
        </p:txBody>
      </p:sp>
      <p:sp>
        <p:nvSpPr>
          <p:cNvPr id="3" name="TextBox 2"/>
          <p:cNvSpPr txBox="1"/>
          <p:nvPr/>
        </p:nvSpPr>
        <p:spPr>
          <a:xfrm>
            <a:off x="196753" y="2707969"/>
            <a:ext cx="11887200" cy="2308324"/>
          </a:xfrm>
          <a:prstGeom prst="rect">
            <a:avLst/>
          </a:prstGeom>
          <a:solidFill>
            <a:schemeClr val="accent2"/>
          </a:solidFill>
        </p:spPr>
        <p:txBody>
          <a:bodyPr wrap="square" rtlCol="0">
            <a:spAutoFit/>
          </a:bodyPr>
          <a:lstStyle/>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Mobile And Application Development</a:t>
            </a:r>
          </a:p>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Practical</a:t>
            </a:r>
            <a:r>
              <a:rPr lang="en-US" sz="3200" dirty="0">
                <a:latin typeface="Calibri" panose="020F0502020204030204" pitchFamily="34" charset="0"/>
                <a:cs typeface="Calibri" panose="020F0502020204030204" pitchFamily="34" charset="0"/>
              </a:rPr>
              <a:t> </a:t>
            </a:r>
            <a:endParaRPr lang="en-US" sz="3200" dirty="0" smtClean="0">
              <a:latin typeface="Calibri" panose="020F0502020204030204" pitchFamily="34" charset="0"/>
              <a:cs typeface="Calibri" panose="020F0502020204030204" pitchFamily="34" charset="0"/>
            </a:endParaRPr>
          </a:p>
          <a:p>
            <a:pPr indent="0" algn="ctr">
              <a:lnSpc>
                <a:spcPct val="150000"/>
              </a:lnSpc>
              <a:buFont typeface="Arial" panose="020B0604020202020204" pitchFamily="34" charset="0"/>
              <a:buNone/>
            </a:pPr>
            <a:endParaRPr lang="en-US" sz="3200"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71667"/>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Flowchart: Alternate Process 5"/>
          <p:cNvSpPr/>
          <p:nvPr/>
        </p:nvSpPr>
        <p:spPr>
          <a:xfrm>
            <a:off x="1674254" y="5151549"/>
            <a:ext cx="8474298" cy="1197736"/>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3200" b="1" i="1" cap="all" dirty="0" smtClean="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Instructor: Muhammad Naeem Khan</a:t>
            </a:r>
            <a:endParaRPr lang="en-US" sz="3200" b="1" i="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circle(in)">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err="1">
                <a:latin typeface="Arial" panose="020B0604020202020204" pitchFamily="34" charset="0"/>
                <a:cs typeface="Arial" panose="020B0604020202020204" pitchFamily="34" charset="0"/>
              </a:rPr>
              <a:t>ActionBar</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5909310"/>
          </a:xfrm>
          <a:prstGeom prst="rect">
            <a:avLst/>
          </a:prstGeom>
          <a:noFill/>
        </p:spPr>
        <p:txBody>
          <a:bodyPr wrap="square" rtlCol="0">
            <a:spAutoFit/>
          </a:bodyPr>
          <a:lstStyle/>
          <a:p>
            <a:pPr marL="457200" indent="-457200">
              <a:lnSpc>
                <a:spcPct val="150000"/>
              </a:lnSpc>
              <a:buFont typeface="+mj-lt"/>
              <a:buAutoNum type="arabicPeriod"/>
            </a:pPr>
            <a:r>
              <a:rPr lang="en-US" sz="2000" dirty="0">
                <a:latin typeface="Arial" panose="020B0604020202020204" pitchFamily="34" charset="0"/>
                <a:cs typeface="Arial" panose="020B0604020202020204" pitchFamily="34" charset="0"/>
              </a:rPr>
              <a:t>In </a:t>
            </a:r>
            <a:r>
              <a:rPr lang="en-US" sz="2000" u="sng" dirty="0">
                <a:latin typeface="Arial" panose="020B0604020202020204" pitchFamily="34" charset="0"/>
                <a:cs typeface="Arial" panose="020B0604020202020204" pitchFamily="34" charset="0"/>
                <a:hlinkClick r:id="rId3"/>
              </a:rPr>
              <a:t>Android</a:t>
            </a:r>
            <a:r>
              <a:rPr lang="en-US" sz="2000" dirty="0">
                <a:latin typeface="Arial" panose="020B0604020202020204" pitchFamily="34" charset="0"/>
                <a:cs typeface="Arial" panose="020B0604020202020204" pitchFamily="34" charset="0"/>
              </a:rPr>
              <a:t> applications, </a:t>
            </a:r>
            <a:r>
              <a:rPr lang="en-US" sz="2000" b="1" dirty="0" err="1">
                <a:latin typeface="Arial" panose="020B0604020202020204" pitchFamily="34" charset="0"/>
                <a:cs typeface="Arial" panose="020B0604020202020204" pitchFamily="34" charset="0"/>
              </a:rPr>
              <a:t>ActionBar</a:t>
            </a:r>
            <a:r>
              <a:rPr lang="en-US" sz="2000" dirty="0">
                <a:latin typeface="Arial" panose="020B0604020202020204" pitchFamily="34" charset="0"/>
                <a:cs typeface="Arial" panose="020B0604020202020204" pitchFamily="34" charset="0"/>
              </a:rPr>
              <a:t> is the element present at the top of the </a:t>
            </a:r>
            <a:r>
              <a:rPr lang="en-US" sz="2000" u="sng" dirty="0">
                <a:latin typeface="Arial" panose="020B0604020202020204" pitchFamily="34" charset="0"/>
                <a:cs typeface="Arial" panose="020B0604020202020204" pitchFamily="34" charset="0"/>
                <a:hlinkClick r:id="rId4"/>
              </a:rPr>
              <a:t>activity</a:t>
            </a:r>
            <a:r>
              <a:rPr lang="en-US" sz="2000" dirty="0">
                <a:latin typeface="Arial" panose="020B0604020202020204" pitchFamily="34" charset="0"/>
                <a:cs typeface="Arial" panose="020B0604020202020204" pitchFamily="34" charset="0"/>
              </a:rPr>
              <a:t> screen. It is a salient feature of a mobile application </a:t>
            </a:r>
            <a:r>
              <a:rPr lang="en-US" sz="2000" dirty="0" smtClean="0">
                <a:latin typeface="Arial" panose="020B0604020202020204" pitchFamily="34" charset="0"/>
                <a:cs typeface="Arial" panose="020B0604020202020204" pitchFamily="34" charset="0"/>
              </a:rPr>
              <a:t>that has </a:t>
            </a:r>
            <a:r>
              <a:rPr lang="en-US" sz="2000" dirty="0">
                <a:latin typeface="Arial" panose="020B0604020202020204" pitchFamily="34" charset="0"/>
                <a:cs typeface="Arial" panose="020B0604020202020204" pitchFamily="34" charset="0"/>
              </a:rPr>
              <a:t>a consistent presence over all its activities. It provides a </a:t>
            </a:r>
            <a:r>
              <a:rPr lang="en-US" sz="2000" dirty="0" smtClean="0">
                <a:latin typeface="Arial" panose="020B0604020202020204" pitchFamily="34" charset="0"/>
                <a:cs typeface="Arial" panose="020B0604020202020204" pitchFamily="34" charset="0"/>
              </a:rPr>
              <a:t>visual structure </a:t>
            </a:r>
            <a:r>
              <a:rPr lang="en-US" sz="2000" dirty="0">
                <a:latin typeface="Arial" panose="020B0604020202020204" pitchFamily="34" charset="0"/>
                <a:cs typeface="Arial" panose="020B0604020202020204" pitchFamily="34" charset="0"/>
              </a:rPr>
              <a:t>to the app and contains some of the frequently used elements for the users. Android </a:t>
            </a:r>
            <a:r>
              <a:rPr lang="en-US" sz="2000" dirty="0" err="1">
                <a:latin typeface="Arial" panose="020B0604020202020204" pitchFamily="34" charset="0"/>
                <a:cs typeface="Arial" panose="020B0604020202020204" pitchFamily="34" charset="0"/>
              </a:rPr>
              <a:t>ActionBar</a:t>
            </a:r>
            <a:r>
              <a:rPr lang="en-US" sz="2000" dirty="0">
                <a:latin typeface="Arial" panose="020B0604020202020204" pitchFamily="34" charset="0"/>
                <a:cs typeface="Arial" panose="020B0604020202020204" pitchFamily="34" charset="0"/>
              </a:rPr>
              <a:t> was launched by </a:t>
            </a:r>
            <a:r>
              <a:rPr lang="en-US" sz="2000" b="1" dirty="0">
                <a:latin typeface="Arial" panose="020B0604020202020204" pitchFamily="34" charset="0"/>
                <a:cs typeface="Arial" panose="020B0604020202020204" pitchFamily="34" charset="0"/>
              </a:rPr>
              <a:t>Google in 2013</a:t>
            </a:r>
            <a:r>
              <a:rPr lang="en-US" sz="2000" dirty="0">
                <a:latin typeface="Arial" panose="020B0604020202020204" pitchFamily="34" charset="0"/>
                <a:cs typeface="Arial" panose="020B0604020202020204" pitchFamily="34" charset="0"/>
              </a:rPr>
              <a:t> with the release of </a:t>
            </a:r>
            <a:r>
              <a:rPr lang="en-US" sz="2000" b="1" dirty="0">
                <a:latin typeface="Arial" panose="020B0604020202020204" pitchFamily="34" charset="0"/>
                <a:cs typeface="Arial" panose="020B0604020202020204" pitchFamily="34" charset="0"/>
              </a:rPr>
              <a:t>Android 3.0(API 11)</a:t>
            </a:r>
            <a:r>
              <a:rPr lang="en-US" sz="2000" dirty="0">
                <a:latin typeface="Arial" panose="020B0604020202020204" pitchFamily="34" charset="0"/>
                <a:cs typeface="Arial" panose="020B0604020202020204" pitchFamily="34" charset="0"/>
              </a:rPr>
              <a:t>. Before that, the name of this top most visual element was </a:t>
            </a:r>
            <a:r>
              <a:rPr lang="en-US" sz="2000" b="1" dirty="0" err="1">
                <a:latin typeface="Arial" panose="020B0604020202020204" pitchFamily="34" charset="0"/>
                <a:cs typeface="Arial" panose="020B0604020202020204" pitchFamily="34" charset="0"/>
              </a:rPr>
              <a:t>AppBar</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AppBar</a:t>
            </a:r>
            <a:r>
              <a:rPr lang="en-US" sz="2000" dirty="0">
                <a:latin typeface="Arial" panose="020B0604020202020204" pitchFamily="34" charset="0"/>
                <a:cs typeface="Arial" panose="020B0604020202020204" pitchFamily="34" charset="0"/>
              </a:rPr>
              <a:t> contains only the name of the application or current activity. It was not very much useful for the users and developers also have negligible option to customize it. </a:t>
            </a:r>
            <a:endParaRPr lang="en-US" sz="2000" dirty="0" smtClean="0">
              <a:latin typeface="Arial" panose="020B0604020202020204" pitchFamily="34" charset="0"/>
              <a:cs typeface="Arial" panose="020B0604020202020204" pitchFamily="34" charset="0"/>
            </a:endParaRPr>
          </a:p>
          <a:p>
            <a:pPr fontAlgn="base"/>
            <a:r>
              <a:rPr lang="en-US" sz="2000" dirty="0">
                <a:latin typeface="Arial" panose="020B0604020202020204" pitchFamily="34" charset="0"/>
                <a:cs typeface="Arial" panose="020B0604020202020204" pitchFamily="34" charset="0"/>
              </a:rPr>
              <a:t>Components included in the </a:t>
            </a:r>
            <a:r>
              <a:rPr lang="en-US" sz="2000" dirty="0" err="1">
                <a:latin typeface="Arial" panose="020B0604020202020204" pitchFamily="34" charset="0"/>
                <a:cs typeface="Arial" panose="020B0604020202020204" pitchFamily="34" charset="0"/>
              </a:rPr>
              <a:t>ActionBar</a:t>
            </a:r>
            <a:r>
              <a:rPr lang="en-US" sz="2000" dirty="0">
                <a:latin typeface="Arial" panose="020B0604020202020204" pitchFamily="34" charset="0"/>
                <a:cs typeface="Arial" panose="020B0604020202020204" pitchFamily="34" charset="0"/>
              </a:rPr>
              <a:t> are:</a:t>
            </a:r>
          </a:p>
          <a:p>
            <a:pPr fontAlgn="base"/>
            <a:r>
              <a:rPr lang="en-US" sz="2000" b="1" dirty="0">
                <a:latin typeface="Arial" panose="020B0604020202020204" pitchFamily="34" charset="0"/>
                <a:cs typeface="Arial" panose="020B0604020202020204" pitchFamily="34" charset="0"/>
              </a:rPr>
              <a:t>App Icon: </a:t>
            </a:r>
            <a:r>
              <a:rPr lang="en-US" sz="2000" dirty="0">
                <a:latin typeface="Arial" panose="020B0604020202020204" pitchFamily="34" charset="0"/>
                <a:cs typeface="Arial" panose="020B0604020202020204" pitchFamily="34" charset="0"/>
              </a:rPr>
              <a:t>Display the branding logo/icon of the application.</a:t>
            </a:r>
          </a:p>
          <a:p>
            <a:pPr fontAlgn="base"/>
            <a:r>
              <a:rPr lang="en-US" sz="2000" b="1" dirty="0">
                <a:latin typeface="Arial" panose="020B0604020202020204" pitchFamily="34" charset="0"/>
                <a:cs typeface="Arial" panose="020B0604020202020204" pitchFamily="34" charset="0"/>
              </a:rPr>
              <a:t>View Controls: </a:t>
            </a:r>
            <a:r>
              <a:rPr lang="en-US" sz="2000" dirty="0">
                <a:latin typeface="Arial" panose="020B0604020202020204" pitchFamily="34" charset="0"/>
                <a:cs typeface="Arial" panose="020B0604020202020204" pitchFamily="34" charset="0"/>
              </a:rPr>
              <a:t>Section that displays the name of the application or current activity. Developers can also include spinner or tabbed navigation for switching between views.</a:t>
            </a:r>
          </a:p>
          <a:p>
            <a:pPr fontAlgn="base"/>
            <a:r>
              <a:rPr lang="en-US" sz="2000" b="1" dirty="0">
                <a:latin typeface="Arial" panose="020B0604020202020204" pitchFamily="34" charset="0"/>
                <a:cs typeface="Arial" panose="020B0604020202020204" pitchFamily="34" charset="0"/>
              </a:rPr>
              <a:t>Action Button: </a:t>
            </a:r>
            <a:r>
              <a:rPr lang="en-US" sz="2000" dirty="0">
                <a:latin typeface="Arial" panose="020B0604020202020204" pitchFamily="34" charset="0"/>
                <a:cs typeface="Arial" panose="020B0604020202020204" pitchFamily="34" charset="0"/>
              </a:rPr>
              <a:t>Contains some important actions/elements of the app that may be required to the users frequently.</a:t>
            </a:r>
          </a:p>
          <a:p>
            <a:pPr fontAlgn="base"/>
            <a:r>
              <a:rPr lang="en-US" sz="2000" b="1" dirty="0">
                <a:latin typeface="Arial" panose="020B0604020202020204" pitchFamily="34" charset="0"/>
                <a:cs typeface="Arial" panose="020B0604020202020204" pitchFamily="34" charset="0"/>
              </a:rPr>
              <a:t>Action Overflow: </a:t>
            </a:r>
            <a:r>
              <a:rPr lang="en-US" sz="2000" dirty="0">
                <a:latin typeface="Arial" panose="020B0604020202020204" pitchFamily="34" charset="0"/>
                <a:cs typeface="Arial" panose="020B0604020202020204" pitchFamily="34" charset="0"/>
              </a:rPr>
              <a:t>Include other actions that will be displayed as a menu.</a:t>
            </a:r>
          </a:p>
          <a:p>
            <a:pPr marL="457200" indent="-457200">
              <a:lnSpc>
                <a:spcPct val="150000"/>
              </a:lnSpc>
              <a:buFont typeface="+mj-lt"/>
              <a:buAutoNum type="arabicPeriod"/>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8553323"/>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Designing a Custom </a:t>
            </a:r>
            <a:r>
              <a:rPr lang="en-US" sz="3600" b="1" dirty="0" err="1" smtClean="0">
                <a:latin typeface="Arial" panose="020B0604020202020204" pitchFamily="34" charset="0"/>
                <a:cs typeface="Arial" panose="020B0604020202020204" pitchFamily="34" charset="0"/>
              </a:rPr>
              <a:t>ActionBar</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5693866"/>
          </a:xfrm>
          <a:prstGeom prst="rect">
            <a:avLst/>
          </a:prstGeom>
          <a:noFill/>
        </p:spPr>
        <p:txBody>
          <a:bodyPr wrap="square" rtlCol="0">
            <a:spAutoFit/>
          </a:bodyPr>
          <a:lstStyle/>
          <a:p>
            <a:pPr fontAlgn="base"/>
            <a:r>
              <a:rPr lang="en-US" sz="2800" b="1" dirty="0"/>
              <a:t>Step 1: Default </a:t>
            </a:r>
            <a:r>
              <a:rPr lang="en-US" sz="2800" b="1" dirty="0" err="1"/>
              <a:t>ActionBar</a:t>
            </a:r>
            <a:endParaRPr lang="en-US" sz="2800" dirty="0"/>
          </a:p>
          <a:p>
            <a:pPr fontAlgn="base"/>
            <a:r>
              <a:rPr lang="en-US" sz="2400" dirty="0" smtClean="0"/>
              <a:t>As </a:t>
            </a:r>
            <a:r>
              <a:rPr lang="en-US" sz="2400" dirty="0"/>
              <a:t>mentioned earlier, every android app contains an </a:t>
            </a:r>
            <a:r>
              <a:rPr lang="en-US" sz="2400" dirty="0" err="1"/>
              <a:t>ActionBar</a:t>
            </a:r>
            <a:r>
              <a:rPr lang="en-US" sz="2400" dirty="0"/>
              <a:t> by default. This pre-included </a:t>
            </a:r>
            <a:r>
              <a:rPr lang="en-US" sz="2400" dirty="0" err="1"/>
              <a:t>ActionBar</a:t>
            </a:r>
            <a:r>
              <a:rPr lang="en-US" sz="2400" dirty="0"/>
              <a:t> display title for the current activity that is managed by the </a:t>
            </a:r>
            <a:r>
              <a:rPr lang="en-US" sz="2400" b="1" dirty="0"/>
              <a:t>AncdroidManifest.xml</a:t>
            </a:r>
            <a:r>
              <a:rPr lang="en-US" sz="2400" dirty="0"/>
              <a:t> file. The string value of the application’s title is provided by </a:t>
            </a:r>
            <a:r>
              <a:rPr lang="en-US" sz="2400" b="1" dirty="0"/>
              <a:t>@string/</a:t>
            </a:r>
            <a:r>
              <a:rPr lang="en-US" sz="2400" b="1" dirty="0" err="1"/>
              <a:t>app_name</a:t>
            </a:r>
            <a:r>
              <a:rPr lang="en-US" sz="2400" dirty="0"/>
              <a:t> resource present under the </a:t>
            </a:r>
            <a:r>
              <a:rPr lang="en-US" sz="2400" b="1" dirty="0"/>
              <a:t>application nodes</a:t>
            </a:r>
            <a:r>
              <a:rPr lang="en-US" sz="2400" dirty="0" smtClean="0"/>
              <a:t>.</a:t>
            </a:r>
            <a:r>
              <a:rPr lang="en-US" sz="2400" i="1" dirty="0"/>
              <a:t/>
            </a:r>
            <a:br>
              <a:rPr lang="en-US" sz="2400" i="1" dirty="0"/>
            </a:br>
            <a:r>
              <a:rPr lang="en-US" sz="2400" i="1" dirty="0"/>
              <a:t>&lt;application</a:t>
            </a:r>
          </a:p>
          <a:p>
            <a:pPr fontAlgn="base"/>
            <a:r>
              <a:rPr lang="en-US" sz="2400" i="1" dirty="0"/>
              <a:t>       …..</a:t>
            </a:r>
          </a:p>
          <a:p>
            <a:pPr fontAlgn="base"/>
            <a:r>
              <a:rPr lang="en-US" sz="2400" i="1" dirty="0"/>
              <a:t>      …..</a:t>
            </a:r>
          </a:p>
          <a:p>
            <a:pPr fontAlgn="base"/>
            <a:r>
              <a:rPr lang="en-US" sz="2400" i="1" dirty="0"/>
              <a:t>       </a:t>
            </a:r>
            <a:r>
              <a:rPr lang="en-US" sz="2400" i="1" dirty="0" err="1"/>
              <a:t>android:label</a:t>
            </a:r>
            <a:r>
              <a:rPr lang="en-US" sz="2400" i="1" dirty="0"/>
              <a:t>=”@string/</a:t>
            </a:r>
            <a:r>
              <a:rPr lang="en-US" sz="2400" i="1" dirty="0" err="1"/>
              <a:t>app_name</a:t>
            </a:r>
            <a:r>
              <a:rPr lang="en-US" sz="2400" i="1" dirty="0"/>
              <a:t>”</a:t>
            </a:r>
          </a:p>
          <a:p>
            <a:pPr fontAlgn="base"/>
            <a:r>
              <a:rPr lang="en-US" sz="2400" i="1" dirty="0"/>
              <a:t>     …..</a:t>
            </a:r>
          </a:p>
          <a:p>
            <a:pPr fontAlgn="base"/>
            <a:r>
              <a:rPr lang="en-US" sz="2400" i="1" dirty="0"/>
              <a:t>&lt;/application</a:t>
            </a:r>
            <a:r>
              <a:rPr lang="en-US" sz="2400" i="1" dirty="0" smtClean="0"/>
              <a:t>&gt;</a:t>
            </a:r>
          </a:p>
          <a:p>
            <a:pPr fontAlgn="base"/>
            <a:r>
              <a:rPr lang="en-US" sz="2400" b="1" dirty="0"/>
              <a:t>Output:</a:t>
            </a:r>
            <a:endParaRPr lang="en-US" sz="2400" dirty="0"/>
          </a:p>
          <a:p>
            <a:r>
              <a:rPr lang="en-US" sz="2400" dirty="0"/>
              <a:t/>
            </a:r>
            <a:br>
              <a:rPr lang="en-US" sz="2400" dirty="0"/>
            </a:br>
            <a:endParaRPr lang="en-US" sz="2400" i="1" dirty="0"/>
          </a:p>
          <a:p>
            <a:endParaRPr lang="en-US" sz="2400" dirty="0">
              <a:latin typeface="Arial" panose="020B0604020202020204" pitchFamily="34" charset="0"/>
              <a:cs typeface="Arial" panose="020B0604020202020204" pitchFamily="34" charset="0"/>
            </a:endParaRPr>
          </a:p>
        </p:txBody>
      </p:sp>
      <p:sp>
        <p:nvSpPr>
          <p:cNvPr id="2" name="Rectangle 1"/>
          <p:cNvSpPr/>
          <p:nvPr/>
        </p:nvSpPr>
        <p:spPr>
          <a:xfrm>
            <a:off x="130388" y="5735783"/>
            <a:ext cx="5724687" cy="111529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7328581"/>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Designing a Custom </a:t>
            </a:r>
            <a:r>
              <a:rPr lang="en-US" sz="3600" b="1" dirty="0" err="1" smtClean="0">
                <a:latin typeface="Arial" panose="020B0604020202020204" pitchFamily="34" charset="0"/>
                <a:cs typeface="Arial" panose="020B0604020202020204" pitchFamily="34" charset="0"/>
              </a:rPr>
              <a:t>ActionBar</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4216539"/>
          </a:xfrm>
          <a:prstGeom prst="rect">
            <a:avLst/>
          </a:prstGeom>
          <a:noFill/>
        </p:spPr>
        <p:txBody>
          <a:bodyPr wrap="square" rtlCol="0">
            <a:spAutoFit/>
          </a:bodyPr>
          <a:lstStyle/>
          <a:p>
            <a:pPr fontAlgn="base"/>
            <a:r>
              <a:rPr lang="en-US" sz="2800" b="1" dirty="0"/>
              <a:t>Step 2: Creating a new directory and design items of </a:t>
            </a:r>
            <a:r>
              <a:rPr lang="en-US" sz="2800" b="1" dirty="0" err="1"/>
              <a:t>ActionBar</a:t>
            </a:r>
            <a:endParaRPr lang="en-US" sz="2800" dirty="0"/>
          </a:p>
          <a:p>
            <a:r>
              <a:rPr lang="en-US" sz="2400" dirty="0"/>
              <a:t>To code the elements of </a:t>
            </a:r>
            <a:r>
              <a:rPr lang="en-US" sz="2400" dirty="0" err="1"/>
              <a:t>ActionBar</a:t>
            </a:r>
            <a:r>
              <a:rPr lang="en-US" sz="2400" dirty="0"/>
              <a:t>, create a new directory in the </a:t>
            </a:r>
            <a:r>
              <a:rPr lang="en-US" sz="2400" b="1" dirty="0"/>
              <a:t>resource folder</a:t>
            </a:r>
            <a:r>
              <a:rPr lang="en-US" sz="2400" dirty="0"/>
              <a:t> of the application project files. Right-click on the </a:t>
            </a:r>
            <a:r>
              <a:rPr lang="en-US" sz="2400" b="1" dirty="0"/>
              <a:t>res</a:t>
            </a:r>
            <a:r>
              <a:rPr lang="en-US" sz="2400" dirty="0"/>
              <a:t> folder and selects </a:t>
            </a:r>
            <a:r>
              <a:rPr lang="en-US" sz="2400" b="1" dirty="0"/>
              <a:t>New -&gt; Directory</a:t>
            </a:r>
            <a:r>
              <a:rPr lang="en-US" sz="2400" dirty="0"/>
              <a:t>. Give the name </a:t>
            </a:r>
            <a:r>
              <a:rPr lang="en-US" sz="2400" b="1" dirty="0"/>
              <a:t>“menu”</a:t>
            </a:r>
            <a:r>
              <a:rPr lang="en-US" sz="2400" dirty="0"/>
              <a:t> to the new directory. </a:t>
            </a:r>
            <a:endParaRPr lang="en-US" sz="2400" dirty="0" smtClean="0"/>
          </a:p>
          <a:p>
            <a:r>
              <a:rPr lang="en-US" sz="2400" dirty="0"/>
              <a:t>Further, create a new </a:t>
            </a:r>
            <a:r>
              <a:rPr lang="en-US" sz="2400" b="1" dirty="0"/>
              <a:t>Menu Resource File</a:t>
            </a:r>
            <a:r>
              <a:rPr lang="en-US" sz="2400" dirty="0"/>
              <a:t> by right click on the menu directory. As the </a:t>
            </a:r>
            <a:r>
              <a:rPr lang="en-US" sz="2400" dirty="0" err="1"/>
              <a:t>ActionBar</a:t>
            </a:r>
            <a:r>
              <a:rPr lang="en-US" sz="2400" dirty="0"/>
              <a:t> is being created for the main Activity, type the name as </a:t>
            </a:r>
            <a:r>
              <a:rPr lang="en-US" sz="2400" b="1" dirty="0"/>
              <a:t>“main”</a:t>
            </a:r>
            <a:r>
              <a:rPr lang="en-US" sz="2400" dirty="0"/>
              <a:t> to the Menu Resource File. With this, a new file named </a:t>
            </a:r>
            <a:r>
              <a:rPr lang="en-US" sz="2400" b="1" dirty="0"/>
              <a:t>“main.xml”</a:t>
            </a:r>
            <a:r>
              <a:rPr lang="en-US" sz="2400" dirty="0"/>
              <a:t> must be created under the menu directory. In this file, one can declare the items which will be displayed as the </a:t>
            </a:r>
            <a:r>
              <a:rPr lang="en-US" sz="2400" b="1" dirty="0"/>
              <a:t>action buttons</a:t>
            </a:r>
            <a:r>
              <a:rPr lang="en-US" sz="2400" dirty="0"/>
              <a:t> of the </a:t>
            </a:r>
            <a:r>
              <a:rPr lang="en-US" sz="2400" dirty="0" err="1"/>
              <a:t>ActionBar</a:t>
            </a:r>
            <a:r>
              <a:rPr lang="en-US" sz="2400" dirty="0"/>
              <a:t>.</a:t>
            </a:r>
            <a:br>
              <a:rPr lang="en-US" sz="2400" dirty="0"/>
            </a:br>
            <a:endParaRPr lang="en-US" sz="2400" i="1" dirty="0"/>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5176330"/>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smtClean="0">
                <a:latin typeface="Arial" panose="020B0604020202020204" pitchFamily="34" charset="0"/>
                <a:cs typeface="Arial" panose="020B0604020202020204" pitchFamily="34" charset="0"/>
              </a:rPr>
              <a:t>Designing a Custom </a:t>
            </a:r>
            <a:r>
              <a:rPr lang="en-US" sz="3600" b="1" dirty="0" err="1" smtClean="0">
                <a:latin typeface="Arial" panose="020B0604020202020204" pitchFamily="34" charset="0"/>
                <a:cs typeface="Arial" panose="020B0604020202020204" pitchFamily="34" charset="0"/>
              </a:rPr>
              <a:t>ActionBar</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015579"/>
            <a:ext cx="11814869" cy="6555641"/>
          </a:xfrm>
          <a:prstGeom prst="rect">
            <a:avLst/>
          </a:prstGeom>
          <a:noFill/>
        </p:spPr>
        <p:txBody>
          <a:bodyPr wrap="square" rtlCol="0">
            <a:spAutoFit/>
          </a:bodyPr>
          <a:lstStyle/>
          <a:p>
            <a:pPr fontAlgn="base"/>
            <a:r>
              <a:rPr lang="en-US" sz="2000" dirty="0">
                <a:latin typeface="Arial" panose="020B0604020202020204" pitchFamily="34" charset="0"/>
                <a:cs typeface="Arial" panose="020B0604020202020204" pitchFamily="34" charset="0"/>
              </a:rPr>
              <a:t>For every menu items, the following attributes are needed to be configured</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r>
            <a:br>
              <a:rPr lang="en-US" sz="2000" dirty="0">
                <a:latin typeface="Arial" panose="020B0604020202020204" pitchFamily="34" charset="0"/>
                <a:cs typeface="Arial" panose="020B0604020202020204" pitchFamily="34" charset="0"/>
              </a:rPr>
            </a:br>
            <a:r>
              <a:rPr lang="en-US" sz="2000" b="1" dirty="0" err="1">
                <a:latin typeface="Arial" panose="020B0604020202020204" pitchFamily="34" charset="0"/>
                <a:cs typeface="Arial" panose="020B0604020202020204" pitchFamily="34" charset="0"/>
              </a:rPr>
              <a:t>android:title</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Its value contains the title of the menu item that will be displayed when a user clicks and holds that item in the app.</a:t>
            </a:r>
          </a:p>
          <a:p>
            <a:pPr fontAlgn="base"/>
            <a:r>
              <a:rPr lang="en-US" sz="2000" b="1" dirty="0" err="1">
                <a:latin typeface="Arial" panose="020B0604020202020204" pitchFamily="34" charset="0"/>
                <a:cs typeface="Arial" panose="020B0604020202020204" pitchFamily="34" charset="0"/>
              </a:rPr>
              <a:t>android:id</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 unique ID for the menu item that will be used to access it anywhere in the whole application files.</a:t>
            </a:r>
          </a:p>
          <a:p>
            <a:pPr fontAlgn="base"/>
            <a:r>
              <a:rPr lang="en-US" sz="2000" b="1" dirty="0" err="1">
                <a:latin typeface="Arial" panose="020B0604020202020204" pitchFamily="34" charset="0"/>
                <a:cs typeface="Arial" panose="020B0604020202020204" pitchFamily="34" charset="0"/>
              </a:rPr>
              <a:t>android:orderInCategory</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value of this attribute specify the item’s position in the </a:t>
            </a:r>
            <a:r>
              <a:rPr lang="en-US" sz="2000" dirty="0" err="1">
                <a:latin typeface="Arial" panose="020B0604020202020204" pitchFamily="34" charset="0"/>
                <a:cs typeface="Arial" panose="020B0604020202020204" pitchFamily="34" charset="0"/>
              </a:rPr>
              <a:t>ActionBar</a:t>
            </a:r>
            <a:r>
              <a:rPr lang="en-US" sz="2000" dirty="0">
                <a:latin typeface="Arial" panose="020B0604020202020204" pitchFamily="34" charset="0"/>
                <a:cs typeface="Arial" panose="020B0604020202020204" pitchFamily="34" charset="0"/>
              </a:rPr>
              <a:t>. There are two ways to define the position of different menu items. The first one is to provide the same value of this attribute for all items and the position will be defined in the same order as they are declared in the code. The second way is to provide a different numeric value for all items and then the items will position themselves according to ascending order of this attribute’s value.</a:t>
            </a:r>
          </a:p>
          <a:p>
            <a:pPr fontAlgn="base"/>
            <a:r>
              <a:rPr lang="en-US" sz="2000" b="1" dirty="0" err="1">
                <a:latin typeface="Arial" panose="020B0604020202020204" pitchFamily="34" charset="0"/>
                <a:cs typeface="Arial" panose="020B0604020202020204" pitchFamily="34" charset="0"/>
              </a:rPr>
              <a:t>app:showAsAction</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This attribute defines how the item is going to be present in the action bar. There are four possible flags to choose from:</a:t>
            </a:r>
          </a:p>
          <a:p>
            <a:pPr lvl="1" fontAlgn="base"/>
            <a:r>
              <a:rPr lang="en-US" sz="2000" b="1" dirty="0">
                <a:latin typeface="Arial" panose="020B0604020202020204" pitchFamily="34" charset="0"/>
                <a:cs typeface="Arial" panose="020B0604020202020204" pitchFamily="34" charset="0"/>
              </a:rPr>
              <a:t>a. always: </a:t>
            </a:r>
            <a:r>
              <a:rPr lang="en-US" sz="2000" dirty="0">
                <a:latin typeface="Arial" panose="020B0604020202020204" pitchFamily="34" charset="0"/>
                <a:cs typeface="Arial" panose="020B0604020202020204" pitchFamily="34" charset="0"/>
              </a:rPr>
              <a:t>To display the item in the </a:t>
            </a:r>
            <a:r>
              <a:rPr lang="en-US" sz="2000" dirty="0" err="1">
                <a:latin typeface="Arial" panose="020B0604020202020204" pitchFamily="34" charset="0"/>
                <a:cs typeface="Arial" panose="020B0604020202020204" pitchFamily="34" charset="0"/>
              </a:rPr>
              <a:t>ActionBar</a:t>
            </a:r>
            <a:r>
              <a:rPr lang="en-US" sz="2000" dirty="0">
                <a:latin typeface="Arial" panose="020B0604020202020204" pitchFamily="34" charset="0"/>
                <a:cs typeface="Arial" panose="020B0604020202020204" pitchFamily="34" charset="0"/>
              </a:rPr>
              <a:t> all the time.</a:t>
            </a:r>
          </a:p>
          <a:p>
            <a:pPr lvl="1" fontAlgn="base"/>
            <a:r>
              <a:rPr lang="en-US" sz="2000" b="1" dirty="0">
                <a:latin typeface="Arial" panose="020B0604020202020204" pitchFamily="34" charset="0"/>
                <a:cs typeface="Arial" panose="020B0604020202020204" pitchFamily="34" charset="0"/>
              </a:rPr>
              <a:t>b. </a:t>
            </a:r>
            <a:r>
              <a:rPr lang="en-US" sz="2000" b="1" dirty="0" err="1">
                <a:latin typeface="Arial" panose="020B0604020202020204" pitchFamily="34" charset="0"/>
                <a:cs typeface="Arial" panose="020B0604020202020204" pitchFamily="34" charset="0"/>
              </a:rPr>
              <a:t>ifRoom</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keep the item if space is available.</a:t>
            </a:r>
          </a:p>
          <a:p>
            <a:pPr lvl="1" fontAlgn="base"/>
            <a:r>
              <a:rPr lang="en-US" sz="2000" b="1" dirty="0">
                <a:latin typeface="Arial" panose="020B0604020202020204" pitchFamily="34" charset="0"/>
                <a:cs typeface="Arial" panose="020B0604020202020204" pitchFamily="34" charset="0"/>
              </a:rPr>
              <a:t>c. never: </a:t>
            </a:r>
            <a:r>
              <a:rPr lang="en-US" sz="2000" dirty="0">
                <a:latin typeface="Arial" panose="020B0604020202020204" pitchFamily="34" charset="0"/>
                <a:cs typeface="Arial" panose="020B0604020202020204" pitchFamily="34" charset="0"/>
              </a:rPr>
              <a:t>With this flag, the item will be not be displayed as an icon in </a:t>
            </a:r>
            <a:r>
              <a:rPr lang="en-US" sz="2000" dirty="0" err="1">
                <a:latin typeface="Arial" panose="020B0604020202020204" pitchFamily="34" charset="0"/>
                <a:cs typeface="Arial" panose="020B0604020202020204" pitchFamily="34" charset="0"/>
              </a:rPr>
              <a:t>ActionBar</a:t>
            </a:r>
            <a:r>
              <a:rPr lang="en-US" sz="2000" dirty="0">
                <a:latin typeface="Arial" panose="020B0604020202020204" pitchFamily="34" charset="0"/>
                <a:cs typeface="Arial" panose="020B0604020202020204" pitchFamily="34" charset="0"/>
              </a:rPr>
              <a:t>, but will be present in the overflow menu</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lvl="1" fontAlgn="base"/>
            <a:r>
              <a:rPr lang="en-US" sz="2000" b="1" dirty="0">
                <a:latin typeface="Arial" panose="020B0604020202020204" pitchFamily="34" charset="0"/>
                <a:cs typeface="Arial" panose="020B0604020202020204" pitchFamily="34" charset="0"/>
              </a:rPr>
              <a:t>d. </a:t>
            </a:r>
            <a:r>
              <a:rPr lang="en-US" sz="2000" b="1" dirty="0" err="1">
                <a:latin typeface="Arial" panose="020B0604020202020204" pitchFamily="34" charset="0"/>
                <a:cs typeface="Arial" panose="020B0604020202020204" pitchFamily="34" charset="0"/>
              </a:rPr>
              <a:t>withText</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represent an item as both icon and the title, one can append this flag with the always or </a:t>
            </a:r>
            <a:r>
              <a:rPr lang="en-US" sz="2000" dirty="0" err="1">
                <a:latin typeface="Arial" panose="020B0604020202020204" pitchFamily="34" charset="0"/>
                <a:cs typeface="Arial" panose="020B0604020202020204" pitchFamily="34" charset="0"/>
              </a:rPr>
              <a:t>ifRoom</a:t>
            </a:r>
            <a:r>
              <a:rPr lang="en-US" sz="2000" dirty="0">
                <a:latin typeface="Arial" panose="020B0604020202020204" pitchFamily="34" charset="0"/>
                <a:cs typeface="Arial" panose="020B0604020202020204" pitchFamily="34" charset="0"/>
              </a:rPr>
              <a:t> flag(</a:t>
            </a:r>
            <a:r>
              <a:rPr lang="en-US" sz="2000" dirty="0" err="1">
                <a:latin typeface="Arial" panose="020B0604020202020204" pitchFamily="34" charset="0"/>
                <a:cs typeface="Arial" panose="020B0604020202020204" pitchFamily="34" charset="0"/>
              </a:rPr>
              <a:t>always|withText</a:t>
            </a:r>
            <a:r>
              <a:rPr lang="en-US" sz="2000" dirty="0">
                <a:latin typeface="Arial" panose="020B0604020202020204" pitchFamily="34" charset="0"/>
                <a:cs typeface="Arial" panose="020B0604020202020204" pitchFamily="34" charset="0"/>
              </a:rPr>
              <a:t> or </a:t>
            </a:r>
            <a:r>
              <a:rPr lang="en-US" sz="2000" dirty="0" err="1">
                <a:latin typeface="Arial" panose="020B0604020202020204" pitchFamily="34" charset="0"/>
                <a:cs typeface="Arial" panose="020B0604020202020204" pitchFamily="34" charset="0"/>
              </a:rPr>
              <a:t>ifRoom|withText</a:t>
            </a:r>
            <a:r>
              <a:rPr lang="en-US" sz="2000" dirty="0">
                <a:latin typeface="Arial" panose="020B0604020202020204" pitchFamily="34" charset="0"/>
                <a:cs typeface="Arial" panose="020B0604020202020204" pitchFamily="34" charset="0"/>
              </a:rPr>
              <a:t>).</a:t>
            </a:r>
          </a:p>
          <a:p>
            <a:pPr fontAlgn="base"/>
            <a:r>
              <a:rPr lang="en-US" sz="2000" b="1" dirty="0" err="1">
                <a:latin typeface="Arial" panose="020B0604020202020204" pitchFamily="34" charset="0"/>
                <a:cs typeface="Arial" panose="020B0604020202020204" pitchFamily="34" charset="0"/>
              </a:rPr>
              <a:t>android:icon</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icon of an item is referenced in the </a:t>
            </a:r>
            <a:r>
              <a:rPr lang="en-US" sz="2000" dirty="0" err="1">
                <a:latin typeface="Arial" panose="020B0604020202020204" pitchFamily="34" charset="0"/>
                <a:cs typeface="Arial" panose="020B0604020202020204" pitchFamily="34" charset="0"/>
              </a:rPr>
              <a:t>drawable</a:t>
            </a:r>
            <a:r>
              <a:rPr lang="en-US" sz="2000" dirty="0">
                <a:latin typeface="Arial" panose="020B0604020202020204" pitchFamily="34" charset="0"/>
                <a:cs typeface="Arial" panose="020B0604020202020204" pitchFamily="34" charset="0"/>
              </a:rPr>
              <a:t> directories through this attribute.</a:t>
            </a:r>
          </a:p>
          <a:p>
            <a:pPr lvl="1" fontAlgn="base"/>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1182737"/>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How to create </a:t>
            </a:r>
            <a:r>
              <a:rPr lang="en-US" sz="3600" dirty="0" err="1" smtClean="0">
                <a:latin typeface="Calibri" panose="020F0502020204030204" pitchFamily="34" charset="0"/>
                <a:cs typeface="Calibri" panose="020F0502020204030204" pitchFamily="34" charset="0"/>
              </a:rPr>
              <a:t>ActionBar</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909300377"/>
              </p:ext>
            </p:extLst>
          </p:nvPr>
        </p:nvGraphicFramePr>
        <p:xfrm>
          <a:off x="344868" y="1138121"/>
          <a:ext cx="11722636" cy="5273040"/>
        </p:xfrm>
        <a:graphic>
          <a:graphicData uri="http://schemas.openxmlformats.org/drawingml/2006/table">
            <a:tbl>
              <a:tblPr firstRow="1" bandRow="1">
                <a:tableStyleId>{8EC20E35-A176-4012-BC5E-935CFFF8708E}</a:tableStyleId>
              </a:tblPr>
              <a:tblGrid>
                <a:gridCol w="5861318"/>
                <a:gridCol w="5861318"/>
              </a:tblGrid>
              <a:tr h="579843">
                <a:tc gridSpan="2">
                  <a:txBody>
                    <a:bodyPr/>
                    <a:lstStyle/>
                    <a:p>
                      <a:pPr algn="ctr"/>
                      <a:r>
                        <a:rPr lang="en-US" sz="2800" dirty="0" smtClean="0"/>
                        <a:t>XML</a:t>
                      </a:r>
                      <a:r>
                        <a:rPr lang="en-US" sz="2800" baseline="0" dirty="0" smtClean="0"/>
                        <a:t> Code</a:t>
                      </a:r>
                      <a:endParaRPr lang="en-US" dirty="0"/>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r>
              <a:tr h="4315055">
                <a:tc>
                  <a:txBody>
                    <a:bodyPr/>
                    <a:lstStyle/>
                    <a:p>
                      <a:pPr algn="l"/>
                      <a:r>
                        <a:rPr lang="en-US" dirty="0" smtClean="0"/>
                        <a:t>&lt;?xml version="1.0" encoding="utf-8"?&gt;</a:t>
                      </a:r>
                    </a:p>
                    <a:p>
                      <a:pPr algn="l"/>
                      <a:r>
                        <a:rPr lang="en-US" dirty="0" smtClean="0"/>
                        <a:t>&lt;menu </a:t>
                      </a:r>
                      <a:r>
                        <a:rPr lang="en-US" dirty="0" err="1" smtClean="0"/>
                        <a:t>xmlns:app</a:t>
                      </a:r>
                      <a:r>
                        <a:rPr lang="en-US" dirty="0" smtClean="0"/>
                        <a:t>="http://schemas.android.com/</a:t>
                      </a:r>
                      <a:r>
                        <a:rPr lang="en-US" dirty="0" err="1" smtClean="0"/>
                        <a:t>apk</a:t>
                      </a:r>
                      <a:r>
                        <a:rPr lang="en-US" dirty="0" smtClean="0"/>
                        <a:t>/res-auto"</a:t>
                      </a:r>
                    </a:p>
                    <a:p>
                      <a:pPr algn="l"/>
                      <a:r>
                        <a:rPr lang="en-US" dirty="0" smtClean="0"/>
                        <a:t>	</a:t>
                      </a:r>
                      <a:r>
                        <a:rPr lang="en-US" dirty="0" err="1" smtClean="0"/>
                        <a:t>xmlns:android</a:t>
                      </a:r>
                      <a:r>
                        <a:rPr lang="en-US" dirty="0" smtClean="0"/>
                        <a:t>="http://schemas.android.com/</a:t>
                      </a:r>
                      <a:r>
                        <a:rPr lang="en-US" dirty="0" err="1" smtClean="0"/>
                        <a:t>apk</a:t>
                      </a:r>
                      <a:r>
                        <a:rPr lang="en-US" dirty="0" smtClean="0"/>
                        <a:t>/res/android"&gt;</a:t>
                      </a:r>
                    </a:p>
                    <a:p>
                      <a:pPr algn="l"/>
                      <a:endParaRPr lang="en-US" dirty="0" smtClean="0"/>
                    </a:p>
                    <a:p>
                      <a:pPr algn="l"/>
                      <a:r>
                        <a:rPr lang="en-US" dirty="0" smtClean="0"/>
                        <a:t>	&lt;!-- action button for search --&gt;</a:t>
                      </a:r>
                    </a:p>
                    <a:p>
                      <a:pPr algn="l"/>
                      <a:r>
                        <a:rPr lang="en-US" dirty="0" smtClean="0"/>
                        <a:t>	&lt;item </a:t>
                      </a:r>
                      <a:r>
                        <a:rPr lang="en-US" dirty="0" err="1" smtClean="0"/>
                        <a:t>android:title</a:t>
                      </a:r>
                      <a:r>
                        <a:rPr lang="en-US" dirty="0" smtClean="0"/>
                        <a:t>="search"</a:t>
                      </a:r>
                    </a:p>
                    <a:p>
                      <a:pPr algn="l"/>
                      <a:r>
                        <a:rPr lang="en-US" dirty="0" smtClean="0"/>
                        <a:t>		</a:t>
                      </a:r>
                      <a:r>
                        <a:rPr lang="en-US" dirty="0" err="1" smtClean="0"/>
                        <a:t>android:id</a:t>
                      </a:r>
                      <a:r>
                        <a:rPr lang="en-US" dirty="0" smtClean="0"/>
                        <a:t>="@+id/search"</a:t>
                      </a:r>
                    </a:p>
                    <a:p>
                      <a:pPr algn="l"/>
                      <a:r>
                        <a:rPr lang="en-US" dirty="0" smtClean="0"/>
                        <a:t>		</a:t>
                      </a:r>
                      <a:r>
                        <a:rPr lang="en-US" dirty="0" err="1" smtClean="0"/>
                        <a:t>android:orderInCategory</a:t>
                      </a:r>
                      <a:r>
                        <a:rPr lang="en-US" dirty="0" smtClean="0"/>
                        <a:t>="100"</a:t>
                      </a:r>
                    </a:p>
                    <a:p>
                      <a:pPr algn="l"/>
                      <a:r>
                        <a:rPr lang="en-US" dirty="0" smtClean="0"/>
                        <a:t>		</a:t>
                      </a:r>
                      <a:r>
                        <a:rPr lang="en-US" dirty="0" err="1" smtClean="0"/>
                        <a:t>app:showAsAction</a:t>
                      </a:r>
                      <a:r>
                        <a:rPr lang="en-US" dirty="0" smtClean="0"/>
                        <a:t>="</a:t>
                      </a:r>
                      <a:r>
                        <a:rPr lang="en-US" dirty="0" err="1" smtClean="0"/>
                        <a:t>ifRoom</a:t>
                      </a:r>
                      <a:r>
                        <a:rPr lang="en-US" dirty="0" smtClean="0"/>
                        <a:t>"</a:t>
                      </a:r>
                    </a:p>
                    <a:p>
                      <a:pPr algn="l"/>
                      <a:r>
                        <a:rPr lang="en-US" dirty="0" smtClean="0"/>
                        <a:t>		</a:t>
                      </a:r>
                      <a:r>
                        <a:rPr lang="en-US" dirty="0" err="1" smtClean="0"/>
                        <a:t>android:icon</a:t>
                      </a:r>
                      <a:r>
                        <a:rPr lang="en-US" dirty="0" smtClean="0"/>
                        <a:t>="@</a:t>
                      </a:r>
                      <a:r>
                        <a:rPr lang="en-US" dirty="0" err="1" smtClean="0"/>
                        <a:t>drawable</a:t>
                      </a:r>
                      <a:r>
                        <a:rPr lang="en-US" dirty="0" smtClean="0"/>
                        <a:t>/</a:t>
                      </a:r>
                      <a:r>
                        <a:rPr lang="en-US" dirty="0" err="1" smtClean="0"/>
                        <a:t>search_icon</a:t>
                      </a:r>
                      <a:r>
                        <a:rPr lang="en-US" dirty="0" smtClean="0"/>
                        <a:t>"/&gt;</a:t>
                      </a:r>
                    </a:p>
                    <a:p>
                      <a:pPr algn="l"/>
                      <a:endParaRPr lang="en-US" dirty="0" smtClean="0"/>
                    </a:p>
                    <a:p>
                      <a:pPr algn="l"/>
                      <a:r>
                        <a:rPr lang="en-US" dirty="0" smtClean="0"/>
                        <a:t>	&lt;!-- action button for refresh --&gt;</a:t>
                      </a:r>
                    </a:p>
                    <a:p>
                      <a:pPr algn="l"/>
                      <a:r>
                        <a:rPr lang="en-US" dirty="0" smtClean="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smtClean="0"/>
                        <a:t>&lt;item </a:t>
                      </a:r>
                      <a:r>
                        <a:rPr lang="en-US" dirty="0" err="1" smtClean="0"/>
                        <a:t>android:title</a:t>
                      </a:r>
                      <a:r>
                        <a:rPr lang="en-US" dirty="0" smtClean="0"/>
                        <a:t>="refresh"</a:t>
                      </a:r>
                    </a:p>
                    <a:p>
                      <a:pPr algn="l"/>
                      <a:r>
                        <a:rPr lang="en-US" dirty="0" smtClean="0"/>
                        <a:t>		</a:t>
                      </a:r>
                      <a:r>
                        <a:rPr lang="en-US" dirty="0" err="1" smtClean="0"/>
                        <a:t>android:id</a:t>
                      </a:r>
                      <a:r>
                        <a:rPr lang="en-US" dirty="0" smtClean="0"/>
                        <a:t>="@+id/refresh"</a:t>
                      </a:r>
                    </a:p>
                    <a:p>
                      <a:pPr algn="l"/>
                      <a:r>
                        <a:rPr lang="en-US" dirty="0" smtClean="0"/>
                        <a:t>		</a:t>
                      </a:r>
                      <a:r>
                        <a:rPr lang="en-US" dirty="0" err="1" smtClean="0"/>
                        <a:t>android:orderInCategory</a:t>
                      </a:r>
                      <a:r>
                        <a:rPr lang="en-US" dirty="0" smtClean="0"/>
                        <a:t>="100"</a:t>
                      </a:r>
                    </a:p>
                    <a:p>
                      <a:pPr algn="l"/>
                      <a:r>
                        <a:rPr lang="en-US" dirty="0" smtClean="0"/>
                        <a:t>		</a:t>
                      </a:r>
                      <a:r>
                        <a:rPr lang="en-US" dirty="0" err="1" smtClean="0"/>
                        <a:t>app:showAsAction</a:t>
                      </a:r>
                      <a:r>
                        <a:rPr lang="en-US" dirty="0" smtClean="0"/>
                        <a:t>="</a:t>
                      </a:r>
                      <a:r>
                        <a:rPr lang="en-US" dirty="0" err="1" smtClean="0"/>
                        <a:t>ifRoom</a:t>
                      </a:r>
                      <a:r>
                        <a:rPr lang="en-US" dirty="0" smtClean="0"/>
                        <a:t>"</a:t>
                      </a:r>
                    </a:p>
                    <a:p>
                      <a:pPr algn="l"/>
                      <a:r>
                        <a:rPr lang="en-US" dirty="0" smtClean="0"/>
                        <a:t>		</a:t>
                      </a:r>
                      <a:r>
                        <a:rPr lang="en-US" dirty="0" err="1" smtClean="0"/>
                        <a:t>android:icon</a:t>
                      </a:r>
                      <a:r>
                        <a:rPr lang="en-US" dirty="0" smtClean="0"/>
                        <a:t>="@</a:t>
                      </a:r>
                      <a:r>
                        <a:rPr lang="en-US" dirty="0" err="1" smtClean="0"/>
                        <a:t>drawable</a:t>
                      </a:r>
                      <a:r>
                        <a:rPr lang="en-US" dirty="0" smtClean="0"/>
                        <a:t>/</a:t>
                      </a:r>
                      <a:r>
                        <a:rPr lang="en-US" dirty="0" err="1" smtClean="0"/>
                        <a:t>refresh_icon</a:t>
                      </a:r>
                      <a:r>
                        <a:rPr lang="en-US" dirty="0" smtClean="0"/>
                        <a:t>"/&gt;</a:t>
                      </a:r>
                    </a:p>
                    <a:p>
                      <a:pPr algn="l"/>
                      <a:endParaRPr lang="en-US" dirty="0" smtClean="0"/>
                    </a:p>
                    <a:p>
                      <a:pPr algn="l"/>
                      <a:r>
                        <a:rPr lang="en-US" dirty="0" smtClean="0"/>
                        <a:t>	&lt;!-- action button for copy --&gt;</a:t>
                      </a:r>
                    </a:p>
                    <a:p>
                      <a:pPr algn="l"/>
                      <a:r>
                        <a:rPr lang="en-US" dirty="0" smtClean="0"/>
                        <a:t>	&lt;item </a:t>
                      </a:r>
                      <a:r>
                        <a:rPr lang="en-US" dirty="0" err="1" smtClean="0"/>
                        <a:t>android:title</a:t>
                      </a:r>
                      <a:r>
                        <a:rPr lang="en-US" dirty="0" smtClean="0"/>
                        <a:t>="copy"</a:t>
                      </a:r>
                    </a:p>
                    <a:p>
                      <a:pPr algn="l"/>
                      <a:r>
                        <a:rPr lang="en-US" dirty="0" smtClean="0"/>
                        <a:t>		</a:t>
                      </a:r>
                      <a:r>
                        <a:rPr lang="en-US" dirty="0" err="1" smtClean="0"/>
                        <a:t>android:id</a:t>
                      </a:r>
                      <a:r>
                        <a:rPr lang="en-US" dirty="0" smtClean="0"/>
                        <a:t>="@+id/copy"</a:t>
                      </a:r>
                    </a:p>
                    <a:p>
                      <a:pPr algn="l"/>
                      <a:r>
                        <a:rPr lang="en-US" dirty="0" smtClean="0"/>
                        <a:t>		</a:t>
                      </a:r>
                      <a:r>
                        <a:rPr lang="en-US" dirty="0" err="1" smtClean="0"/>
                        <a:t>android:orderInCategory</a:t>
                      </a:r>
                      <a:r>
                        <a:rPr lang="en-US" dirty="0" smtClean="0"/>
                        <a:t>="100"</a:t>
                      </a:r>
                    </a:p>
                    <a:p>
                      <a:pPr algn="l"/>
                      <a:r>
                        <a:rPr lang="en-US" dirty="0" smtClean="0"/>
                        <a:t>		</a:t>
                      </a:r>
                      <a:r>
                        <a:rPr lang="en-US" dirty="0" err="1" smtClean="0"/>
                        <a:t>app:showAsAction</a:t>
                      </a:r>
                      <a:r>
                        <a:rPr lang="en-US" dirty="0" smtClean="0"/>
                        <a:t>="never"</a:t>
                      </a:r>
                    </a:p>
                    <a:p>
                      <a:pPr algn="l"/>
                      <a:r>
                        <a:rPr lang="en-US" dirty="0" smtClean="0"/>
                        <a:t>		</a:t>
                      </a:r>
                      <a:r>
                        <a:rPr lang="en-US" dirty="0" err="1" smtClean="0"/>
                        <a:t>android:icon</a:t>
                      </a:r>
                      <a:r>
                        <a:rPr lang="en-US" dirty="0" smtClean="0"/>
                        <a:t>="@</a:t>
                      </a:r>
                      <a:r>
                        <a:rPr lang="en-US" dirty="0" err="1" smtClean="0"/>
                        <a:t>drawable</a:t>
                      </a:r>
                      <a:r>
                        <a:rPr lang="en-US" dirty="0" smtClean="0"/>
                        <a:t>/</a:t>
                      </a:r>
                      <a:r>
                        <a:rPr lang="en-US" dirty="0" err="1" smtClean="0"/>
                        <a:t>copy_icon</a:t>
                      </a:r>
                      <a:r>
                        <a:rPr lang="en-US" dirty="0" smtClean="0"/>
                        <a:t>"/&gt;</a:t>
                      </a:r>
                    </a:p>
                    <a:p>
                      <a:pPr algn="l"/>
                      <a:r>
                        <a:rPr lang="en-US" dirty="0" smtClean="0"/>
                        <a:t>&lt;/menu&gt;</a:t>
                      </a:r>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88714075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How to create </a:t>
            </a:r>
            <a:r>
              <a:rPr lang="en-US" sz="3600" dirty="0" err="1" smtClean="0">
                <a:latin typeface="Calibri" panose="020F0502020204030204" pitchFamily="34" charset="0"/>
                <a:cs typeface="Calibri" panose="020F0502020204030204" pitchFamily="34" charset="0"/>
              </a:rPr>
              <a:t>ActionBar</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98837354"/>
              </p:ext>
            </p:extLst>
          </p:nvPr>
        </p:nvGraphicFramePr>
        <p:xfrm>
          <a:off x="344868" y="1138121"/>
          <a:ext cx="11722636" cy="5107535"/>
        </p:xfrm>
        <a:graphic>
          <a:graphicData uri="http://schemas.openxmlformats.org/drawingml/2006/table">
            <a:tbl>
              <a:tblPr firstRow="1" bandRow="1">
                <a:tableStyleId>{8EC20E35-A176-4012-BC5E-935CFFF8708E}</a:tableStyleId>
              </a:tblPr>
              <a:tblGrid>
                <a:gridCol w="5861318"/>
                <a:gridCol w="5861318"/>
              </a:tblGrid>
              <a:tr h="579843">
                <a:tc gridSpan="2">
                  <a:txBody>
                    <a:bodyPr/>
                    <a:lstStyle/>
                    <a:p>
                      <a:pPr algn="ctr"/>
                      <a:r>
                        <a:rPr lang="en-US" sz="2800" baseline="0" dirty="0" smtClean="0"/>
                        <a:t>Java </a:t>
                      </a:r>
                      <a:r>
                        <a:rPr lang="en-US" sz="2800" baseline="0" dirty="0" smtClean="0"/>
                        <a:t>Code</a:t>
                      </a:r>
                      <a:endParaRPr lang="en-US" dirty="0"/>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r>
              <a:tr h="4315055">
                <a:tc>
                  <a:txBody>
                    <a:bodyPr/>
                    <a:lstStyle/>
                    <a:p>
                      <a:pPr rtl="0" fontAlgn="base"/>
                      <a:r>
                        <a:rPr lang="en-US" sz="1800" b="0" i="0" kern="1200" dirty="0" smtClean="0">
                          <a:solidFill>
                            <a:schemeClr val="dk1"/>
                          </a:solidFill>
                          <a:effectLst/>
                          <a:latin typeface="+mn-lt"/>
                          <a:ea typeface="+mn-ea"/>
                          <a:cs typeface="+mn-cs"/>
                        </a:rPr>
                        <a:t>@Override</a:t>
                      </a:r>
                    </a:p>
                    <a:p>
                      <a:pPr rtl="0" fontAlgn="base"/>
                      <a:r>
                        <a:rPr lang="en-US" sz="1800" b="0" i="0" kern="1200" dirty="0" smtClean="0">
                          <a:solidFill>
                            <a:schemeClr val="dk1"/>
                          </a:solidFill>
                          <a:effectLst/>
                          <a:latin typeface="+mn-lt"/>
                          <a:ea typeface="+mn-ea"/>
                          <a:cs typeface="+mn-cs"/>
                        </a:rPr>
                        <a:t>    public </a:t>
                      </a:r>
                      <a:r>
                        <a:rPr lang="en-US" sz="1800" b="0" i="0" kern="1200" dirty="0" err="1" smtClean="0">
                          <a:solidFill>
                            <a:schemeClr val="dk1"/>
                          </a:solidFill>
                          <a:effectLst/>
                          <a:latin typeface="+mn-lt"/>
                          <a:ea typeface="+mn-ea"/>
                          <a:cs typeface="+mn-cs"/>
                        </a:rPr>
                        <a:t>boolean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onCreateOptionsMenu</a:t>
                      </a:r>
                      <a:r>
                        <a:rPr lang="en-US" sz="1800" b="0" i="0" kern="1200" dirty="0" smtClean="0">
                          <a:solidFill>
                            <a:schemeClr val="dk1"/>
                          </a:solidFill>
                          <a:effectLst/>
                          <a:latin typeface="+mn-lt"/>
                          <a:ea typeface="+mn-ea"/>
                          <a:cs typeface="+mn-cs"/>
                        </a:rPr>
                        <a:t>( Menu </a:t>
                      </a:r>
                      <a:r>
                        <a:rPr lang="en-US" sz="1800" b="0" i="0" kern="1200" dirty="0" err="1" smtClean="0">
                          <a:solidFill>
                            <a:schemeClr val="dk1"/>
                          </a:solidFill>
                          <a:effectLst/>
                          <a:latin typeface="+mn-lt"/>
                          <a:ea typeface="+mn-ea"/>
                          <a:cs typeface="+mn-cs"/>
                        </a:rPr>
                        <a:t>menu</a:t>
                      </a:r>
                      <a:r>
                        <a:rPr lang="en-US" sz="1800" b="0" i="0" kern="1200" dirty="0" smtClean="0">
                          <a:solidFill>
                            <a:schemeClr val="dk1"/>
                          </a:solidFill>
                          <a:effectLst/>
                          <a:latin typeface="+mn-lt"/>
                          <a:ea typeface="+mn-ea"/>
                          <a:cs typeface="+mn-cs"/>
                        </a:rPr>
                        <a:t> ) {</a:t>
                      </a:r>
                    </a:p>
                    <a:p>
                      <a:pPr rtl="0" fontAlgn="base"/>
                      <a:r>
                        <a:rPr lang="en-US" sz="1800" b="0" i="0" kern="1200" dirty="0" smtClean="0">
                          <a:solidFill>
                            <a:schemeClr val="dk1"/>
                          </a:solidFill>
                          <a:effectLst/>
                          <a:latin typeface="+mn-lt"/>
                          <a:ea typeface="+mn-ea"/>
                          <a:cs typeface="+mn-cs"/>
                        </a:rPr>
                        <a:t> </a:t>
                      </a:r>
                    </a:p>
                    <a:p>
                      <a:pPr rtl="0" fontAlgn="base"/>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getMenuInflater</a:t>
                      </a:r>
                      <a:r>
                        <a:rPr lang="en-US" sz="1800" b="0" i="0" kern="1200" dirty="0" smtClean="0">
                          <a:solidFill>
                            <a:schemeClr val="dk1"/>
                          </a:solidFill>
                          <a:effectLst/>
                          <a:latin typeface="+mn-lt"/>
                          <a:ea typeface="+mn-ea"/>
                          <a:cs typeface="+mn-cs"/>
                        </a:rPr>
                        <a:t>().inflate(</a:t>
                      </a:r>
                      <a:r>
                        <a:rPr lang="en-US" sz="1800" b="0" i="0" kern="1200" dirty="0" err="1" smtClean="0">
                          <a:solidFill>
                            <a:schemeClr val="dk1"/>
                          </a:solidFill>
                          <a:effectLst/>
                          <a:latin typeface="+mn-lt"/>
                          <a:ea typeface="+mn-ea"/>
                          <a:cs typeface="+mn-cs"/>
                        </a:rPr>
                        <a:t>R.menu.main</a:t>
                      </a:r>
                      <a:r>
                        <a:rPr lang="en-US" sz="1800" b="0" i="0" kern="1200" dirty="0" smtClean="0">
                          <a:solidFill>
                            <a:schemeClr val="dk1"/>
                          </a:solidFill>
                          <a:effectLst/>
                          <a:latin typeface="+mn-lt"/>
                          <a:ea typeface="+mn-ea"/>
                          <a:cs typeface="+mn-cs"/>
                        </a:rPr>
                        <a:t>, menu);</a:t>
                      </a:r>
                    </a:p>
                    <a:p>
                      <a:pPr rtl="0" fontAlgn="base"/>
                      <a:r>
                        <a:rPr lang="en-US" sz="1800" b="0" i="0" kern="1200" dirty="0" smtClean="0">
                          <a:solidFill>
                            <a:schemeClr val="dk1"/>
                          </a:solidFill>
                          <a:effectLst/>
                          <a:latin typeface="+mn-lt"/>
                          <a:ea typeface="+mn-ea"/>
                          <a:cs typeface="+mn-cs"/>
                        </a:rPr>
                        <a:t>        return </a:t>
                      </a:r>
                      <a:r>
                        <a:rPr lang="en-US" sz="1800" b="0" i="0" kern="1200" dirty="0" err="1" smtClean="0">
                          <a:solidFill>
                            <a:schemeClr val="dk1"/>
                          </a:solidFill>
                          <a:effectLst/>
                          <a:latin typeface="+mn-lt"/>
                          <a:ea typeface="+mn-ea"/>
                          <a:cs typeface="+mn-cs"/>
                        </a:rPr>
                        <a:t>super.onCreateOptionsMenu</a:t>
                      </a:r>
                      <a:r>
                        <a:rPr lang="en-US" sz="1800" b="0" i="0" kern="1200" dirty="0" smtClean="0">
                          <a:solidFill>
                            <a:schemeClr val="dk1"/>
                          </a:solidFill>
                          <a:effectLst/>
                          <a:latin typeface="+mn-lt"/>
                          <a:ea typeface="+mn-ea"/>
                          <a:cs typeface="+mn-cs"/>
                        </a:rPr>
                        <a:t>(menu);</a:t>
                      </a:r>
                    </a:p>
                    <a:p>
                      <a:pPr rtl="0" fontAlgn="base"/>
                      <a:r>
                        <a:rPr lang="en-US" sz="1800" b="0" i="0" kern="1200" dirty="0" smtClean="0">
                          <a:solidFill>
                            <a:schemeClr val="dk1"/>
                          </a:solidFill>
                          <a:effectLst/>
                          <a:latin typeface="+mn-lt"/>
                          <a:ea typeface="+mn-ea"/>
                          <a:cs typeface="+mn-cs"/>
                        </a:rPr>
                        <a:t>    }</a:t>
                      </a:r>
                    </a:p>
                    <a:p>
                      <a:pPr rtl="0" fontAlgn="base"/>
                      <a:r>
                        <a:rPr lang="en-US" dirty="0" smtClean="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smtClean="0">
                          <a:solidFill>
                            <a:schemeClr val="dk1"/>
                          </a:solidFill>
                          <a:effectLst/>
                          <a:latin typeface="+mn-lt"/>
                          <a:ea typeface="+mn-ea"/>
                          <a:cs typeface="+mn-cs"/>
                        </a:rPr>
                        <a:t>        </a:t>
                      </a:r>
                      <a:r>
                        <a:rPr lang="en-US" sz="1800" kern="1200" dirty="0" smtClean="0">
                          <a:solidFill>
                            <a:schemeClr val="dk1"/>
                          </a:solidFill>
                          <a:effectLst/>
                          <a:latin typeface="+mn-lt"/>
                          <a:ea typeface="+mn-ea"/>
                          <a:cs typeface="+mn-cs"/>
                        </a:rPr>
                        <a:t>@Override</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public </a:t>
                      </a:r>
                      <a:r>
                        <a:rPr lang="en-US" sz="1800" kern="1200" dirty="0" err="1" smtClean="0">
                          <a:solidFill>
                            <a:schemeClr val="dk1"/>
                          </a:solidFill>
                          <a:effectLst/>
                          <a:latin typeface="+mn-lt"/>
                          <a:ea typeface="+mn-ea"/>
                          <a:cs typeface="+mn-cs"/>
                        </a:rPr>
                        <a:t>boolean</a:t>
                      </a:r>
                      <a:r>
                        <a:rPr lang="en-US" sz="1800" kern="1200" dirty="0" smtClean="0">
                          <a:solidFill>
                            <a:schemeClr val="dk1"/>
                          </a:solidFill>
                          <a:effectLst/>
                          <a:latin typeface="+mn-lt"/>
                          <a:ea typeface="+mn-ea"/>
                          <a:cs typeface="+mn-cs"/>
                        </a:rPr>
                        <a:t> </a:t>
                      </a:r>
                      <a:r>
                        <a:rPr lang="en-US" sz="1800" kern="1200" dirty="0" err="1" smtClean="0">
                          <a:solidFill>
                            <a:schemeClr val="dk1"/>
                          </a:solidFill>
                          <a:effectLst/>
                          <a:latin typeface="+mn-lt"/>
                          <a:ea typeface="+mn-ea"/>
                          <a:cs typeface="+mn-cs"/>
                        </a:rPr>
                        <a:t>onOptionsItemSelected</a:t>
                      </a:r>
                      <a:r>
                        <a:rPr lang="en-US" sz="1800" kern="1200" dirty="0" smtClean="0">
                          <a:solidFill>
                            <a:schemeClr val="dk1"/>
                          </a:solidFill>
                          <a:effectLst/>
                          <a:latin typeface="+mn-lt"/>
                          <a:ea typeface="+mn-ea"/>
                          <a:cs typeface="+mn-cs"/>
                        </a:rPr>
                        <a:t>(@</a:t>
                      </a:r>
                      <a:r>
                        <a:rPr lang="en-US" sz="1800" kern="1200" dirty="0" err="1" smtClean="0">
                          <a:solidFill>
                            <a:schemeClr val="dk1"/>
                          </a:solidFill>
                          <a:effectLst/>
                          <a:latin typeface="+mn-lt"/>
                          <a:ea typeface="+mn-ea"/>
                          <a:cs typeface="+mn-cs"/>
                        </a:rPr>
                        <a:t>NonNull</a:t>
                      </a:r>
                      <a:r>
                        <a:rPr lang="en-US" sz="1800" kern="1200" dirty="0" smtClean="0">
                          <a:solidFill>
                            <a:schemeClr val="dk1"/>
                          </a:solidFill>
                          <a:effectLst/>
                          <a:latin typeface="+mn-lt"/>
                          <a:ea typeface="+mn-ea"/>
                          <a:cs typeface="+mn-cs"/>
                        </a:rPr>
                        <a:t> </a:t>
                      </a:r>
                      <a:r>
                        <a:rPr lang="en-US" sz="1800" kern="1200" dirty="0" err="1" smtClean="0">
                          <a:solidFill>
                            <a:schemeClr val="dk1"/>
                          </a:solidFill>
                          <a:effectLst/>
                          <a:latin typeface="+mn-lt"/>
                          <a:ea typeface="+mn-ea"/>
                          <a:cs typeface="+mn-cs"/>
                        </a:rPr>
                        <a:t>MenuItem</a:t>
                      </a:r>
                      <a:r>
                        <a:rPr lang="en-US" sz="1800" kern="1200" dirty="0" smtClean="0">
                          <a:solidFill>
                            <a:schemeClr val="dk1"/>
                          </a:solidFill>
                          <a:effectLst/>
                          <a:latin typeface="+mn-lt"/>
                          <a:ea typeface="+mn-ea"/>
                          <a:cs typeface="+mn-cs"/>
                        </a:rPr>
                        <a:t> item) {</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    </a:t>
                      </a:r>
                      <a:r>
                        <a:rPr lang="en-US" sz="1800" kern="1200" dirty="0" err="1" smtClean="0">
                          <a:solidFill>
                            <a:schemeClr val="dk1"/>
                          </a:solidFill>
                          <a:effectLst/>
                          <a:latin typeface="+mn-lt"/>
                          <a:ea typeface="+mn-ea"/>
                          <a:cs typeface="+mn-cs"/>
                        </a:rPr>
                        <a:t>int</a:t>
                      </a:r>
                      <a:r>
                        <a:rPr lang="en-US" sz="1800" kern="1200" dirty="0" smtClean="0">
                          <a:solidFill>
                            <a:schemeClr val="dk1"/>
                          </a:solidFill>
                          <a:effectLst/>
                          <a:latin typeface="+mn-lt"/>
                          <a:ea typeface="+mn-ea"/>
                          <a:cs typeface="+mn-cs"/>
                        </a:rPr>
                        <a:t> id = </a:t>
                      </a:r>
                      <a:r>
                        <a:rPr lang="en-US" sz="1800" kern="1200" dirty="0" err="1" smtClean="0">
                          <a:solidFill>
                            <a:schemeClr val="dk1"/>
                          </a:solidFill>
                          <a:effectLst/>
                          <a:latin typeface="+mn-lt"/>
                          <a:ea typeface="+mn-ea"/>
                          <a:cs typeface="+mn-cs"/>
                        </a:rPr>
                        <a:t>item.getItemId</a:t>
                      </a:r>
                      <a:r>
                        <a:rPr lang="en-US" sz="1800" kern="1200" dirty="0" smtClean="0">
                          <a:solidFill>
                            <a:schemeClr val="dk1"/>
                          </a:solidFill>
                          <a:effectLst/>
                          <a:latin typeface="+mn-lt"/>
                          <a:ea typeface="+mn-ea"/>
                          <a:cs typeface="+mn-cs"/>
                        </a:rPr>
                        <a:t>();</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    if(id==</a:t>
                      </a:r>
                      <a:r>
                        <a:rPr lang="en-US" sz="1800" kern="1200" dirty="0" err="1" smtClean="0">
                          <a:solidFill>
                            <a:schemeClr val="dk1"/>
                          </a:solidFill>
                          <a:effectLst/>
                          <a:latin typeface="+mn-lt"/>
                          <a:ea typeface="+mn-ea"/>
                          <a:cs typeface="+mn-cs"/>
                        </a:rPr>
                        <a:t>R.id.</a:t>
                      </a:r>
                      <a:r>
                        <a:rPr lang="en-US" sz="1800" i="1" kern="1200" dirty="0" err="1" smtClean="0">
                          <a:solidFill>
                            <a:schemeClr val="dk1"/>
                          </a:solidFill>
                          <a:effectLst/>
                          <a:latin typeface="+mn-lt"/>
                          <a:ea typeface="+mn-ea"/>
                          <a:cs typeface="+mn-cs"/>
                        </a:rPr>
                        <a:t>Add</a:t>
                      </a:r>
                      <a:r>
                        <a:rPr lang="en-US" sz="1800" kern="1200" dirty="0" smtClean="0">
                          <a:solidFill>
                            <a:schemeClr val="dk1"/>
                          </a:solidFill>
                          <a:effectLst/>
                          <a:latin typeface="+mn-lt"/>
                          <a:ea typeface="+mn-ea"/>
                          <a:cs typeface="+mn-cs"/>
                        </a:rPr>
                        <a:t>)</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    {</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        </a:t>
                      </a:r>
                      <a:r>
                        <a:rPr lang="en-US" sz="1800" kern="1200" dirty="0" err="1" smtClean="0">
                          <a:solidFill>
                            <a:schemeClr val="dk1"/>
                          </a:solidFill>
                          <a:effectLst/>
                          <a:latin typeface="+mn-lt"/>
                          <a:ea typeface="+mn-ea"/>
                          <a:cs typeface="+mn-cs"/>
                        </a:rPr>
                        <a:t>Toast.</a:t>
                      </a:r>
                      <a:r>
                        <a:rPr lang="en-US" sz="1800" i="1" kern="1200" dirty="0" err="1" smtClean="0">
                          <a:solidFill>
                            <a:schemeClr val="dk1"/>
                          </a:solidFill>
                          <a:effectLst/>
                          <a:latin typeface="+mn-lt"/>
                          <a:ea typeface="+mn-ea"/>
                          <a:cs typeface="+mn-cs"/>
                        </a:rPr>
                        <a:t>makeText</a:t>
                      </a:r>
                      <a:r>
                        <a:rPr lang="en-US" sz="1800" kern="1200" dirty="0" smtClean="0">
                          <a:solidFill>
                            <a:schemeClr val="dk1"/>
                          </a:solidFill>
                          <a:effectLst/>
                          <a:latin typeface="+mn-lt"/>
                          <a:ea typeface="+mn-ea"/>
                          <a:cs typeface="+mn-cs"/>
                        </a:rPr>
                        <a:t>(this, "Search", </a:t>
                      </a:r>
                      <a:r>
                        <a:rPr lang="en-US" sz="1800" kern="1200" dirty="0" err="1" smtClean="0">
                          <a:solidFill>
                            <a:schemeClr val="dk1"/>
                          </a:solidFill>
                          <a:effectLst/>
                          <a:latin typeface="+mn-lt"/>
                          <a:ea typeface="+mn-ea"/>
                          <a:cs typeface="+mn-cs"/>
                        </a:rPr>
                        <a:t>Toast.</a:t>
                      </a:r>
                      <a:r>
                        <a:rPr lang="en-US" sz="1800" i="1" kern="1200" dirty="0" err="1" smtClean="0">
                          <a:solidFill>
                            <a:schemeClr val="dk1"/>
                          </a:solidFill>
                          <a:effectLst/>
                          <a:latin typeface="+mn-lt"/>
                          <a:ea typeface="+mn-ea"/>
                          <a:cs typeface="+mn-cs"/>
                        </a:rPr>
                        <a:t>LENGTH_SHORT</a:t>
                      </a:r>
                      <a:r>
                        <a:rPr lang="en-US" sz="1800" kern="1200" dirty="0" smtClean="0">
                          <a:solidFill>
                            <a:schemeClr val="dk1"/>
                          </a:solidFill>
                          <a:effectLst/>
                          <a:latin typeface="+mn-lt"/>
                          <a:ea typeface="+mn-ea"/>
                          <a:cs typeface="+mn-cs"/>
                        </a:rPr>
                        <a:t>).show();</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    }</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    return </a:t>
                      </a:r>
                      <a:r>
                        <a:rPr lang="en-US" sz="1800" kern="1200" dirty="0" err="1" smtClean="0">
                          <a:solidFill>
                            <a:schemeClr val="dk1"/>
                          </a:solidFill>
                          <a:effectLst/>
                          <a:latin typeface="+mn-lt"/>
                          <a:ea typeface="+mn-ea"/>
                          <a:cs typeface="+mn-cs"/>
                        </a:rPr>
                        <a:t>super.onOptionsItemSelected</a:t>
                      </a:r>
                      <a:r>
                        <a:rPr lang="en-US" sz="1800" kern="1200" dirty="0" smtClean="0">
                          <a:solidFill>
                            <a:schemeClr val="dk1"/>
                          </a:solidFill>
                          <a:effectLst/>
                          <a:latin typeface="+mn-lt"/>
                          <a:ea typeface="+mn-ea"/>
                          <a:cs typeface="+mn-cs"/>
                        </a:rPr>
                        <a:t>(item);</a:t>
                      </a:r>
                      <a:br>
                        <a:rPr lang="en-US" sz="1800" kern="1200" dirty="0" smtClean="0">
                          <a:solidFill>
                            <a:schemeClr val="dk1"/>
                          </a:solidFill>
                          <a:effectLst/>
                          <a:latin typeface="+mn-lt"/>
                          <a:ea typeface="+mn-ea"/>
                          <a:cs typeface="+mn-cs"/>
                        </a:rPr>
                      </a:br>
                      <a:r>
                        <a:rPr lang="en-US" sz="1800" kern="1200" dirty="0" smtClean="0">
                          <a:solidFill>
                            <a:schemeClr val="dk1"/>
                          </a:solidFill>
                          <a:effectLst/>
                          <a:latin typeface="+mn-lt"/>
                          <a:ea typeface="+mn-ea"/>
                          <a:cs typeface="+mn-cs"/>
                        </a:rPr>
                        <a:t>}</a:t>
                      </a:r>
                      <a:endParaRPr lang="en-US" sz="18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11447630"/>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230" y="313899"/>
            <a:ext cx="10795379" cy="4339650"/>
          </a:xfrm>
          <a:prstGeom prst="rect">
            <a:avLst/>
          </a:prstGeom>
          <a:noFill/>
        </p:spPr>
        <p:txBody>
          <a:bodyPr wrap="square" rtlCol="0">
            <a:spAutoFit/>
          </a:bodyPr>
          <a:lstStyle/>
          <a:p>
            <a:pPr algn="ctr"/>
            <a:endParaRPr lang="en-US" sz="13800" dirty="0">
              <a:latin typeface="Calibri" panose="020F0502020204030204" pitchFamily="34" charset="0"/>
              <a:cs typeface="Calibri" panose="020F0502020204030204" pitchFamily="34" charset="0"/>
            </a:endParaRPr>
          </a:p>
          <a:p>
            <a:pPr algn="ctr"/>
            <a:r>
              <a:rPr lang="en-US" sz="13800" dirty="0">
                <a:effectLst>
                  <a:outerShdw blurRad="50800" dist="38100" dir="2700000" algn="tl" rotWithShape="0">
                    <a:prstClr val="black">
                      <a:alpha val="40000"/>
                    </a:prstClr>
                  </a:outerShdw>
                </a:effectLst>
                <a:latin typeface="Algerian" panose="04020705040A02060702" pitchFamily="82" charset="0"/>
                <a:cs typeface="Calibri" panose="020F0502020204030204" pitchFamily="34" charset="0"/>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Elemental</Template>
  <TotalTime>1030</TotalTime>
  <Words>145</Words>
  <Application>Microsoft Office PowerPoint</Application>
  <PresentationFormat>Custom</PresentationFormat>
  <Paragraphs>78</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Elemental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Naeem Khan</dc:creator>
  <cp:lastModifiedBy>amc</cp:lastModifiedBy>
  <cp:revision>102</cp:revision>
  <dcterms:created xsi:type="dcterms:W3CDTF">2024-11-04T05:04:00Z</dcterms:created>
  <dcterms:modified xsi:type="dcterms:W3CDTF">2025-01-29T08:25:55Z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92ED70D60F184857A85F9A485E7AD0CC_12</vt:lpwstr>
  </property>
  <property fmtid="{D5CDD505-2E9C-101B-9397-08002B2CF9AE}" pid="3" name="KSOProductBuildVer">
    <vt:lpwstr>1033-12.2.0.18911</vt:lpwstr>
  </property>
</Properties>
</file>